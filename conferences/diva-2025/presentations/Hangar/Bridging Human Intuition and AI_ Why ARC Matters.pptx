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100ac39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100ac39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100ac396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100ac396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100ac396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100ac396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100ac396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100ac396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100ac396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100ac396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100ac396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100ac396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12aaf45e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12aaf45e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12aaf45e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12aaf45e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12aaf45e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12aaf45e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12aaf45e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12aaf45e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100ac396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100ac396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100ac396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100ac396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100ac396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100ac396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13029ad8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13029ad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100ac396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100ac396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135564a2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7135564a2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12aaf45e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12aaf45e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  <a:defRPr sz="15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arcprize.org/" TargetMode="External"/><Relationship Id="rId4" Type="http://schemas.openxmlformats.org/officeDocument/2006/relationships/hyperlink" Target="https://arcprize.org/" TargetMode="External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745450" y="2423475"/>
            <a:ext cx="3653100" cy="10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tr" sz="1679">
                <a:solidFill>
                  <a:schemeClr val="dk1"/>
                </a:solidFill>
              </a:rPr>
              <a:t>Abdurrezak Efe </a:t>
            </a:r>
            <a:endParaRPr sz="1679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tr" sz="1580">
                <a:solidFill>
                  <a:schemeClr val="dk1"/>
                </a:solidFill>
              </a:rPr>
              <a:t>Diva Conference 2025</a:t>
            </a:r>
            <a:endParaRPr b="1" sz="158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i="1" lang="tr" sz="1580">
                <a:solidFill>
                  <a:schemeClr val="dk1"/>
                </a:solidFill>
              </a:rPr>
              <a:t>July 25th, 2025</a:t>
            </a:r>
            <a:endParaRPr i="1" sz="158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015263" y="1181950"/>
            <a:ext cx="7113466" cy="117784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rgbClr val="DFEAFB"/>
                    </a:gs>
                    <a:gs pos="100000">
                      <a:srgbClr val="6E9CE7"/>
                    </a:gs>
                  </a:gsLst>
                  <a:lin ang="5400012" scaled="0"/>
                </a:gradFill>
                <a:latin typeface="Arial"/>
              </a:rPr>
              <a:t>Bridging Human Intuition and AI:</a:t>
            </a:r>
            <a:br>
              <a:rPr b="1" i="0">
                <a:ln>
                  <a:noFill/>
                </a:ln>
                <a:gradFill>
                  <a:gsLst>
                    <a:gs pos="0">
                      <a:srgbClr val="DFEAFB"/>
                    </a:gs>
                    <a:gs pos="100000">
                      <a:srgbClr val="6E9CE7"/>
                    </a:gs>
                  </a:gsLst>
                  <a:lin ang="5400012" scaled="0"/>
                </a:gradFill>
                <a:latin typeface="Arial"/>
              </a:rPr>
            </a:br>
            <a:r>
              <a:rPr b="1" i="0">
                <a:ln>
                  <a:noFill/>
                </a:ln>
                <a:gradFill>
                  <a:gsLst>
                    <a:gs pos="0">
                      <a:srgbClr val="DFEAFB"/>
                    </a:gs>
                    <a:gs pos="100000">
                      <a:srgbClr val="6E9CE7"/>
                    </a:gs>
                  </a:gsLst>
                  <a:lin ang="5400012" scaled="0"/>
                </a:gradFill>
                <a:latin typeface="Arial"/>
              </a:rPr>
              <a:t>Why ARC Matters</a:t>
            </a:r>
          </a:p>
        </p:txBody>
      </p:sp>
      <p:pic>
        <p:nvPicPr>
          <p:cNvPr id="56" name="Google Shape;56;p13" title="arc-agi-vs-k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5200" y="3137650"/>
            <a:ext cx="3008801" cy="200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div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40975"/>
            <a:ext cx="792426" cy="80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Outline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tr" sz="2300"/>
              <a:t>On the Measure of Intelligence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tr" sz="2300"/>
              <a:t>ARC-AGI-1</a:t>
            </a:r>
            <a:endParaRPr sz="23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tr" sz="2200"/>
              <a:t>Methods used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tr" sz="2200"/>
              <a:t>Lessons learned</a:t>
            </a:r>
            <a:endParaRPr sz="22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tr" sz="2300"/>
              <a:t>ARC-AGI-2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tr" sz="2300"/>
              <a:t>What have ARC-AGI given us?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tr" sz="2300"/>
              <a:t>What does the future hold?</a:t>
            </a:r>
            <a:endParaRPr sz="2300"/>
          </a:p>
        </p:txBody>
      </p:sp>
      <p:pic>
        <p:nvPicPr>
          <p:cNvPr id="64" name="Google Shape;64;p14" title="agi-wal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4925" y="1436600"/>
            <a:ext cx="3911601" cy="391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95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tr"/>
              <a:t>On the Measure of Intelligence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884050"/>
            <a:ext cx="8520600" cy="36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What is intelligence?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827200" y="2061100"/>
            <a:ext cx="5448600" cy="13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tr" sz="1800">
                <a:solidFill>
                  <a:schemeClr val="lt2"/>
                </a:solidFill>
              </a:rPr>
              <a:t>Intelligence is the </a:t>
            </a:r>
            <a:r>
              <a:rPr b="1" i="1" lang="tr" sz="1800">
                <a:solidFill>
                  <a:srgbClr val="00FFFF"/>
                </a:solidFill>
              </a:rPr>
              <a:t>efficiency</a:t>
            </a:r>
            <a:r>
              <a:rPr i="1" lang="tr" sz="1800">
                <a:solidFill>
                  <a:schemeClr val="lt2"/>
                </a:solidFill>
              </a:rPr>
              <a:t> with which an agent turns its experience and priors into skill at </a:t>
            </a:r>
            <a:r>
              <a:rPr b="1" i="1" lang="tr" sz="1800">
                <a:solidFill>
                  <a:srgbClr val="00FFFF"/>
                </a:solidFill>
              </a:rPr>
              <a:t>previously unknown tasks</a:t>
            </a:r>
            <a:r>
              <a:rPr i="1" lang="tr" sz="1800">
                <a:solidFill>
                  <a:schemeClr val="lt2"/>
                </a:solidFill>
              </a:rPr>
              <a:t>, across a wide scope of possible tasks and situations. [1] -François Chollet </a:t>
            </a:r>
            <a:endParaRPr i="1" sz="1800">
              <a:solidFill>
                <a:schemeClr val="lt2"/>
              </a:solidFill>
            </a:endParaRPr>
          </a:p>
        </p:txBody>
      </p:sp>
      <p:pic>
        <p:nvPicPr>
          <p:cNvPr id="72" name="Google Shape;72;p15" title="agi-engell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9650" y="789313"/>
            <a:ext cx="3874376" cy="387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Core Knowledge Theory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078950"/>
            <a:ext cx="8520600" cy="34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Spelke [2] says: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Objectness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Numbers, quantity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Spatial navigation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Social agent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Domain-specific learning constraints</a:t>
            </a:r>
            <a:endParaRPr/>
          </a:p>
        </p:txBody>
      </p:sp>
      <p:pic>
        <p:nvPicPr>
          <p:cNvPr id="79" name="Google Shape;79;p16" title="Screenshot 2025-07-23 at 18.09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0475" y="3335725"/>
            <a:ext cx="3503350" cy="23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Screenshot 2025-07-23 at 18.13.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9320" y="3012020"/>
            <a:ext cx="4191326" cy="23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kid-agi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3200" y="1017725"/>
            <a:ext cx="1918474" cy="191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2. ARC-AGI-1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419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Abstraction and Reasoning Corpus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First benchmark for reasoning while easy for humans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 title="Screenshot 2025-07-23 at 14.34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800" y="-292675"/>
            <a:ext cx="9578525" cy="5498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bleu-aime-ar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811950"/>
            <a:ext cx="2331551" cy="233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 title="Screenshot 2025-07-23 at 14.38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663" y="0"/>
            <a:ext cx="764267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How did the contestants tackle it? 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794600" y="1493700"/>
            <a:ext cx="4525200" cy="21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Brute force program search on custom DSL [3]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LLMs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Test-time Training (TTT) [4]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LLM guided program search [5]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Deep Learning guided program search [5]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Hybrid methods [6]</a:t>
            </a:r>
            <a:endParaRPr/>
          </a:p>
        </p:txBody>
      </p:sp>
      <p:pic>
        <p:nvPicPr>
          <p:cNvPr id="103" name="Google Shape;103;p19" title="tack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50075"/>
            <a:ext cx="3011676" cy="301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Brute force program search via Domain Specific Language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918600" y="2131950"/>
            <a:ext cx="4913700" cy="8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Search space is too large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Discrete and combinatorial</a:t>
            </a:r>
            <a:endParaRPr/>
          </a:p>
        </p:txBody>
      </p:sp>
      <p:pic>
        <p:nvPicPr>
          <p:cNvPr id="110" name="Google Shape;110;p20" title="Screenshot 2025-07-23 at 14.51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275" y="1278450"/>
            <a:ext cx="2975500" cy="318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 title="kid-agi-pla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100" y="2409599"/>
            <a:ext cx="2733901" cy="273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Deep learning guided program search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52175" y="1999938"/>
            <a:ext cx="38784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Cheaper compared to brute force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Can be done on latent program 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LLM variant became successful</a:t>
            </a:r>
            <a:endParaRPr/>
          </a:p>
        </p:txBody>
      </p:sp>
      <p:pic>
        <p:nvPicPr>
          <p:cNvPr id="118" name="Google Shape;118;p21" title="arc-mons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950" y="754800"/>
            <a:ext cx="3807601" cy="380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Test-Time Training 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4489200" y="1994850"/>
            <a:ext cx="85206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The MVP of ARC-AGI-1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Allows adaptation per task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[4]</a:t>
            </a:r>
            <a:endParaRPr/>
          </a:p>
        </p:txBody>
      </p:sp>
      <p:pic>
        <p:nvPicPr>
          <p:cNvPr id="125" name="Google Shape;125;p22" title="Screenshot 2025-07-23 at 19.15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9300" y="3229950"/>
            <a:ext cx="3718476" cy="236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 title="tt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850" y="1257850"/>
            <a:ext cx="2627776" cy="262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Test-Time Training + LLM guided program synthesis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017725"/>
            <a:ext cx="476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700"/>
              <a:t>Best results over </a:t>
            </a:r>
            <a:r>
              <a:rPr lang="tr" sz="1700"/>
              <a:t>~</a:t>
            </a:r>
            <a:r>
              <a:rPr lang="tr" sz="1700"/>
              <a:t>55.5%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tr" sz="1300"/>
              <a:t>The ARChitects</a:t>
            </a:r>
            <a:r>
              <a:rPr lang="tr" sz="1300"/>
              <a:t> (1st place, 53.5% private score): Their method included TTT on a specialized transformer (NeMo-Minitron-8B) with data augmentation and a solution stability criterion, and they combined this with program synthesis.</a:t>
            </a:r>
            <a:br>
              <a:rPr lang="tr" sz="1100"/>
            </a:b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5077800" y="1268375"/>
            <a:ext cx="3481500" cy="19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/>
              <a:t>OmniARC (Guillermo Barbadillo)</a:t>
            </a:r>
            <a:r>
              <a:rPr lang="tr" sz="1300"/>
              <a:t>: Used a Qwen2.5-0.5B-Instruct model with TTT and a program synthesis ensemble.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/>
              <a:t>Akyürek et al.</a:t>
            </a:r>
            <a:r>
              <a:rPr lang="tr" sz="1300"/>
              <a:t>: Used TTT on an 8B parameter model and combined it with program search.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 sz="1300"/>
              <a:t>[3]</a:t>
            </a:r>
            <a:endParaRPr sz="1300"/>
          </a:p>
        </p:txBody>
      </p:sp>
      <p:pic>
        <p:nvPicPr>
          <p:cNvPr id="134" name="Google Shape;134;p23" title="ttt+dlg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94325"/>
            <a:ext cx="2249175" cy="22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ARC-AGI-1 results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6159600" y="2213250"/>
            <a:ext cx="2672700" cy="7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o3 was a breakthrough on ARC-AGI-1 [3]</a:t>
            </a:r>
            <a:endParaRPr/>
          </a:p>
        </p:txBody>
      </p:sp>
      <p:pic>
        <p:nvPicPr>
          <p:cNvPr id="141" name="Google Shape;141;p24" title="Screenshot 2025-07-23 at 15.36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99" y="864375"/>
            <a:ext cx="5861775" cy="423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 title="Screenshot 2025-07-23 at 15.38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925" y="1229825"/>
            <a:ext cx="807666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Lessons learned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92625" y="1630650"/>
            <a:ext cx="5615700" cy="25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tr" sz="1600"/>
              <a:t>Pretraining with large corpora does not mean “reasoning”</a:t>
            </a:r>
            <a:endParaRPr sz="16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tr" sz="1600"/>
              <a:t>Adaptation for each task is the key</a:t>
            </a:r>
            <a:endParaRPr sz="16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tr" sz="1600"/>
              <a:t>ARC-AGI-1 is not a good signal for reasoning</a:t>
            </a:r>
            <a:endParaRPr sz="16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tr" sz="1500"/>
              <a:t>Kaggle ensemble solved ~49%</a:t>
            </a:r>
            <a:endParaRPr sz="15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tr" sz="1600"/>
              <a:t>ARC-AGI-1 is became saturated by the end of 2024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 sz="1600"/>
              <a:t>[3]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3</a:t>
            </a:r>
            <a:r>
              <a:rPr lang="tr"/>
              <a:t>. ARC-AGI-2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524450"/>
            <a:ext cx="4090500" cy="20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Color schemes are  not constant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More steps needed on average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Distant cues must be considered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Human calibrated </a:t>
            </a:r>
            <a:r>
              <a:rPr lang="tr"/>
              <a:t>with 400 participants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Brute force DSL will be astronomically harder</a:t>
            </a:r>
            <a:endParaRPr/>
          </a:p>
        </p:txBody>
      </p:sp>
      <p:pic>
        <p:nvPicPr>
          <p:cNvPr id="155" name="Google Shape;155;p26" title="Screenshot 2025-07-23 at 16.20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8850" y="0"/>
            <a:ext cx="46751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o3 vs ARC-AGI-2</a:t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311700" y="2410775"/>
            <a:ext cx="23676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o3-low scored 3% o3-high ~15%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7" title="Screenshot 2025-07-23 at 17.32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9800" y="917100"/>
            <a:ext cx="6836476" cy="407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What have ARC-AGI given us?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4066175" y="1556250"/>
            <a:ext cx="44205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tr" sz="1600"/>
              <a:t>Isolating a missing human capability</a:t>
            </a:r>
            <a:endParaRPr sz="16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tr" sz="1500"/>
              <a:t>Memorization vs fluid intelligence</a:t>
            </a:r>
            <a:endParaRPr sz="15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tr" sz="1600"/>
              <a:t>Human calibrated and unsaturated</a:t>
            </a:r>
            <a:endParaRPr sz="16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tr" sz="1600"/>
              <a:t>Efficiency matters as much as solution</a:t>
            </a:r>
            <a:endParaRPr sz="16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tr" sz="1600"/>
              <a:t>Directs research into new horizons</a:t>
            </a:r>
            <a:endParaRPr sz="16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tr" sz="1600"/>
              <a:t>Good early signal of o3</a:t>
            </a:r>
            <a:endParaRPr sz="1600"/>
          </a:p>
        </p:txBody>
      </p:sp>
      <p:pic>
        <p:nvPicPr>
          <p:cNvPr id="169" name="Google Shape;169;p28" title="gif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00" y="1021738"/>
            <a:ext cx="3100024" cy="310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References</a:t>
            </a:r>
            <a:endParaRPr/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dk1"/>
                </a:solidFill>
              </a:rPr>
              <a:t>[1] F. Chollet, “On the Measure of Intelligence,” </a:t>
            </a:r>
            <a:r>
              <a:rPr i="1" lang="tr" sz="1200">
                <a:solidFill>
                  <a:schemeClr val="dk1"/>
                </a:solidFill>
              </a:rPr>
              <a:t>arXiv preprint arXiv:1911.01547</a:t>
            </a:r>
            <a:r>
              <a:rPr lang="tr" sz="1200">
                <a:solidFill>
                  <a:schemeClr val="dk1"/>
                </a:solidFill>
              </a:rPr>
              <a:t>, 2019.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dk1"/>
                </a:solidFill>
              </a:rPr>
              <a:t>[2] E. S. Spelke and K. D. Kinzler, “Core Knowledge,” </a:t>
            </a:r>
            <a:r>
              <a:rPr i="1" lang="tr" sz="1200">
                <a:solidFill>
                  <a:schemeClr val="dk1"/>
                </a:solidFill>
              </a:rPr>
              <a:t>Developmental Science</a:t>
            </a:r>
            <a:r>
              <a:rPr lang="tr" sz="1200">
                <a:solidFill>
                  <a:schemeClr val="dk1"/>
                </a:solidFill>
              </a:rPr>
              <a:t>, vol. 10, no. 1, pp. 89–96, 2007.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dk1"/>
                </a:solidFill>
              </a:rPr>
              <a:t>[3] ARC Prize, “ARC Prize Tech Report 2024,” 2024. [Online]. Available:</a:t>
            </a:r>
            <a:r>
              <a:rPr lang="tr" sz="12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tr" sz="12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https://arcprize.org/</a:t>
            </a:r>
            <a:endParaRPr sz="12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dk1"/>
                </a:solidFill>
              </a:rPr>
              <a:t>[4] Y. W. Teh, J. Kirsch, et al., “The Surprising Effectiveness of Test-Time Training,” </a:t>
            </a:r>
            <a:r>
              <a:rPr i="1" lang="tr" sz="1200">
                <a:solidFill>
                  <a:schemeClr val="dk1"/>
                </a:solidFill>
              </a:rPr>
              <a:t>arXiv preprint arXiv:2006.01183</a:t>
            </a:r>
            <a:r>
              <a:rPr lang="tr" sz="1200">
                <a:solidFill>
                  <a:schemeClr val="dk1"/>
                </a:solidFill>
              </a:rPr>
              <a:t>, 2020.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dk1"/>
                </a:solidFill>
              </a:rPr>
              <a:t>[5] B. Bonnet and R. Macfarlane, “Searching Latent Program Spaces,” </a:t>
            </a:r>
            <a:r>
              <a:rPr i="1" lang="tr" sz="1200">
                <a:solidFill>
                  <a:schemeClr val="dk1"/>
                </a:solidFill>
              </a:rPr>
              <a:t>arXiv preprint arXiv:2210.13366</a:t>
            </a:r>
            <a:r>
              <a:rPr lang="tr" sz="1200">
                <a:solidFill>
                  <a:schemeClr val="dk1"/>
                </a:solidFill>
              </a:rPr>
              <a:t>, 2022.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dk1"/>
                </a:solidFill>
              </a:rPr>
              <a:t>[6] X. Li, J. Wu, et al., “Combining Induction and Transduction for Abstract Reasoning,” </a:t>
            </a:r>
            <a:r>
              <a:rPr i="1" lang="tr" sz="1200">
                <a:solidFill>
                  <a:schemeClr val="dk1"/>
                </a:solidFill>
              </a:rPr>
              <a:t>arXiv preprint arXiv:2307.09244</a:t>
            </a:r>
            <a:r>
              <a:rPr lang="tr" sz="1200">
                <a:solidFill>
                  <a:schemeClr val="dk1"/>
                </a:solidFill>
              </a:rPr>
              <a:t>, 2023.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76" name="Google Shape;176;p29" title="re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6325" y="3465825"/>
            <a:ext cx="1677676" cy="167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2800000" y="2285400"/>
            <a:ext cx="346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Thank you! Q&amp;A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