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23_F0CDD6A1.xml" ContentType="application/vnd.ms-powerpoint.comments+xml"/>
  <Override PartName="/ppt/notesSlides/notesSlide2.xml" ContentType="application/vnd.openxmlformats-officedocument.presentationml.notesSlide+xml"/>
  <Override PartName="/ppt/comments/modernComment_121_9B874F02.xml" ContentType="application/vnd.ms-powerpoint.comments+xml"/>
  <Override PartName="/ppt/notesSlides/notesSlide3.xml" ContentType="application/vnd.openxmlformats-officedocument.presentationml.notesSlide+xml"/>
  <Override PartName="/ppt/comments/modernComment_122_AB87E070.xml" ContentType="application/vnd.ms-powerpoint.comments+xml"/>
  <Override PartName="/ppt/notesSlides/notesSlide4.xml" ContentType="application/vnd.openxmlformats-officedocument.presentationml.notesSlide+xml"/>
  <Override PartName="/ppt/comments/modernComment_128_EED48F03.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60"/>
  </p:notesMasterIdLst>
  <p:handoutMasterIdLst>
    <p:handoutMasterId r:id="rId61"/>
  </p:handoutMasterIdLst>
  <p:sldIdLst>
    <p:sldId id="256" r:id="rId2"/>
    <p:sldId id="291" r:id="rId3"/>
    <p:sldId id="288" r:id="rId4"/>
    <p:sldId id="289" r:id="rId5"/>
    <p:sldId id="290" r:id="rId6"/>
    <p:sldId id="292" r:id="rId7"/>
    <p:sldId id="295" r:id="rId8"/>
    <p:sldId id="298" r:id="rId9"/>
    <p:sldId id="296" r:id="rId10"/>
    <p:sldId id="297" r:id="rId11"/>
    <p:sldId id="258" r:id="rId12"/>
    <p:sldId id="259" r:id="rId13"/>
    <p:sldId id="260" r:id="rId14"/>
    <p:sldId id="300" r:id="rId15"/>
    <p:sldId id="301" r:id="rId16"/>
    <p:sldId id="302" r:id="rId17"/>
    <p:sldId id="261" r:id="rId18"/>
    <p:sldId id="299" r:id="rId19"/>
    <p:sldId id="304" r:id="rId20"/>
    <p:sldId id="444" r:id="rId21"/>
    <p:sldId id="305" r:id="rId22"/>
    <p:sldId id="306" r:id="rId23"/>
    <p:sldId id="307" r:id="rId24"/>
    <p:sldId id="308" r:id="rId25"/>
    <p:sldId id="443" r:id="rId26"/>
    <p:sldId id="445" r:id="rId27"/>
    <p:sldId id="271" r:id="rId28"/>
    <p:sldId id="272" r:id="rId29"/>
    <p:sldId id="273" r:id="rId30"/>
    <p:sldId id="446" r:id="rId31"/>
    <p:sldId id="309" r:id="rId32"/>
    <p:sldId id="275" r:id="rId33"/>
    <p:sldId id="310" r:id="rId34"/>
    <p:sldId id="277" r:id="rId35"/>
    <p:sldId id="311" r:id="rId36"/>
    <p:sldId id="424" r:id="rId37"/>
    <p:sldId id="425" r:id="rId38"/>
    <p:sldId id="426" r:id="rId39"/>
    <p:sldId id="427" r:id="rId40"/>
    <p:sldId id="441" r:id="rId41"/>
    <p:sldId id="268" r:id="rId42"/>
    <p:sldId id="265" r:id="rId43"/>
    <p:sldId id="440" r:id="rId44"/>
    <p:sldId id="267" r:id="rId45"/>
    <p:sldId id="269" r:id="rId46"/>
    <p:sldId id="278" r:id="rId47"/>
    <p:sldId id="279" r:id="rId48"/>
    <p:sldId id="280" r:id="rId49"/>
    <p:sldId id="447" r:id="rId50"/>
    <p:sldId id="448" r:id="rId51"/>
    <p:sldId id="431" r:id="rId52"/>
    <p:sldId id="433" r:id="rId53"/>
    <p:sldId id="434" r:id="rId54"/>
    <p:sldId id="432" r:id="rId55"/>
    <p:sldId id="451" r:id="rId56"/>
    <p:sldId id="429" r:id="rId57"/>
    <p:sldId id="430" r:id="rId58"/>
    <p:sldId id="286"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8418A7-5B5C-194D-93A2-31619D0605DA}" name="esma nafiye polat" initials="ep" userId="042b5601260a6227"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495" autoAdjust="0"/>
    <p:restoredTop sz="94660"/>
  </p:normalViewPr>
  <p:slideViewPr>
    <p:cSldViewPr snapToGrid="0">
      <p:cViewPr>
        <p:scale>
          <a:sx n="80" d="100"/>
          <a:sy n="80" d="100"/>
        </p:scale>
        <p:origin x="302" y="-1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8/10/relationships/authors" Target="authors.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modernComment_121_9B874F02.xml><?xml version="1.0" encoding="utf-8"?>
<p188:cmLst xmlns:a="http://schemas.openxmlformats.org/drawingml/2006/main" xmlns:r="http://schemas.openxmlformats.org/officeDocument/2006/relationships" xmlns:p188="http://schemas.microsoft.com/office/powerpoint/2018/8/main">
  <p188:cm id="{FF9FD325-4292-4592-BF79-7B5364A92012}" authorId="{B78418A7-5B5C-194D-93A2-31619D0605DA}" created="2024-12-25T02:54:06.182">
    <pc:sldMkLst xmlns:pc="http://schemas.microsoft.com/office/powerpoint/2013/main/command">
      <pc:docMk/>
      <pc:sldMk cId="2609336066" sldId="289"/>
    </pc:sldMkLst>
    <p188:txBody>
      <a:bodyPr/>
      <a:lstStyle/>
      <a:p>
        <a:r>
          <a:rPr lang="en-US"/>
          <a:t>In conversational sentiment analysis, understanding the context is crucial for accurately detecting sarcasm, irony, and ambiguity. The dynamic nature of sentiment shifts within dialogue presents significant challenges, requiring models that can capture the flow and interaction dynamics between speakers. Effective analysis hinges on contextual modeling to identify subtle nuances in sentiment expression throughout the conversation.</a:t>
        </a:r>
      </a:p>
    </p188:txBody>
    <p188:extLst>
      <p:ext xmlns:p="http://schemas.openxmlformats.org/presentationml/2006/main" uri="{57CB4572-C831-44C2-8A1C-0ADB6CCDFE69}">
        <p223:reactions xmlns:p223="http://schemas.microsoft.com/office/powerpoint/2022/03/main">
          <p223:rxn type="👍">
            <p223:instance time="2024-12-26T04:54:16.208" authorId="{B78418A7-5B5C-194D-93A2-31619D0605DA}"/>
          </p223:rxn>
        </p223:reactions>
      </p:ext>
    </p188:extLst>
  </p188:cm>
</p188:cmLst>
</file>

<file path=ppt/comments/modernComment_122_AB87E070.xml><?xml version="1.0" encoding="utf-8"?>
<p188:cmLst xmlns:a="http://schemas.openxmlformats.org/drawingml/2006/main" xmlns:r="http://schemas.openxmlformats.org/officeDocument/2006/relationships" xmlns:p188="http://schemas.microsoft.com/office/powerpoint/2018/8/main">
  <p188:cm id="{19A2DA6B-D5E0-425B-AE1D-A2584CE3E33E}" authorId="{B78418A7-5B5C-194D-93A2-31619D0605DA}" created="2024-12-25T03:01:53.383">
    <pc:sldMkLst xmlns:pc="http://schemas.microsoft.com/office/powerpoint/2013/main/command">
      <pc:docMk/>
      <pc:sldMk cId="2877808752" sldId="290"/>
    </pc:sldMkLst>
    <p188:txBody>
      <a:bodyPr/>
      <a:lstStyle/>
      <a:p>
        <a:r>
          <a:rPr lang="en-US"/>
          <a:t>Self-Dependency:
Tracks an individual's own utterances and sentiment shifts.
Example: Female spouse maintains a consistent accusatory tone.
Interpersonal Dependency:
Understands how one participant's sentiments influence others.
Example: Male spouse's initial calmness shifts to anger due to his wife's behavior.
Key Modeling Techniques
LSTMs, RNNs, Transformers, Attention Mechanisms: Retain and utilize contextual information to model dependencies.</a:t>
        </a:r>
      </a:p>
    </p188:txBody>
  </p188:cm>
</p188:cmLst>
</file>

<file path=ppt/comments/modernComment_123_F0CDD6A1.xml><?xml version="1.0" encoding="utf-8"?>
<p188:cmLst xmlns:a="http://schemas.openxmlformats.org/drawingml/2006/main" xmlns:r="http://schemas.openxmlformats.org/officeDocument/2006/relationships" xmlns:p188="http://schemas.microsoft.com/office/powerpoint/2018/8/main">
  <p188:cm id="{50A328FB-04E0-4242-BD79-F1938D32D8B1}" authorId="{B78418A7-5B5C-194D-93A2-31619D0605DA}" created="2024-12-25T02:43:46.318">
    <pc:sldMkLst xmlns:pc="http://schemas.microsoft.com/office/powerpoint/2013/main/command">
      <pc:docMk/>
      <pc:sldMk cId="4040021665" sldId="291"/>
    </pc:sldMkLst>
    <p188:txBody>
      <a:bodyPr/>
      <a:lstStyle/>
      <a:p>
        <a:r>
          <a:rPr lang="en-US"/>
          <a:t>Couple Dialogue Dataset for Turkish Conversational Sentiment Analysis
Dataset Overview:
14,294 utterances from 118 dyadic conversations.
Annotated to capture sentiment transitions and interpersonal dynamics.
Models Compared:
Non-Contextual Model:
Analyzes utterances independently, focusing on word-level features and negation morphemes.
Contextual Model:
Uses Large Language Models (BERT, GPT-3.5 Turbo, Llama 2, GPT-4) and DialogueRNN.
Approaches: prompt-based, fine-tuned, embedding-based.
Enhanced with Turkish BERT embeddings (pre-trained and fine-tuned).
Key Findings:
Contextual Model outperforms Non-Contextual Model by 9.98% in Weighted F1 scores.
Demonstrates the critical role of context in understanding complex emotional cues.
Impact:
Pioneers LLM use in Turkish sentiment analysis.
Establishes a benchmark for analyzing sentiment in linguistically rich dialogues.</a:t>
        </a:r>
      </a:p>
    </p188:txBody>
  </p188:cm>
</p188:cmLst>
</file>

<file path=ppt/comments/modernComment_128_EED48F03.xml><?xml version="1.0" encoding="utf-8"?>
<p188:cmLst xmlns:a="http://schemas.openxmlformats.org/drawingml/2006/main" xmlns:r="http://schemas.openxmlformats.org/officeDocument/2006/relationships" xmlns:p188="http://schemas.microsoft.com/office/powerpoint/2018/8/main">
  <p188:cm id="{57BF5C6C-B6B1-4EDF-8E3F-E46E22FD23E1}" authorId="{B78418A7-5B5C-194D-93A2-31619D0605DA}" created="2024-08-12T12:09:24.754">
    <pc:sldMkLst xmlns:pc="http://schemas.microsoft.com/office/powerpoint/2013/main/command">
      <pc:docMk/>
      <pc:sldMk cId="4006907651" sldId="296"/>
    </pc:sldMkLst>
    <p188:txBody>
      <a:bodyPr/>
      <a:lstStyle/>
      <a:p>
        <a:r>
          <a:rPr lang="en-US"/>
          <a:t>Couples Interaction Rating System (CIRS) to assess communication patterns, conflict resolution, and emotional expressions.</a:t>
        </a:r>
      </a:p>
    </p188:txBody>
  </p188:cm>
</p188:cmLst>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2A54F0-D3A5-49A4-8D8A-48C398A4A40C}"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A5FC091B-A568-4ED5-939B-391A3A07C8DB}">
      <dgm:prSet/>
      <dgm:spPr/>
      <dgm:t>
        <a:bodyPr/>
        <a:lstStyle/>
        <a:p>
          <a:r>
            <a:rPr lang="en-US" dirty="0" err="1"/>
            <a:t>i</a:t>
          </a:r>
          <a:r>
            <a:rPr lang="en-US" dirty="0"/>
            <a:t>) Detailed preprocessing applied on the root form,</a:t>
          </a:r>
        </a:p>
      </dgm:t>
    </dgm:pt>
    <dgm:pt modelId="{C9747A4C-7E0F-479A-B437-B371785C5B24}" type="parTrans" cxnId="{9E37AFD2-C9F8-48B4-9A4F-F81655E69134}">
      <dgm:prSet/>
      <dgm:spPr/>
      <dgm:t>
        <a:bodyPr/>
        <a:lstStyle/>
        <a:p>
          <a:endParaRPr lang="en-US"/>
        </a:p>
      </dgm:t>
    </dgm:pt>
    <dgm:pt modelId="{C94E4C65-7EBC-40A5-BF78-CFF1BB658F6D}" type="sibTrans" cxnId="{9E37AFD2-C9F8-48B4-9A4F-F81655E69134}">
      <dgm:prSet/>
      <dgm:spPr/>
      <dgm:t>
        <a:bodyPr/>
        <a:lstStyle/>
        <a:p>
          <a:endParaRPr lang="en-US"/>
        </a:p>
      </dgm:t>
    </dgm:pt>
    <dgm:pt modelId="{AD7867D1-5CBB-4080-885C-477B59DA8DD6}">
      <dgm:prSet/>
      <dgm:spPr/>
      <dgm:t>
        <a:bodyPr/>
        <a:lstStyle/>
        <a:p>
          <a:r>
            <a:rPr lang="en-US" dirty="0"/>
            <a:t>ii) Partial preprocessing applied on the root form,</a:t>
          </a:r>
        </a:p>
      </dgm:t>
    </dgm:pt>
    <dgm:pt modelId="{ECD9DD26-E710-44DE-A39A-648133B73A98}" type="parTrans" cxnId="{6CCBB299-97A0-4B8A-A76A-144A5FB6B32A}">
      <dgm:prSet/>
      <dgm:spPr/>
      <dgm:t>
        <a:bodyPr/>
        <a:lstStyle/>
        <a:p>
          <a:endParaRPr lang="en-US"/>
        </a:p>
      </dgm:t>
    </dgm:pt>
    <dgm:pt modelId="{451D197F-20FF-43BC-8C76-7378F98DBC71}" type="sibTrans" cxnId="{6CCBB299-97A0-4B8A-A76A-144A5FB6B32A}">
      <dgm:prSet/>
      <dgm:spPr/>
      <dgm:t>
        <a:bodyPr/>
        <a:lstStyle/>
        <a:p>
          <a:endParaRPr lang="en-US"/>
        </a:p>
      </dgm:t>
    </dgm:pt>
    <dgm:pt modelId="{21B05FF7-5C58-44C2-BEFE-5CA58450477D}">
      <dgm:prSet/>
      <dgm:spPr/>
      <dgm:t>
        <a:bodyPr/>
        <a:lstStyle/>
        <a:p>
          <a:r>
            <a:rPr lang="en-US" dirty="0"/>
            <a:t>iii) Partial preprocessing applied on the surface form,</a:t>
          </a:r>
        </a:p>
      </dgm:t>
    </dgm:pt>
    <dgm:pt modelId="{88DAA203-BAB3-4E3C-B279-6E912598A205}" type="parTrans" cxnId="{BDF9C971-0AE6-44B1-A698-E871BFCE2599}">
      <dgm:prSet/>
      <dgm:spPr/>
      <dgm:t>
        <a:bodyPr/>
        <a:lstStyle/>
        <a:p>
          <a:endParaRPr lang="en-US"/>
        </a:p>
      </dgm:t>
    </dgm:pt>
    <dgm:pt modelId="{54163021-5D5B-4A6D-ACDD-9CB65320C425}" type="sibTrans" cxnId="{BDF9C971-0AE6-44B1-A698-E871BFCE2599}">
      <dgm:prSet/>
      <dgm:spPr/>
      <dgm:t>
        <a:bodyPr/>
        <a:lstStyle/>
        <a:p>
          <a:endParaRPr lang="en-US"/>
        </a:p>
      </dgm:t>
    </dgm:pt>
    <dgm:pt modelId="{1D4E1A5C-2A4D-49F4-834B-060FA72ACB67}" type="pres">
      <dgm:prSet presAssocID="{D92A54F0-D3A5-49A4-8D8A-48C398A4A40C}" presName="vert0" presStyleCnt="0">
        <dgm:presLayoutVars>
          <dgm:dir/>
          <dgm:animOne val="branch"/>
          <dgm:animLvl val="lvl"/>
        </dgm:presLayoutVars>
      </dgm:prSet>
      <dgm:spPr/>
    </dgm:pt>
    <dgm:pt modelId="{375D2D8E-C59D-4A88-B768-1F30D443EFE3}" type="pres">
      <dgm:prSet presAssocID="{A5FC091B-A568-4ED5-939B-391A3A07C8DB}" presName="thickLine" presStyleLbl="alignNode1" presStyleIdx="0" presStyleCnt="3"/>
      <dgm:spPr/>
    </dgm:pt>
    <dgm:pt modelId="{B05B2DE6-07C2-4708-A988-A1A225082DC5}" type="pres">
      <dgm:prSet presAssocID="{A5FC091B-A568-4ED5-939B-391A3A07C8DB}" presName="horz1" presStyleCnt="0"/>
      <dgm:spPr/>
    </dgm:pt>
    <dgm:pt modelId="{7FA64B98-2DAF-4980-8243-F5FA4BD02FCF}" type="pres">
      <dgm:prSet presAssocID="{A5FC091B-A568-4ED5-939B-391A3A07C8DB}" presName="tx1" presStyleLbl="revTx" presStyleIdx="0" presStyleCnt="3"/>
      <dgm:spPr/>
    </dgm:pt>
    <dgm:pt modelId="{BA838F8F-9B19-4439-8215-D6D86D899C0D}" type="pres">
      <dgm:prSet presAssocID="{A5FC091B-A568-4ED5-939B-391A3A07C8DB}" presName="vert1" presStyleCnt="0"/>
      <dgm:spPr/>
    </dgm:pt>
    <dgm:pt modelId="{C9DD4F24-21F7-4518-8F84-526E0A961EAC}" type="pres">
      <dgm:prSet presAssocID="{AD7867D1-5CBB-4080-885C-477B59DA8DD6}" presName="thickLine" presStyleLbl="alignNode1" presStyleIdx="1" presStyleCnt="3"/>
      <dgm:spPr/>
    </dgm:pt>
    <dgm:pt modelId="{471747ED-7BBD-41F5-8B6D-3A7C27E02539}" type="pres">
      <dgm:prSet presAssocID="{AD7867D1-5CBB-4080-885C-477B59DA8DD6}" presName="horz1" presStyleCnt="0"/>
      <dgm:spPr/>
    </dgm:pt>
    <dgm:pt modelId="{E0966585-CEDD-4D8D-9BEB-72C70F57121D}" type="pres">
      <dgm:prSet presAssocID="{AD7867D1-5CBB-4080-885C-477B59DA8DD6}" presName="tx1" presStyleLbl="revTx" presStyleIdx="1" presStyleCnt="3"/>
      <dgm:spPr/>
    </dgm:pt>
    <dgm:pt modelId="{B17673D6-AEB6-4CB6-901B-9CF88BBF8143}" type="pres">
      <dgm:prSet presAssocID="{AD7867D1-5CBB-4080-885C-477B59DA8DD6}" presName="vert1" presStyleCnt="0"/>
      <dgm:spPr/>
    </dgm:pt>
    <dgm:pt modelId="{72F5F307-961A-4A3F-A247-0A3B5917B7BE}" type="pres">
      <dgm:prSet presAssocID="{21B05FF7-5C58-44C2-BEFE-5CA58450477D}" presName="thickLine" presStyleLbl="alignNode1" presStyleIdx="2" presStyleCnt="3"/>
      <dgm:spPr/>
    </dgm:pt>
    <dgm:pt modelId="{F270F2A5-352F-45A7-ADFF-B1DD9077D872}" type="pres">
      <dgm:prSet presAssocID="{21B05FF7-5C58-44C2-BEFE-5CA58450477D}" presName="horz1" presStyleCnt="0"/>
      <dgm:spPr/>
    </dgm:pt>
    <dgm:pt modelId="{6AB924C7-B1A1-4D30-9823-2B83093D69F9}" type="pres">
      <dgm:prSet presAssocID="{21B05FF7-5C58-44C2-BEFE-5CA58450477D}" presName="tx1" presStyleLbl="revTx" presStyleIdx="2" presStyleCnt="3"/>
      <dgm:spPr/>
    </dgm:pt>
    <dgm:pt modelId="{E7FA8305-A3F4-4040-9552-22D7C0DE971D}" type="pres">
      <dgm:prSet presAssocID="{21B05FF7-5C58-44C2-BEFE-5CA58450477D}" presName="vert1" presStyleCnt="0"/>
      <dgm:spPr/>
    </dgm:pt>
  </dgm:ptLst>
  <dgm:cxnLst>
    <dgm:cxn modelId="{F6C58C33-773A-465B-8C45-A2A971839AFD}" type="presOf" srcId="{A5FC091B-A568-4ED5-939B-391A3A07C8DB}" destId="{7FA64B98-2DAF-4980-8243-F5FA4BD02FCF}" srcOrd="0" destOrd="0" presId="urn:microsoft.com/office/officeart/2008/layout/LinedList"/>
    <dgm:cxn modelId="{BDF9C971-0AE6-44B1-A698-E871BFCE2599}" srcId="{D92A54F0-D3A5-49A4-8D8A-48C398A4A40C}" destId="{21B05FF7-5C58-44C2-BEFE-5CA58450477D}" srcOrd="2" destOrd="0" parTransId="{88DAA203-BAB3-4E3C-B279-6E912598A205}" sibTransId="{54163021-5D5B-4A6D-ACDD-9CB65320C425}"/>
    <dgm:cxn modelId="{E80BC98E-83F1-48FE-BDD0-647E32EBD777}" type="presOf" srcId="{21B05FF7-5C58-44C2-BEFE-5CA58450477D}" destId="{6AB924C7-B1A1-4D30-9823-2B83093D69F9}" srcOrd="0" destOrd="0" presId="urn:microsoft.com/office/officeart/2008/layout/LinedList"/>
    <dgm:cxn modelId="{18E08398-124E-4724-980B-96844071459B}" type="presOf" srcId="{D92A54F0-D3A5-49A4-8D8A-48C398A4A40C}" destId="{1D4E1A5C-2A4D-49F4-834B-060FA72ACB67}" srcOrd="0" destOrd="0" presId="urn:microsoft.com/office/officeart/2008/layout/LinedList"/>
    <dgm:cxn modelId="{6CCBB299-97A0-4B8A-A76A-144A5FB6B32A}" srcId="{D92A54F0-D3A5-49A4-8D8A-48C398A4A40C}" destId="{AD7867D1-5CBB-4080-885C-477B59DA8DD6}" srcOrd="1" destOrd="0" parTransId="{ECD9DD26-E710-44DE-A39A-648133B73A98}" sibTransId="{451D197F-20FF-43BC-8C76-7378F98DBC71}"/>
    <dgm:cxn modelId="{45B766B7-F965-4E85-8C34-14C6B9B6F8AA}" type="presOf" srcId="{AD7867D1-5CBB-4080-885C-477B59DA8DD6}" destId="{E0966585-CEDD-4D8D-9BEB-72C70F57121D}" srcOrd="0" destOrd="0" presId="urn:microsoft.com/office/officeart/2008/layout/LinedList"/>
    <dgm:cxn modelId="{9E37AFD2-C9F8-48B4-9A4F-F81655E69134}" srcId="{D92A54F0-D3A5-49A4-8D8A-48C398A4A40C}" destId="{A5FC091B-A568-4ED5-939B-391A3A07C8DB}" srcOrd="0" destOrd="0" parTransId="{C9747A4C-7E0F-479A-B437-B371785C5B24}" sibTransId="{C94E4C65-7EBC-40A5-BF78-CFF1BB658F6D}"/>
    <dgm:cxn modelId="{45124783-563C-45F2-BEC0-588BFA4CB5BA}" type="presParOf" srcId="{1D4E1A5C-2A4D-49F4-834B-060FA72ACB67}" destId="{375D2D8E-C59D-4A88-B768-1F30D443EFE3}" srcOrd="0" destOrd="0" presId="urn:microsoft.com/office/officeart/2008/layout/LinedList"/>
    <dgm:cxn modelId="{E8D7CA9B-00D6-421B-8ACF-9ABA1A30FE2E}" type="presParOf" srcId="{1D4E1A5C-2A4D-49F4-834B-060FA72ACB67}" destId="{B05B2DE6-07C2-4708-A988-A1A225082DC5}" srcOrd="1" destOrd="0" presId="urn:microsoft.com/office/officeart/2008/layout/LinedList"/>
    <dgm:cxn modelId="{F510656F-BAE1-4C68-83B6-DE0B0C2CF0A1}" type="presParOf" srcId="{B05B2DE6-07C2-4708-A988-A1A225082DC5}" destId="{7FA64B98-2DAF-4980-8243-F5FA4BD02FCF}" srcOrd="0" destOrd="0" presId="urn:microsoft.com/office/officeart/2008/layout/LinedList"/>
    <dgm:cxn modelId="{27EDE715-19E3-409F-A171-1E623CE01DE7}" type="presParOf" srcId="{B05B2DE6-07C2-4708-A988-A1A225082DC5}" destId="{BA838F8F-9B19-4439-8215-D6D86D899C0D}" srcOrd="1" destOrd="0" presId="urn:microsoft.com/office/officeart/2008/layout/LinedList"/>
    <dgm:cxn modelId="{4F158AE0-7BF7-47FD-9178-F3F3AF41BDA7}" type="presParOf" srcId="{1D4E1A5C-2A4D-49F4-834B-060FA72ACB67}" destId="{C9DD4F24-21F7-4518-8F84-526E0A961EAC}" srcOrd="2" destOrd="0" presId="urn:microsoft.com/office/officeart/2008/layout/LinedList"/>
    <dgm:cxn modelId="{BB903745-04FE-46DE-B35C-768EA34E7594}" type="presParOf" srcId="{1D4E1A5C-2A4D-49F4-834B-060FA72ACB67}" destId="{471747ED-7BBD-41F5-8B6D-3A7C27E02539}" srcOrd="3" destOrd="0" presId="urn:microsoft.com/office/officeart/2008/layout/LinedList"/>
    <dgm:cxn modelId="{19F55AB1-115D-424E-94AE-45E986F01F40}" type="presParOf" srcId="{471747ED-7BBD-41F5-8B6D-3A7C27E02539}" destId="{E0966585-CEDD-4D8D-9BEB-72C70F57121D}" srcOrd="0" destOrd="0" presId="urn:microsoft.com/office/officeart/2008/layout/LinedList"/>
    <dgm:cxn modelId="{B1ABBF1C-0A5B-4EB1-8829-BC1C7CE53E56}" type="presParOf" srcId="{471747ED-7BBD-41F5-8B6D-3A7C27E02539}" destId="{B17673D6-AEB6-4CB6-901B-9CF88BBF8143}" srcOrd="1" destOrd="0" presId="urn:microsoft.com/office/officeart/2008/layout/LinedList"/>
    <dgm:cxn modelId="{B7254152-BABB-4270-837B-C30128FA0E85}" type="presParOf" srcId="{1D4E1A5C-2A4D-49F4-834B-060FA72ACB67}" destId="{72F5F307-961A-4A3F-A247-0A3B5917B7BE}" srcOrd="4" destOrd="0" presId="urn:microsoft.com/office/officeart/2008/layout/LinedList"/>
    <dgm:cxn modelId="{E28172F0-3711-4387-97EA-4B8AEC3010A5}" type="presParOf" srcId="{1D4E1A5C-2A4D-49F4-834B-060FA72ACB67}" destId="{F270F2A5-352F-45A7-ADFF-B1DD9077D872}" srcOrd="5" destOrd="0" presId="urn:microsoft.com/office/officeart/2008/layout/LinedList"/>
    <dgm:cxn modelId="{207D3AC2-AF7B-4909-BBF2-61066D77B282}" type="presParOf" srcId="{F270F2A5-352F-45A7-ADFF-B1DD9077D872}" destId="{6AB924C7-B1A1-4D30-9823-2B83093D69F9}" srcOrd="0" destOrd="0" presId="urn:microsoft.com/office/officeart/2008/layout/LinedList"/>
    <dgm:cxn modelId="{7352960F-3CA5-4ECB-9EF1-C83BFA59BFE5}" type="presParOf" srcId="{F270F2A5-352F-45A7-ADFF-B1DD9077D872}" destId="{E7FA8305-A3F4-4040-9552-22D7C0DE971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20C896-30BC-4F1F-A29C-238EF6F39400}"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6E0D9A23-E84A-462D-A92D-BF0DB3158A13}">
      <dgm:prSet/>
      <dgm:spPr/>
      <dgm:t>
        <a:bodyPr/>
        <a:lstStyle/>
        <a:p>
          <a:r>
            <a:rPr lang="en-US" b="1" dirty="0"/>
            <a:t>1. Creation of the "Couple Dialogue" Dataset</a:t>
          </a:r>
          <a:endParaRPr lang="en-US" dirty="0"/>
        </a:p>
      </dgm:t>
    </dgm:pt>
    <dgm:pt modelId="{00944ACD-60BB-4554-BA18-66B4075FBE4D}" type="parTrans" cxnId="{EA429409-AC22-4711-9A52-86DD98627927}">
      <dgm:prSet/>
      <dgm:spPr/>
      <dgm:t>
        <a:bodyPr/>
        <a:lstStyle/>
        <a:p>
          <a:endParaRPr lang="en-US"/>
        </a:p>
      </dgm:t>
    </dgm:pt>
    <dgm:pt modelId="{C53A3499-21EF-42C2-ABA1-C435A73A4418}" type="sibTrans" cxnId="{EA429409-AC22-4711-9A52-86DD98627927}">
      <dgm:prSet/>
      <dgm:spPr/>
      <dgm:t>
        <a:bodyPr/>
        <a:lstStyle/>
        <a:p>
          <a:endParaRPr lang="en-US"/>
        </a:p>
      </dgm:t>
    </dgm:pt>
    <dgm:pt modelId="{639D3A6A-2677-4DF4-876B-AC99B8643D64}">
      <dgm:prSet/>
      <dgm:spPr/>
      <dgm:t>
        <a:bodyPr/>
        <a:lstStyle/>
        <a:p>
          <a:r>
            <a:rPr lang="en-US" b="1"/>
            <a:t>Purpose:</a:t>
          </a:r>
          <a:r>
            <a:rPr lang="en-US"/>
            <a:t> Designed for conversational sentiment analysis in Turkish.</a:t>
          </a:r>
        </a:p>
      </dgm:t>
    </dgm:pt>
    <dgm:pt modelId="{5C701F47-2881-4144-89DF-9CF55ED3CC79}" type="parTrans" cxnId="{D4DD664F-56C3-4D27-A6FE-120F1E892CE0}">
      <dgm:prSet/>
      <dgm:spPr/>
      <dgm:t>
        <a:bodyPr/>
        <a:lstStyle/>
        <a:p>
          <a:endParaRPr lang="en-US"/>
        </a:p>
      </dgm:t>
    </dgm:pt>
    <dgm:pt modelId="{DB320DA1-9B0C-4CD7-9DD9-B695E2742C3F}" type="sibTrans" cxnId="{D4DD664F-56C3-4D27-A6FE-120F1E892CE0}">
      <dgm:prSet/>
      <dgm:spPr/>
      <dgm:t>
        <a:bodyPr/>
        <a:lstStyle/>
        <a:p>
          <a:endParaRPr lang="en-US"/>
        </a:p>
      </dgm:t>
    </dgm:pt>
    <dgm:pt modelId="{80163B54-4C58-435F-901B-196961050CBD}">
      <dgm:prSet/>
      <dgm:spPr/>
      <dgm:t>
        <a:bodyPr/>
        <a:lstStyle/>
        <a:p>
          <a:r>
            <a:rPr lang="en-US" b="1"/>
            <a:t>Reliability:</a:t>
          </a:r>
          <a:r>
            <a:rPr lang="en-US"/>
            <a:t> Demonstrated through statistical analysis and robust data collection methods.</a:t>
          </a:r>
        </a:p>
      </dgm:t>
    </dgm:pt>
    <dgm:pt modelId="{310A6F87-0CFD-4290-9BBC-2B8D618FA465}" type="parTrans" cxnId="{2270BADD-C620-4C01-A5F3-C59B9BF2798C}">
      <dgm:prSet/>
      <dgm:spPr/>
      <dgm:t>
        <a:bodyPr/>
        <a:lstStyle/>
        <a:p>
          <a:endParaRPr lang="en-US"/>
        </a:p>
      </dgm:t>
    </dgm:pt>
    <dgm:pt modelId="{79B2B555-8CB6-4C0B-B7F1-3733B9291C98}" type="sibTrans" cxnId="{2270BADD-C620-4C01-A5F3-C59B9BF2798C}">
      <dgm:prSet/>
      <dgm:spPr/>
      <dgm:t>
        <a:bodyPr/>
        <a:lstStyle/>
        <a:p>
          <a:endParaRPr lang="en-US"/>
        </a:p>
      </dgm:t>
    </dgm:pt>
    <dgm:pt modelId="{C5B17AC5-CB81-486B-B630-96C5ADB57B04}">
      <dgm:prSet/>
      <dgm:spPr/>
      <dgm:t>
        <a:bodyPr/>
        <a:lstStyle/>
        <a:p>
          <a:r>
            <a:rPr lang="en-US" b="1" dirty="0"/>
            <a:t>2. Development and Comparison of Frameworks</a:t>
          </a:r>
          <a:endParaRPr lang="en-US" dirty="0"/>
        </a:p>
      </dgm:t>
    </dgm:pt>
    <dgm:pt modelId="{166D8D33-4175-493E-B9C7-C5E46DC67890}" type="parTrans" cxnId="{C7B18E8D-5AEA-4D1A-A4DC-9710D61FD6E6}">
      <dgm:prSet/>
      <dgm:spPr/>
      <dgm:t>
        <a:bodyPr/>
        <a:lstStyle/>
        <a:p>
          <a:endParaRPr lang="en-US"/>
        </a:p>
      </dgm:t>
    </dgm:pt>
    <dgm:pt modelId="{4B462B7F-0EE0-4C11-AD56-71476B7CF065}" type="sibTrans" cxnId="{C7B18E8D-5AEA-4D1A-A4DC-9710D61FD6E6}">
      <dgm:prSet/>
      <dgm:spPr/>
      <dgm:t>
        <a:bodyPr/>
        <a:lstStyle/>
        <a:p>
          <a:endParaRPr lang="en-US"/>
        </a:p>
      </dgm:t>
    </dgm:pt>
    <dgm:pt modelId="{31FFF011-1C7A-4AB2-9CEC-123FBABD20B3}">
      <dgm:prSet/>
      <dgm:spPr/>
      <dgm:t>
        <a:bodyPr/>
        <a:lstStyle/>
        <a:p>
          <a:r>
            <a:rPr lang="en-US" b="1"/>
            <a:t>Non-Contextual vs. Contextual:</a:t>
          </a:r>
          <a:endParaRPr lang="en-US"/>
        </a:p>
      </dgm:t>
    </dgm:pt>
    <dgm:pt modelId="{50DD37A4-32BA-4879-996D-EFB1339E9CA7}" type="parTrans" cxnId="{CD8F7816-8CF9-4B36-9E21-E5419C8D64C3}">
      <dgm:prSet/>
      <dgm:spPr/>
      <dgm:t>
        <a:bodyPr/>
        <a:lstStyle/>
        <a:p>
          <a:endParaRPr lang="en-US"/>
        </a:p>
      </dgm:t>
    </dgm:pt>
    <dgm:pt modelId="{B8EC2EC9-3486-4E99-A51A-FF6D42EF5690}" type="sibTrans" cxnId="{CD8F7816-8CF9-4B36-9E21-E5419C8D64C3}">
      <dgm:prSet/>
      <dgm:spPr/>
      <dgm:t>
        <a:bodyPr/>
        <a:lstStyle/>
        <a:p>
          <a:endParaRPr lang="en-US"/>
        </a:p>
      </dgm:t>
    </dgm:pt>
    <dgm:pt modelId="{08D04153-0F08-4767-B366-7969D35AA2E8}">
      <dgm:prSet/>
      <dgm:spPr/>
      <dgm:t>
        <a:bodyPr/>
        <a:lstStyle/>
        <a:p>
          <a:r>
            <a:rPr lang="en-US"/>
            <a:t>Contextual models significantly outperform Non-Contextual models.</a:t>
          </a:r>
        </a:p>
      </dgm:t>
    </dgm:pt>
    <dgm:pt modelId="{461568D8-2727-4DF3-AAE3-437E21E7AE7F}" type="parTrans" cxnId="{3CD4386D-0D4F-4A04-B234-DA35A932E983}">
      <dgm:prSet/>
      <dgm:spPr/>
      <dgm:t>
        <a:bodyPr/>
        <a:lstStyle/>
        <a:p>
          <a:endParaRPr lang="en-US"/>
        </a:p>
      </dgm:t>
    </dgm:pt>
    <dgm:pt modelId="{84C07AC1-087E-47FA-9E3F-CCEB0EF779AC}" type="sibTrans" cxnId="{3CD4386D-0D4F-4A04-B234-DA35A932E983}">
      <dgm:prSet/>
      <dgm:spPr/>
      <dgm:t>
        <a:bodyPr/>
        <a:lstStyle/>
        <a:p>
          <a:endParaRPr lang="en-US"/>
        </a:p>
      </dgm:t>
    </dgm:pt>
    <dgm:pt modelId="{1C76D6D0-2722-4FB5-864F-79E014D1688A}">
      <dgm:prSet/>
      <dgm:spPr/>
      <dgm:t>
        <a:bodyPr/>
        <a:lstStyle/>
        <a:p>
          <a:r>
            <a:rPr lang="en-US" b="1"/>
            <a:t>Improvements:</a:t>
          </a:r>
          <a:endParaRPr lang="en-US"/>
        </a:p>
      </dgm:t>
    </dgm:pt>
    <dgm:pt modelId="{1F9ED674-37DE-4C6D-9B0D-44A2E1BA6774}" type="parTrans" cxnId="{D73F2D82-E52E-400D-A788-8EB6C9C41229}">
      <dgm:prSet/>
      <dgm:spPr/>
      <dgm:t>
        <a:bodyPr/>
        <a:lstStyle/>
        <a:p>
          <a:endParaRPr lang="en-US"/>
        </a:p>
      </dgm:t>
    </dgm:pt>
    <dgm:pt modelId="{8F56B56E-8EF8-4FA8-8AA7-BBC4404F26F6}" type="sibTrans" cxnId="{D73F2D82-E52E-400D-A788-8EB6C9C41229}">
      <dgm:prSet/>
      <dgm:spPr/>
      <dgm:t>
        <a:bodyPr/>
        <a:lstStyle/>
        <a:p>
          <a:endParaRPr lang="en-US"/>
        </a:p>
      </dgm:t>
    </dgm:pt>
    <dgm:pt modelId="{0623D5C8-4711-4640-A2AD-63BB0474D2BB}">
      <dgm:prSet/>
      <dgm:spPr/>
      <dgm:t>
        <a:bodyPr/>
        <a:lstStyle/>
        <a:p>
          <a:r>
            <a:rPr lang="en-US" b="1"/>
            <a:t>Weighted F1 Scores:</a:t>
          </a:r>
          <a:r>
            <a:rPr lang="en-US"/>
            <a:t> +9.98% with conventional ML classifiers.</a:t>
          </a:r>
        </a:p>
      </dgm:t>
    </dgm:pt>
    <dgm:pt modelId="{3F57C1C6-66C3-4D35-880F-77311C1E1445}" type="parTrans" cxnId="{84449B8A-FC7A-46D4-B3F7-680D36139DED}">
      <dgm:prSet/>
      <dgm:spPr/>
      <dgm:t>
        <a:bodyPr/>
        <a:lstStyle/>
        <a:p>
          <a:endParaRPr lang="en-US"/>
        </a:p>
      </dgm:t>
    </dgm:pt>
    <dgm:pt modelId="{9F59D7D2-73FF-4017-8400-204FCE6DF063}" type="sibTrans" cxnId="{84449B8A-FC7A-46D4-B3F7-680D36139DED}">
      <dgm:prSet/>
      <dgm:spPr/>
      <dgm:t>
        <a:bodyPr/>
        <a:lstStyle/>
        <a:p>
          <a:endParaRPr lang="en-US"/>
        </a:p>
      </dgm:t>
    </dgm:pt>
    <dgm:pt modelId="{17269335-4EAA-4975-9FC8-802E8B660B46}">
      <dgm:prSet/>
      <dgm:spPr/>
      <dgm:t>
        <a:bodyPr/>
        <a:lstStyle/>
        <a:p>
          <a:r>
            <a:rPr lang="en-US" b="1"/>
            <a:t>Deep Neural Networks:</a:t>
          </a:r>
          <a:r>
            <a:rPr lang="en-US"/>
            <a:t> +6.51%, confirmed by paired t-tests.</a:t>
          </a:r>
        </a:p>
      </dgm:t>
    </dgm:pt>
    <dgm:pt modelId="{FBC09415-F209-4C1C-8C7B-41ADF3ECA12C}" type="parTrans" cxnId="{3F331EDD-2A29-431D-A0CF-B0EEAAFF8DB0}">
      <dgm:prSet/>
      <dgm:spPr/>
      <dgm:t>
        <a:bodyPr/>
        <a:lstStyle/>
        <a:p>
          <a:endParaRPr lang="en-US"/>
        </a:p>
      </dgm:t>
    </dgm:pt>
    <dgm:pt modelId="{56CCD913-9B1E-480B-B73D-42FDB3BB4790}" type="sibTrans" cxnId="{3F331EDD-2A29-431D-A0CF-B0EEAAFF8DB0}">
      <dgm:prSet/>
      <dgm:spPr/>
      <dgm:t>
        <a:bodyPr/>
        <a:lstStyle/>
        <a:p>
          <a:endParaRPr lang="en-US"/>
        </a:p>
      </dgm:t>
    </dgm:pt>
    <dgm:pt modelId="{04FB1E10-07C9-4611-8414-FDC17ACC525A}">
      <dgm:prSet/>
      <dgm:spPr/>
      <dgm:t>
        <a:bodyPr/>
        <a:lstStyle/>
        <a:p>
          <a:r>
            <a:rPr lang="en-US" b="1" dirty="0"/>
            <a:t>3. Fine-Tuned vs. Prompt-Based Approaches</a:t>
          </a:r>
          <a:endParaRPr lang="en-US" dirty="0"/>
        </a:p>
      </dgm:t>
    </dgm:pt>
    <dgm:pt modelId="{CB2E22A4-51B1-4EDA-9CC0-2A5E682F3C88}" type="parTrans" cxnId="{A6433630-D09A-4828-AE3A-76159CB80507}">
      <dgm:prSet/>
      <dgm:spPr/>
      <dgm:t>
        <a:bodyPr/>
        <a:lstStyle/>
        <a:p>
          <a:endParaRPr lang="en-US"/>
        </a:p>
      </dgm:t>
    </dgm:pt>
    <dgm:pt modelId="{07BD0A40-2314-40E9-9CC2-293E1E9F7C77}" type="sibTrans" cxnId="{A6433630-D09A-4828-AE3A-76159CB80507}">
      <dgm:prSet/>
      <dgm:spPr/>
      <dgm:t>
        <a:bodyPr/>
        <a:lstStyle/>
        <a:p>
          <a:endParaRPr lang="en-US"/>
        </a:p>
      </dgm:t>
    </dgm:pt>
    <dgm:pt modelId="{C8407B89-8C76-4609-8140-E7F6E0922467}">
      <dgm:prSet/>
      <dgm:spPr/>
      <dgm:t>
        <a:bodyPr/>
        <a:lstStyle/>
        <a:p>
          <a:r>
            <a:rPr lang="en-US" b="1"/>
            <a:t>Fine-Tuned Approach:</a:t>
          </a:r>
          <a:endParaRPr lang="en-US"/>
        </a:p>
      </dgm:t>
    </dgm:pt>
    <dgm:pt modelId="{FFD88E41-B1A3-4D58-AB30-D7F6EA5F232C}" type="parTrans" cxnId="{2212EC63-7BB3-42DC-ACEC-86DA92E620C6}">
      <dgm:prSet/>
      <dgm:spPr/>
      <dgm:t>
        <a:bodyPr/>
        <a:lstStyle/>
        <a:p>
          <a:endParaRPr lang="en-US"/>
        </a:p>
      </dgm:t>
    </dgm:pt>
    <dgm:pt modelId="{D404BF64-1B5E-4229-B8DC-9E24E562AB07}" type="sibTrans" cxnId="{2212EC63-7BB3-42DC-ACEC-86DA92E620C6}">
      <dgm:prSet/>
      <dgm:spPr/>
      <dgm:t>
        <a:bodyPr/>
        <a:lstStyle/>
        <a:p>
          <a:endParaRPr lang="en-US"/>
        </a:p>
      </dgm:t>
    </dgm:pt>
    <dgm:pt modelId="{91740562-ECA9-41C1-8333-0C976AABC1E7}">
      <dgm:prSet/>
      <dgm:spPr/>
      <dgm:t>
        <a:bodyPr/>
        <a:lstStyle/>
        <a:p>
          <a:r>
            <a:rPr lang="en-US"/>
            <a:t>Significantly better, achieving up to +31.12% in Weighted F1 score.</a:t>
          </a:r>
        </a:p>
      </dgm:t>
    </dgm:pt>
    <dgm:pt modelId="{343C4E9F-8164-4B50-9F84-628D756BA8A7}" type="parTrans" cxnId="{2B89E7B9-DAEE-4887-9AFD-C87C92693F44}">
      <dgm:prSet/>
      <dgm:spPr/>
      <dgm:t>
        <a:bodyPr/>
        <a:lstStyle/>
        <a:p>
          <a:endParaRPr lang="en-US"/>
        </a:p>
      </dgm:t>
    </dgm:pt>
    <dgm:pt modelId="{E7294E85-A941-4A88-98E4-2B985C7CD5C3}" type="sibTrans" cxnId="{2B89E7B9-DAEE-4887-9AFD-C87C92693F44}">
      <dgm:prSet/>
      <dgm:spPr/>
      <dgm:t>
        <a:bodyPr/>
        <a:lstStyle/>
        <a:p>
          <a:endParaRPr lang="en-US"/>
        </a:p>
      </dgm:t>
    </dgm:pt>
    <dgm:pt modelId="{474EDC07-3F4C-4EAB-B418-21ACD16AFDD3}">
      <dgm:prSet/>
      <dgm:spPr/>
      <dgm:t>
        <a:bodyPr/>
        <a:lstStyle/>
        <a:p>
          <a:r>
            <a:rPr lang="en-US"/>
            <a:t>Statistically significant improvement confirmed by paired t-test.</a:t>
          </a:r>
        </a:p>
      </dgm:t>
    </dgm:pt>
    <dgm:pt modelId="{BC2B55CC-19A6-441F-9B0D-422B4F777FB2}" type="parTrans" cxnId="{9307A27B-C1C2-46E5-936C-8F42E08CE7B6}">
      <dgm:prSet/>
      <dgm:spPr/>
      <dgm:t>
        <a:bodyPr/>
        <a:lstStyle/>
        <a:p>
          <a:endParaRPr lang="en-US"/>
        </a:p>
      </dgm:t>
    </dgm:pt>
    <dgm:pt modelId="{D0BF4FC8-EA79-4AE9-BFDE-D4B0152FD078}" type="sibTrans" cxnId="{9307A27B-C1C2-46E5-936C-8F42E08CE7B6}">
      <dgm:prSet/>
      <dgm:spPr/>
      <dgm:t>
        <a:bodyPr/>
        <a:lstStyle/>
        <a:p>
          <a:endParaRPr lang="en-US"/>
        </a:p>
      </dgm:t>
    </dgm:pt>
    <dgm:pt modelId="{CD6C7156-D169-4AA1-9DA2-A454E51D0F58}" type="pres">
      <dgm:prSet presAssocID="{DF20C896-30BC-4F1F-A29C-238EF6F39400}" presName="Name0" presStyleCnt="0">
        <dgm:presLayoutVars>
          <dgm:dir/>
          <dgm:animLvl val="lvl"/>
          <dgm:resizeHandles val="exact"/>
        </dgm:presLayoutVars>
      </dgm:prSet>
      <dgm:spPr/>
    </dgm:pt>
    <dgm:pt modelId="{D2509BE3-99A9-4B8C-A272-11A36431BB9E}" type="pres">
      <dgm:prSet presAssocID="{6E0D9A23-E84A-462D-A92D-BF0DB3158A13}" presName="linNode" presStyleCnt="0"/>
      <dgm:spPr/>
    </dgm:pt>
    <dgm:pt modelId="{3198DE11-547E-480D-B36F-10DC36E10746}" type="pres">
      <dgm:prSet presAssocID="{6E0D9A23-E84A-462D-A92D-BF0DB3158A13}" presName="parentText" presStyleLbl="node1" presStyleIdx="0" presStyleCnt="3">
        <dgm:presLayoutVars>
          <dgm:chMax val="1"/>
          <dgm:bulletEnabled val="1"/>
        </dgm:presLayoutVars>
      </dgm:prSet>
      <dgm:spPr/>
    </dgm:pt>
    <dgm:pt modelId="{F63077D6-1B74-4FCC-84CD-BD3AA511DE91}" type="pres">
      <dgm:prSet presAssocID="{6E0D9A23-E84A-462D-A92D-BF0DB3158A13}" presName="descendantText" presStyleLbl="alignAccFollowNode1" presStyleIdx="0" presStyleCnt="3">
        <dgm:presLayoutVars>
          <dgm:bulletEnabled val="1"/>
        </dgm:presLayoutVars>
      </dgm:prSet>
      <dgm:spPr/>
    </dgm:pt>
    <dgm:pt modelId="{8F816749-B071-468F-9533-B51BFF484F68}" type="pres">
      <dgm:prSet presAssocID="{C53A3499-21EF-42C2-ABA1-C435A73A4418}" presName="sp" presStyleCnt="0"/>
      <dgm:spPr/>
    </dgm:pt>
    <dgm:pt modelId="{61482257-7728-433B-86F5-24C18C288CD7}" type="pres">
      <dgm:prSet presAssocID="{C5B17AC5-CB81-486B-B630-96C5ADB57B04}" presName="linNode" presStyleCnt="0"/>
      <dgm:spPr/>
    </dgm:pt>
    <dgm:pt modelId="{DF8297B0-37EE-4225-8EBE-96AF57AAFCA2}" type="pres">
      <dgm:prSet presAssocID="{C5B17AC5-CB81-486B-B630-96C5ADB57B04}" presName="parentText" presStyleLbl="node1" presStyleIdx="1" presStyleCnt="3">
        <dgm:presLayoutVars>
          <dgm:chMax val="1"/>
          <dgm:bulletEnabled val="1"/>
        </dgm:presLayoutVars>
      </dgm:prSet>
      <dgm:spPr/>
    </dgm:pt>
    <dgm:pt modelId="{87D1CFD9-5F28-409D-8BB3-4302B4FBDF4F}" type="pres">
      <dgm:prSet presAssocID="{C5B17AC5-CB81-486B-B630-96C5ADB57B04}" presName="descendantText" presStyleLbl="alignAccFollowNode1" presStyleIdx="1" presStyleCnt="3">
        <dgm:presLayoutVars>
          <dgm:bulletEnabled val="1"/>
        </dgm:presLayoutVars>
      </dgm:prSet>
      <dgm:spPr/>
    </dgm:pt>
    <dgm:pt modelId="{CF33EADF-A6DB-46AF-9F2F-2D215271774C}" type="pres">
      <dgm:prSet presAssocID="{4B462B7F-0EE0-4C11-AD56-71476B7CF065}" presName="sp" presStyleCnt="0"/>
      <dgm:spPr/>
    </dgm:pt>
    <dgm:pt modelId="{02F7030D-7043-4DC3-A6FE-081F1777CB02}" type="pres">
      <dgm:prSet presAssocID="{04FB1E10-07C9-4611-8414-FDC17ACC525A}" presName="linNode" presStyleCnt="0"/>
      <dgm:spPr/>
    </dgm:pt>
    <dgm:pt modelId="{97A5C5BE-0B12-452B-B2B6-DF5321459DAC}" type="pres">
      <dgm:prSet presAssocID="{04FB1E10-07C9-4611-8414-FDC17ACC525A}" presName="parentText" presStyleLbl="node1" presStyleIdx="2" presStyleCnt="3">
        <dgm:presLayoutVars>
          <dgm:chMax val="1"/>
          <dgm:bulletEnabled val="1"/>
        </dgm:presLayoutVars>
      </dgm:prSet>
      <dgm:spPr/>
    </dgm:pt>
    <dgm:pt modelId="{5C71CE45-0F83-4717-AD63-760251C255A6}" type="pres">
      <dgm:prSet presAssocID="{04FB1E10-07C9-4611-8414-FDC17ACC525A}" presName="descendantText" presStyleLbl="alignAccFollowNode1" presStyleIdx="2" presStyleCnt="3">
        <dgm:presLayoutVars>
          <dgm:bulletEnabled val="1"/>
        </dgm:presLayoutVars>
      </dgm:prSet>
      <dgm:spPr/>
    </dgm:pt>
  </dgm:ptLst>
  <dgm:cxnLst>
    <dgm:cxn modelId="{EA429409-AC22-4711-9A52-86DD98627927}" srcId="{DF20C896-30BC-4F1F-A29C-238EF6F39400}" destId="{6E0D9A23-E84A-462D-A92D-BF0DB3158A13}" srcOrd="0" destOrd="0" parTransId="{00944ACD-60BB-4554-BA18-66B4075FBE4D}" sibTransId="{C53A3499-21EF-42C2-ABA1-C435A73A4418}"/>
    <dgm:cxn modelId="{CD8F7816-8CF9-4B36-9E21-E5419C8D64C3}" srcId="{C5B17AC5-CB81-486B-B630-96C5ADB57B04}" destId="{31FFF011-1C7A-4AB2-9CEC-123FBABD20B3}" srcOrd="0" destOrd="0" parTransId="{50DD37A4-32BA-4879-996D-EFB1339E9CA7}" sibTransId="{B8EC2EC9-3486-4E99-A51A-FF6D42EF5690}"/>
    <dgm:cxn modelId="{A22C3F2C-53EC-443A-9C76-39B7FCF337CD}" type="presOf" srcId="{04FB1E10-07C9-4611-8414-FDC17ACC525A}" destId="{97A5C5BE-0B12-452B-B2B6-DF5321459DAC}" srcOrd="0" destOrd="0" presId="urn:microsoft.com/office/officeart/2005/8/layout/vList5"/>
    <dgm:cxn modelId="{A6433630-D09A-4828-AE3A-76159CB80507}" srcId="{DF20C896-30BC-4F1F-A29C-238EF6F39400}" destId="{04FB1E10-07C9-4611-8414-FDC17ACC525A}" srcOrd="2" destOrd="0" parTransId="{CB2E22A4-51B1-4EDA-9CC0-2A5E682F3C88}" sibTransId="{07BD0A40-2314-40E9-9CC2-293E1E9F7C77}"/>
    <dgm:cxn modelId="{2212EC63-7BB3-42DC-ACEC-86DA92E620C6}" srcId="{04FB1E10-07C9-4611-8414-FDC17ACC525A}" destId="{C8407B89-8C76-4609-8140-E7F6E0922467}" srcOrd="0" destOrd="0" parTransId="{FFD88E41-B1A3-4D58-AB30-D7F6EA5F232C}" sibTransId="{D404BF64-1B5E-4229-B8DC-9E24E562AB07}"/>
    <dgm:cxn modelId="{9B826167-FDE4-448B-959B-5F77A03FA492}" type="presOf" srcId="{17269335-4EAA-4975-9FC8-802E8B660B46}" destId="{87D1CFD9-5F28-409D-8BB3-4302B4FBDF4F}" srcOrd="0" destOrd="4" presId="urn:microsoft.com/office/officeart/2005/8/layout/vList5"/>
    <dgm:cxn modelId="{4B934549-44EA-4121-8B81-EAC6AD36BF26}" type="presOf" srcId="{639D3A6A-2677-4DF4-876B-AC99B8643D64}" destId="{F63077D6-1B74-4FCC-84CD-BD3AA511DE91}" srcOrd="0" destOrd="0" presId="urn:microsoft.com/office/officeart/2005/8/layout/vList5"/>
    <dgm:cxn modelId="{CEF9E04C-85B6-4FF7-8ED2-B3D92FBD6EDC}" type="presOf" srcId="{6E0D9A23-E84A-462D-A92D-BF0DB3158A13}" destId="{3198DE11-547E-480D-B36F-10DC36E10746}" srcOrd="0" destOrd="0" presId="urn:microsoft.com/office/officeart/2005/8/layout/vList5"/>
    <dgm:cxn modelId="{3CD4386D-0D4F-4A04-B234-DA35A932E983}" srcId="{31FFF011-1C7A-4AB2-9CEC-123FBABD20B3}" destId="{08D04153-0F08-4767-B366-7969D35AA2E8}" srcOrd="0" destOrd="0" parTransId="{461568D8-2727-4DF3-AAE3-437E21E7AE7F}" sibTransId="{84C07AC1-087E-47FA-9E3F-CCEB0EF779AC}"/>
    <dgm:cxn modelId="{D4DD664F-56C3-4D27-A6FE-120F1E892CE0}" srcId="{6E0D9A23-E84A-462D-A92D-BF0DB3158A13}" destId="{639D3A6A-2677-4DF4-876B-AC99B8643D64}" srcOrd="0" destOrd="0" parTransId="{5C701F47-2881-4144-89DF-9CF55ED3CC79}" sibTransId="{DB320DA1-9B0C-4CD7-9DD9-B695E2742C3F}"/>
    <dgm:cxn modelId="{9307A27B-C1C2-46E5-936C-8F42E08CE7B6}" srcId="{C8407B89-8C76-4609-8140-E7F6E0922467}" destId="{474EDC07-3F4C-4EAB-B418-21ACD16AFDD3}" srcOrd="1" destOrd="0" parTransId="{BC2B55CC-19A6-441F-9B0D-422B4F777FB2}" sibTransId="{D0BF4FC8-EA79-4AE9-BFDE-D4B0152FD078}"/>
    <dgm:cxn modelId="{D73F2D82-E52E-400D-A788-8EB6C9C41229}" srcId="{31FFF011-1C7A-4AB2-9CEC-123FBABD20B3}" destId="{1C76D6D0-2722-4FB5-864F-79E014D1688A}" srcOrd="1" destOrd="0" parTransId="{1F9ED674-37DE-4C6D-9B0D-44A2E1BA6774}" sibTransId="{8F56B56E-8EF8-4FA8-8AA7-BBC4404F26F6}"/>
    <dgm:cxn modelId="{66FBC086-8CDC-437F-B6EF-D93F21B50F5C}" type="presOf" srcId="{08D04153-0F08-4767-B366-7969D35AA2E8}" destId="{87D1CFD9-5F28-409D-8BB3-4302B4FBDF4F}" srcOrd="0" destOrd="1" presId="urn:microsoft.com/office/officeart/2005/8/layout/vList5"/>
    <dgm:cxn modelId="{A8949D89-EDAD-4DD8-841A-256A094FC308}" type="presOf" srcId="{91740562-ECA9-41C1-8333-0C976AABC1E7}" destId="{5C71CE45-0F83-4717-AD63-760251C255A6}" srcOrd="0" destOrd="1" presId="urn:microsoft.com/office/officeart/2005/8/layout/vList5"/>
    <dgm:cxn modelId="{84449B8A-FC7A-46D4-B3F7-680D36139DED}" srcId="{1C76D6D0-2722-4FB5-864F-79E014D1688A}" destId="{0623D5C8-4711-4640-A2AD-63BB0474D2BB}" srcOrd="0" destOrd="0" parTransId="{3F57C1C6-66C3-4D35-880F-77311C1E1445}" sibTransId="{9F59D7D2-73FF-4017-8400-204FCE6DF063}"/>
    <dgm:cxn modelId="{C7B18E8D-5AEA-4D1A-A4DC-9710D61FD6E6}" srcId="{DF20C896-30BC-4F1F-A29C-238EF6F39400}" destId="{C5B17AC5-CB81-486B-B630-96C5ADB57B04}" srcOrd="1" destOrd="0" parTransId="{166D8D33-4175-493E-B9C7-C5E46DC67890}" sibTransId="{4B462B7F-0EE0-4C11-AD56-71476B7CF065}"/>
    <dgm:cxn modelId="{BDF97691-34C3-467F-B523-C613CDCB6364}" type="presOf" srcId="{31FFF011-1C7A-4AB2-9CEC-123FBABD20B3}" destId="{87D1CFD9-5F28-409D-8BB3-4302B4FBDF4F}" srcOrd="0" destOrd="0" presId="urn:microsoft.com/office/officeart/2005/8/layout/vList5"/>
    <dgm:cxn modelId="{ECCA63AE-4E0F-4854-869E-7930988ADFE5}" type="presOf" srcId="{0623D5C8-4711-4640-A2AD-63BB0474D2BB}" destId="{87D1CFD9-5F28-409D-8BB3-4302B4FBDF4F}" srcOrd="0" destOrd="3" presId="urn:microsoft.com/office/officeart/2005/8/layout/vList5"/>
    <dgm:cxn modelId="{68BA6AB1-07D2-4DB3-9E13-8FC57A03947A}" type="presOf" srcId="{80163B54-4C58-435F-901B-196961050CBD}" destId="{F63077D6-1B74-4FCC-84CD-BD3AA511DE91}" srcOrd="0" destOrd="1" presId="urn:microsoft.com/office/officeart/2005/8/layout/vList5"/>
    <dgm:cxn modelId="{AD38C8B6-0B91-4406-A4EE-D95692E11A0E}" type="presOf" srcId="{DF20C896-30BC-4F1F-A29C-238EF6F39400}" destId="{CD6C7156-D169-4AA1-9DA2-A454E51D0F58}" srcOrd="0" destOrd="0" presId="urn:microsoft.com/office/officeart/2005/8/layout/vList5"/>
    <dgm:cxn modelId="{2B89E7B9-DAEE-4887-9AFD-C87C92693F44}" srcId="{C8407B89-8C76-4609-8140-E7F6E0922467}" destId="{91740562-ECA9-41C1-8333-0C976AABC1E7}" srcOrd="0" destOrd="0" parTransId="{343C4E9F-8164-4B50-9F84-628D756BA8A7}" sibTransId="{E7294E85-A941-4A88-98E4-2B985C7CD5C3}"/>
    <dgm:cxn modelId="{9B3F9BCE-BC9B-4A1B-9EB2-2F27F9497B79}" type="presOf" srcId="{1C76D6D0-2722-4FB5-864F-79E014D1688A}" destId="{87D1CFD9-5F28-409D-8BB3-4302B4FBDF4F}" srcOrd="0" destOrd="2" presId="urn:microsoft.com/office/officeart/2005/8/layout/vList5"/>
    <dgm:cxn modelId="{3F331EDD-2A29-431D-A0CF-B0EEAAFF8DB0}" srcId="{1C76D6D0-2722-4FB5-864F-79E014D1688A}" destId="{17269335-4EAA-4975-9FC8-802E8B660B46}" srcOrd="1" destOrd="0" parTransId="{FBC09415-F209-4C1C-8C7B-41ADF3ECA12C}" sibTransId="{56CCD913-9B1E-480B-B73D-42FDB3BB4790}"/>
    <dgm:cxn modelId="{2270BADD-C620-4C01-A5F3-C59B9BF2798C}" srcId="{6E0D9A23-E84A-462D-A92D-BF0DB3158A13}" destId="{80163B54-4C58-435F-901B-196961050CBD}" srcOrd="1" destOrd="0" parTransId="{310A6F87-0CFD-4290-9BBC-2B8D618FA465}" sibTransId="{79B2B555-8CB6-4C0B-B7F1-3733B9291C98}"/>
    <dgm:cxn modelId="{EE5F88EE-B264-48AB-BBEA-DE728FDBFF8A}" type="presOf" srcId="{C8407B89-8C76-4609-8140-E7F6E0922467}" destId="{5C71CE45-0F83-4717-AD63-760251C255A6}" srcOrd="0" destOrd="0" presId="urn:microsoft.com/office/officeart/2005/8/layout/vList5"/>
    <dgm:cxn modelId="{474582F3-91F8-4183-82DD-CA31CA31A148}" type="presOf" srcId="{C5B17AC5-CB81-486B-B630-96C5ADB57B04}" destId="{DF8297B0-37EE-4225-8EBE-96AF57AAFCA2}" srcOrd="0" destOrd="0" presId="urn:microsoft.com/office/officeart/2005/8/layout/vList5"/>
    <dgm:cxn modelId="{54905CFE-B679-4B5B-82B2-73B084439AF6}" type="presOf" srcId="{474EDC07-3F4C-4EAB-B418-21ACD16AFDD3}" destId="{5C71CE45-0F83-4717-AD63-760251C255A6}" srcOrd="0" destOrd="2" presId="urn:microsoft.com/office/officeart/2005/8/layout/vList5"/>
    <dgm:cxn modelId="{9C5C4C5E-042D-4D3E-AE73-C432133F9AB3}" type="presParOf" srcId="{CD6C7156-D169-4AA1-9DA2-A454E51D0F58}" destId="{D2509BE3-99A9-4B8C-A272-11A36431BB9E}" srcOrd="0" destOrd="0" presId="urn:microsoft.com/office/officeart/2005/8/layout/vList5"/>
    <dgm:cxn modelId="{9A7F4D90-AFB0-4CCB-9EEC-97BC9AD7E109}" type="presParOf" srcId="{D2509BE3-99A9-4B8C-A272-11A36431BB9E}" destId="{3198DE11-547E-480D-B36F-10DC36E10746}" srcOrd="0" destOrd="0" presId="urn:microsoft.com/office/officeart/2005/8/layout/vList5"/>
    <dgm:cxn modelId="{97D6EA9F-D3F2-4BCD-8924-4E0ADEA0DB7B}" type="presParOf" srcId="{D2509BE3-99A9-4B8C-A272-11A36431BB9E}" destId="{F63077D6-1B74-4FCC-84CD-BD3AA511DE91}" srcOrd="1" destOrd="0" presId="urn:microsoft.com/office/officeart/2005/8/layout/vList5"/>
    <dgm:cxn modelId="{332C165F-FD5E-4ABC-8D4A-67E8E41C51DB}" type="presParOf" srcId="{CD6C7156-D169-4AA1-9DA2-A454E51D0F58}" destId="{8F816749-B071-468F-9533-B51BFF484F68}" srcOrd="1" destOrd="0" presId="urn:microsoft.com/office/officeart/2005/8/layout/vList5"/>
    <dgm:cxn modelId="{8F1FA062-1D80-4727-BB9B-B8BE529100AD}" type="presParOf" srcId="{CD6C7156-D169-4AA1-9DA2-A454E51D0F58}" destId="{61482257-7728-433B-86F5-24C18C288CD7}" srcOrd="2" destOrd="0" presId="urn:microsoft.com/office/officeart/2005/8/layout/vList5"/>
    <dgm:cxn modelId="{EF44E254-2C23-4618-B02C-8560957950E6}" type="presParOf" srcId="{61482257-7728-433B-86F5-24C18C288CD7}" destId="{DF8297B0-37EE-4225-8EBE-96AF57AAFCA2}" srcOrd="0" destOrd="0" presId="urn:microsoft.com/office/officeart/2005/8/layout/vList5"/>
    <dgm:cxn modelId="{5675F62E-436F-4581-AF93-A1546F45592E}" type="presParOf" srcId="{61482257-7728-433B-86F5-24C18C288CD7}" destId="{87D1CFD9-5F28-409D-8BB3-4302B4FBDF4F}" srcOrd="1" destOrd="0" presId="urn:microsoft.com/office/officeart/2005/8/layout/vList5"/>
    <dgm:cxn modelId="{26B6ECB2-CB05-42D7-AA34-3D3D02C6C178}" type="presParOf" srcId="{CD6C7156-D169-4AA1-9DA2-A454E51D0F58}" destId="{CF33EADF-A6DB-46AF-9F2F-2D215271774C}" srcOrd="3" destOrd="0" presId="urn:microsoft.com/office/officeart/2005/8/layout/vList5"/>
    <dgm:cxn modelId="{F84C236A-3692-4352-9F86-8AC98D4AD44B}" type="presParOf" srcId="{CD6C7156-D169-4AA1-9DA2-A454E51D0F58}" destId="{02F7030D-7043-4DC3-A6FE-081F1777CB02}" srcOrd="4" destOrd="0" presId="urn:microsoft.com/office/officeart/2005/8/layout/vList5"/>
    <dgm:cxn modelId="{99DAFF71-096D-487D-8FFA-EE7D4F94D6EE}" type="presParOf" srcId="{02F7030D-7043-4DC3-A6FE-081F1777CB02}" destId="{97A5C5BE-0B12-452B-B2B6-DF5321459DAC}" srcOrd="0" destOrd="0" presId="urn:microsoft.com/office/officeart/2005/8/layout/vList5"/>
    <dgm:cxn modelId="{A29B2F8C-F588-41A5-93BA-34168CF944DF}" type="presParOf" srcId="{02F7030D-7043-4DC3-A6FE-081F1777CB02}" destId="{5C71CE45-0F83-4717-AD63-760251C255A6}"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7FED138-0674-40CE-A5E4-9185C582B710}"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2866C505-3C6A-4B08-B4B1-62D7B20E2553}">
      <dgm:prSet/>
      <dgm:spPr/>
      <dgm:t>
        <a:bodyPr/>
        <a:lstStyle/>
        <a:p>
          <a:r>
            <a:rPr lang="en-US" b="1" dirty="0"/>
            <a:t>4. Impact of Morphological Features</a:t>
          </a:r>
          <a:endParaRPr lang="en-US" dirty="0"/>
        </a:p>
      </dgm:t>
    </dgm:pt>
    <dgm:pt modelId="{82DF6524-1B25-487B-AD1C-83B9EA687E68}" type="parTrans" cxnId="{52A9F8AA-91D6-42C8-9AA0-D8B2711041F4}">
      <dgm:prSet/>
      <dgm:spPr/>
      <dgm:t>
        <a:bodyPr/>
        <a:lstStyle/>
        <a:p>
          <a:endParaRPr lang="en-US"/>
        </a:p>
      </dgm:t>
    </dgm:pt>
    <dgm:pt modelId="{2CBE0BA0-8DB3-4543-9064-002A72878B10}" type="sibTrans" cxnId="{52A9F8AA-91D6-42C8-9AA0-D8B2711041F4}">
      <dgm:prSet/>
      <dgm:spPr/>
      <dgm:t>
        <a:bodyPr/>
        <a:lstStyle/>
        <a:p>
          <a:endParaRPr lang="en-US"/>
        </a:p>
      </dgm:t>
    </dgm:pt>
    <dgm:pt modelId="{16E7E59F-A3F6-4507-A1E9-0CED8D9F4CE9}">
      <dgm:prSet/>
      <dgm:spPr/>
      <dgm:t>
        <a:bodyPr/>
        <a:lstStyle/>
        <a:p>
          <a:r>
            <a:rPr lang="en-US" b="1"/>
            <a:t>Specific Morphemes:</a:t>
          </a:r>
          <a:endParaRPr lang="en-US"/>
        </a:p>
      </dgm:t>
    </dgm:pt>
    <dgm:pt modelId="{B8E52CD3-0444-48A2-BF91-87B829745089}" type="parTrans" cxnId="{B4E31094-FA21-47FD-9042-92682A6B01A9}">
      <dgm:prSet/>
      <dgm:spPr/>
      <dgm:t>
        <a:bodyPr/>
        <a:lstStyle/>
        <a:p>
          <a:endParaRPr lang="en-US"/>
        </a:p>
      </dgm:t>
    </dgm:pt>
    <dgm:pt modelId="{73A94B60-C12A-46B3-B60E-727662F47295}" type="sibTrans" cxnId="{B4E31094-FA21-47FD-9042-92682A6B01A9}">
      <dgm:prSet/>
      <dgm:spPr/>
      <dgm:t>
        <a:bodyPr/>
        <a:lstStyle/>
        <a:p>
          <a:endParaRPr lang="en-US"/>
        </a:p>
      </dgm:t>
    </dgm:pt>
    <dgm:pt modelId="{C2FB875E-39B8-4135-AE26-5C0CC2A5C376}">
      <dgm:prSet/>
      <dgm:spPr/>
      <dgm:t>
        <a:bodyPr/>
        <a:lstStyle/>
        <a:p>
          <a:r>
            <a:rPr lang="en-US"/>
            <a:t>Enhance sentiment classification, improving Weighted F1 scores by up to +9.89%.</a:t>
          </a:r>
        </a:p>
      </dgm:t>
    </dgm:pt>
    <dgm:pt modelId="{6CAB3AC0-E527-486E-A1B2-7F07F4A04034}" type="parTrans" cxnId="{C668650E-5AEA-46CD-A4ED-FF09BD541753}">
      <dgm:prSet/>
      <dgm:spPr/>
      <dgm:t>
        <a:bodyPr/>
        <a:lstStyle/>
        <a:p>
          <a:endParaRPr lang="en-US"/>
        </a:p>
      </dgm:t>
    </dgm:pt>
    <dgm:pt modelId="{D011AE69-BFBE-4F2C-9E69-552AEB071E08}" type="sibTrans" cxnId="{C668650E-5AEA-46CD-A4ED-FF09BD541753}">
      <dgm:prSet/>
      <dgm:spPr/>
      <dgm:t>
        <a:bodyPr/>
        <a:lstStyle/>
        <a:p>
          <a:endParaRPr lang="en-US"/>
        </a:p>
      </dgm:t>
    </dgm:pt>
    <dgm:pt modelId="{3AF7C6BF-285B-4BDC-B96E-9D789F1EA699}">
      <dgm:prSet/>
      <dgm:spPr/>
      <dgm:t>
        <a:bodyPr/>
        <a:lstStyle/>
        <a:p>
          <a:r>
            <a:rPr lang="en-US"/>
            <a:t>Supported by selective paired t-tests across classifiers and preprocessing settings.</a:t>
          </a:r>
        </a:p>
      </dgm:t>
    </dgm:pt>
    <dgm:pt modelId="{45A52516-6E67-44B0-ADF9-887DAAF76046}" type="parTrans" cxnId="{ECF5B39E-F591-4E01-B4E4-4ABAE621E726}">
      <dgm:prSet/>
      <dgm:spPr/>
      <dgm:t>
        <a:bodyPr/>
        <a:lstStyle/>
        <a:p>
          <a:endParaRPr lang="en-US"/>
        </a:p>
      </dgm:t>
    </dgm:pt>
    <dgm:pt modelId="{EDB879E1-F01D-40C6-81BC-D1989B791CAE}" type="sibTrans" cxnId="{ECF5B39E-F591-4E01-B4E4-4ABAE621E726}">
      <dgm:prSet/>
      <dgm:spPr/>
      <dgm:t>
        <a:bodyPr/>
        <a:lstStyle/>
        <a:p>
          <a:endParaRPr lang="en-US"/>
        </a:p>
      </dgm:t>
    </dgm:pt>
    <dgm:pt modelId="{FD4FE833-E347-49BF-8FF1-BA88E3BC9C7A}">
      <dgm:prSet/>
      <dgm:spPr/>
      <dgm:t>
        <a:bodyPr/>
        <a:lstStyle/>
        <a:p>
          <a:r>
            <a:rPr lang="en-US" b="1"/>
            <a:t>5. Performance of BERT-Based Utterance Features:</a:t>
          </a:r>
          <a:endParaRPr lang="en-US"/>
        </a:p>
      </dgm:t>
    </dgm:pt>
    <dgm:pt modelId="{CD1ED1F7-9311-4E6A-8968-26185509F13F}" type="parTrans" cxnId="{0AE075C4-D4BD-4FBF-A84A-3DF21122FFCC}">
      <dgm:prSet/>
      <dgm:spPr/>
      <dgm:t>
        <a:bodyPr/>
        <a:lstStyle/>
        <a:p>
          <a:endParaRPr lang="en-US"/>
        </a:p>
      </dgm:t>
    </dgm:pt>
    <dgm:pt modelId="{F309212C-EE0B-47DB-B1AB-24A8E43DFA64}" type="sibTrans" cxnId="{0AE075C4-D4BD-4FBF-A84A-3DF21122FFCC}">
      <dgm:prSet/>
      <dgm:spPr/>
      <dgm:t>
        <a:bodyPr/>
        <a:lstStyle/>
        <a:p>
          <a:endParaRPr lang="en-US"/>
        </a:p>
      </dgm:t>
    </dgm:pt>
    <dgm:pt modelId="{A2D02E25-CD9E-461E-96FA-9599AA69BA10}">
      <dgm:prSet/>
      <dgm:spPr/>
      <dgm:t>
        <a:bodyPr/>
        <a:lstStyle/>
        <a:p>
          <a:r>
            <a:rPr lang="en-US" b="1"/>
            <a:t>Contextual Framework:</a:t>
          </a:r>
          <a:endParaRPr lang="en-US"/>
        </a:p>
      </dgm:t>
    </dgm:pt>
    <dgm:pt modelId="{CDE2A0D7-FD22-4A94-9668-134F38EB102A}" type="parTrans" cxnId="{4C6F555C-C96B-4ADB-85E2-FF0009A3DB70}">
      <dgm:prSet/>
      <dgm:spPr/>
      <dgm:t>
        <a:bodyPr/>
        <a:lstStyle/>
        <a:p>
          <a:endParaRPr lang="en-US"/>
        </a:p>
      </dgm:t>
    </dgm:pt>
    <dgm:pt modelId="{AC0A7283-ECB0-4557-B52B-36E7B4C751E2}" type="sibTrans" cxnId="{4C6F555C-C96B-4ADB-85E2-FF0009A3DB70}">
      <dgm:prSet/>
      <dgm:spPr/>
      <dgm:t>
        <a:bodyPr/>
        <a:lstStyle/>
        <a:p>
          <a:endParaRPr lang="en-US"/>
        </a:p>
      </dgm:t>
    </dgm:pt>
    <dgm:pt modelId="{031E91F1-948A-45AC-8108-91AC146F6DE3}">
      <dgm:prSet/>
      <dgm:spPr/>
      <dgm:t>
        <a:bodyPr/>
        <a:lstStyle/>
        <a:p>
          <a:r>
            <a:rPr lang="en-US"/>
            <a:t>BERT outperformed other models with a +14.46% increase in Weighted F1 scores.</a:t>
          </a:r>
        </a:p>
      </dgm:t>
    </dgm:pt>
    <dgm:pt modelId="{C2A97341-AE12-45FC-9172-0798E3A8D3F4}" type="parTrans" cxnId="{727B5141-9E34-4132-B293-B310BA1EB469}">
      <dgm:prSet/>
      <dgm:spPr/>
      <dgm:t>
        <a:bodyPr/>
        <a:lstStyle/>
        <a:p>
          <a:endParaRPr lang="en-US"/>
        </a:p>
      </dgm:t>
    </dgm:pt>
    <dgm:pt modelId="{87AB85C9-45ED-4658-BF70-AF2FCDC87731}" type="sibTrans" cxnId="{727B5141-9E34-4132-B293-B310BA1EB469}">
      <dgm:prSet/>
      <dgm:spPr/>
      <dgm:t>
        <a:bodyPr/>
        <a:lstStyle/>
        <a:p>
          <a:endParaRPr lang="en-US"/>
        </a:p>
      </dgm:t>
    </dgm:pt>
    <dgm:pt modelId="{C00F0DFF-2653-40D2-815C-D1005839DF11}">
      <dgm:prSet/>
      <dgm:spPr/>
      <dgm:t>
        <a:bodyPr/>
        <a:lstStyle/>
        <a:p>
          <a:r>
            <a:rPr lang="en-US"/>
            <a:t>Statistically significant improvement confirmed through testing.</a:t>
          </a:r>
        </a:p>
      </dgm:t>
    </dgm:pt>
    <dgm:pt modelId="{F7A36183-8B2B-45A2-90BA-A443C0E3F8FA}" type="parTrans" cxnId="{009DB329-1A3B-4710-A15F-BDC6E7F58520}">
      <dgm:prSet/>
      <dgm:spPr/>
      <dgm:t>
        <a:bodyPr/>
        <a:lstStyle/>
        <a:p>
          <a:endParaRPr lang="en-US"/>
        </a:p>
      </dgm:t>
    </dgm:pt>
    <dgm:pt modelId="{BB44FC32-B3EF-47F3-A96A-647096DF1684}" type="sibTrans" cxnId="{009DB329-1A3B-4710-A15F-BDC6E7F58520}">
      <dgm:prSet/>
      <dgm:spPr/>
      <dgm:t>
        <a:bodyPr/>
        <a:lstStyle/>
        <a:p>
          <a:endParaRPr lang="en-US"/>
        </a:p>
      </dgm:t>
    </dgm:pt>
    <dgm:pt modelId="{E63CD84B-C225-4F1E-8799-B66F365F7E2C}">
      <dgm:prSet/>
      <dgm:spPr/>
      <dgm:t>
        <a:bodyPr/>
        <a:lstStyle/>
        <a:p>
          <a:r>
            <a:rPr lang="en-US" b="1"/>
            <a:t>Non-Contextual Framework:</a:t>
          </a:r>
          <a:endParaRPr lang="en-US"/>
        </a:p>
      </dgm:t>
    </dgm:pt>
    <dgm:pt modelId="{A2F319DE-9F8C-43B3-904E-C159A1E4E1B4}" type="parTrans" cxnId="{64C17E0B-1798-4C0D-88D3-53F8C1763DEF}">
      <dgm:prSet/>
      <dgm:spPr/>
      <dgm:t>
        <a:bodyPr/>
        <a:lstStyle/>
        <a:p>
          <a:endParaRPr lang="en-US"/>
        </a:p>
      </dgm:t>
    </dgm:pt>
    <dgm:pt modelId="{FBCF04E6-3183-4455-A154-D1DF783C69BD}" type="sibTrans" cxnId="{64C17E0B-1798-4C0D-88D3-53F8C1763DEF}">
      <dgm:prSet/>
      <dgm:spPr/>
      <dgm:t>
        <a:bodyPr/>
        <a:lstStyle/>
        <a:p>
          <a:endParaRPr lang="en-US"/>
        </a:p>
      </dgm:t>
    </dgm:pt>
    <dgm:pt modelId="{3E4D7419-D858-45DA-BB53-47F09F5C18CB}">
      <dgm:prSet/>
      <dgm:spPr/>
      <dgm:t>
        <a:bodyPr/>
        <a:lstStyle/>
        <a:p>
          <a:r>
            <a:rPr lang="en-US"/>
            <a:t>BERT improved by up to +7.42%.</a:t>
          </a:r>
        </a:p>
      </dgm:t>
    </dgm:pt>
    <dgm:pt modelId="{F9BFED57-4608-42C9-954C-6AB0ECF1B36D}" type="parTrans" cxnId="{C63CC68F-C041-430E-BB87-092E4D8C5A89}">
      <dgm:prSet/>
      <dgm:spPr/>
      <dgm:t>
        <a:bodyPr/>
        <a:lstStyle/>
        <a:p>
          <a:endParaRPr lang="en-US"/>
        </a:p>
      </dgm:t>
    </dgm:pt>
    <dgm:pt modelId="{9062209A-250D-488D-A948-7BFAEDF47F63}" type="sibTrans" cxnId="{C63CC68F-C041-430E-BB87-092E4D8C5A89}">
      <dgm:prSet/>
      <dgm:spPr/>
      <dgm:t>
        <a:bodyPr/>
        <a:lstStyle/>
        <a:p>
          <a:endParaRPr lang="en-US"/>
        </a:p>
      </dgm:t>
    </dgm:pt>
    <dgm:pt modelId="{1D2CECE9-BB40-4D9B-9E21-42BA8616277D}">
      <dgm:prSet/>
      <dgm:spPr/>
      <dgm:t>
        <a:bodyPr/>
        <a:lstStyle/>
        <a:p>
          <a:r>
            <a:rPr lang="en-US"/>
            <a:t>Statistically significant except when compared with GloVe embeddings.</a:t>
          </a:r>
        </a:p>
      </dgm:t>
    </dgm:pt>
    <dgm:pt modelId="{386A1911-07F8-4541-AC8A-407111C00981}" type="parTrans" cxnId="{031EB47D-73BA-4EDE-9C20-D9A7A106FD37}">
      <dgm:prSet/>
      <dgm:spPr/>
      <dgm:t>
        <a:bodyPr/>
        <a:lstStyle/>
        <a:p>
          <a:endParaRPr lang="en-US"/>
        </a:p>
      </dgm:t>
    </dgm:pt>
    <dgm:pt modelId="{A92D0B02-3354-4A9F-BF89-04FC9A23A5CD}" type="sibTrans" cxnId="{031EB47D-73BA-4EDE-9C20-D9A7A106FD37}">
      <dgm:prSet/>
      <dgm:spPr/>
      <dgm:t>
        <a:bodyPr/>
        <a:lstStyle/>
        <a:p>
          <a:endParaRPr lang="en-US"/>
        </a:p>
      </dgm:t>
    </dgm:pt>
    <dgm:pt modelId="{3CAD9C3E-7BBA-4188-B941-89BCB2540730}" type="pres">
      <dgm:prSet presAssocID="{47FED138-0674-40CE-A5E4-9185C582B710}" presName="linear" presStyleCnt="0">
        <dgm:presLayoutVars>
          <dgm:dir/>
          <dgm:animLvl val="lvl"/>
          <dgm:resizeHandles val="exact"/>
        </dgm:presLayoutVars>
      </dgm:prSet>
      <dgm:spPr/>
    </dgm:pt>
    <dgm:pt modelId="{DEA575A7-14F9-42CF-A51E-891DB26D1E21}" type="pres">
      <dgm:prSet presAssocID="{2866C505-3C6A-4B08-B4B1-62D7B20E2553}" presName="parentLin" presStyleCnt="0"/>
      <dgm:spPr/>
    </dgm:pt>
    <dgm:pt modelId="{62166D99-9FBD-43DB-A90A-C0635E16D220}" type="pres">
      <dgm:prSet presAssocID="{2866C505-3C6A-4B08-B4B1-62D7B20E2553}" presName="parentLeftMargin" presStyleLbl="node1" presStyleIdx="0" presStyleCnt="2"/>
      <dgm:spPr/>
    </dgm:pt>
    <dgm:pt modelId="{454369B0-2633-4C42-BEBE-F3E822167008}" type="pres">
      <dgm:prSet presAssocID="{2866C505-3C6A-4B08-B4B1-62D7B20E2553}" presName="parentText" presStyleLbl="node1" presStyleIdx="0" presStyleCnt="2">
        <dgm:presLayoutVars>
          <dgm:chMax val="0"/>
          <dgm:bulletEnabled val="1"/>
        </dgm:presLayoutVars>
      </dgm:prSet>
      <dgm:spPr/>
    </dgm:pt>
    <dgm:pt modelId="{083D45F0-1C65-4879-A8F5-6153644852A1}" type="pres">
      <dgm:prSet presAssocID="{2866C505-3C6A-4B08-B4B1-62D7B20E2553}" presName="negativeSpace" presStyleCnt="0"/>
      <dgm:spPr/>
    </dgm:pt>
    <dgm:pt modelId="{DBBF227B-3715-45DE-989B-92BA72610237}" type="pres">
      <dgm:prSet presAssocID="{2866C505-3C6A-4B08-B4B1-62D7B20E2553}" presName="childText" presStyleLbl="conFgAcc1" presStyleIdx="0" presStyleCnt="2">
        <dgm:presLayoutVars>
          <dgm:bulletEnabled val="1"/>
        </dgm:presLayoutVars>
      </dgm:prSet>
      <dgm:spPr/>
    </dgm:pt>
    <dgm:pt modelId="{8CBA3990-9A42-460D-A6A8-FA27F6281E22}" type="pres">
      <dgm:prSet presAssocID="{2CBE0BA0-8DB3-4543-9064-002A72878B10}" presName="spaceBetweenRectangles" presStyleCnt="0"/>
      <dgm:spPr/>
    </dgm:pt>
    <dgm:pt modelId="{9F516C8A-D8C6-4A17-90DA-6C09F991992C}" type="pres">
      <dgm:prSet presAssocID="{FD4FE833-E347-49BF-8FF1-BA88E3BC9C7A}" presName="parentLin" presStyleCnt="0"/>
      <dgm:spPr/>
    </dgm:pt>
    <dgm:pt modelId="{FAC4D3E8-6AD2-45DF-B745-1EDF01E53C48}" type="pres">
      <dgm:prSet presAssocID="{FD4FE833-E347-49BF-8FF1-BA88E3BC9C7A}" presName="parentLeftMargin" presStyleLbl="node1" presStyleIdx="0" presStyleCnt="2"/>
      <dgm:spPr/>
    </dgm:pt>
    <dgm:pt modelId="{E216EED5-90EB-4BB3-9275-66C3E1A302F5}" type="pres">
      <dgm:prSet presAssocID="{FD4FE833-E347-49BF-8FF1-BA88E3BC9C7A}" presName="parentText" presStyleLbl="node1" presStyleIdx="1" presStyleCnt="2">
        <dgm:presLayoutVars>
          <dgm:chMax val="0"/>
          <dgm:bulletEnabled val="1"/>
        </dgm:presLayoutVars>
      </dgm:prSet>
      <dgm:spPr/>
    </dgm:pt>
    <dgm:pt modelId="{75E0DD8E-17D2-47F5-8A2C-AD31AE14DD6C}" type="pres">
      <dgm:prSet presAssocID="{FD4FE833-E347-49BF-8FF1-BA88E3BC9C7A}" presName="negativeSpace" presStyleCnt="0"/>
      <dgm:spPr/>
    </dgm:pt>
    <dgm:pt modelId="{48A4C5BC-F82E-41D4-B279-0DEFEB6D50C6}" type="pres">
      <dgm:prSet presAssocID="{FD4FE833-E347-49BF-8FF1-BA88E3BC9C7A}" presName="childText" presStyleLbl="conFgAcc1" presStyleIdx="1" presStyleCnt="2">
        <dgm:presLayoutVars>
          <dgm:bulletEnabled val="1"/>
        </dgm:presLayoutVars>
      </dgm:prSet>
      <dgm:spPr/>
    </dgm:pt>
  </dgm:ptLst>
  <dgm:cxnLst>
    <dgm:cxn modelId="{64C17E0B-1798-4C0D-88D3-53F8C1763DEF}" srcId="{FD4FE833-E347-49BF-8FF1-BA88E3BC9C7A}" destId="{E63CD84B-C225-4F1E-8799-B66F365F7E2C}" srcOrd="1" destOrd="0" parTransId="{A2F319DE-9F8C-43B3-904E-C159A1E4E1B4}" sibTransId="{FBCF04E6-3183-4455-A154-D1DF783C69BD}"/>
    <dgm:cxn modelId="{CCA62A0C-B8FE-431B-8F45-C90EEE663F4F}" type="presOf" srcId="{1D2CECE9-BB40-4D9B-9E21-42BA8616277D}" destId="{48A4C5BC-F82E-41D4-B279-0DEFEB6D50C6}" srcOrd="0" destOrd="5" presId="urn:microsoft.com/office/officeart/2005/8/layout/list1"/>
    <dgm:cxn modelId="{C668650E-5AEA-46CD-A4ED-FF09BD541753}" srcId="{16E7E59F-A3F6-4507-A1E9-0CED8D9F4CE9}" destId="{C2FB875E-39B8-4135-AE26-5C0CC2A5C376}" srcOrd="0" destOrd="0" parTransId="{6CAB3AC0-E527-486E-A1B2-7F07F4A04034}" sibTransId="{D011AE69-BFBE-4F2C-9E69-552AEB071E08}"/>
    <dgm:cxn modelId="{95D9E214-1117-4FFB-8B14-E5E256433939}" type="presOf" srcId="{3AF7C6BF-285B-4BDC-B96E-9D789F1EA699}" destId="{DBBF227B-3715-45DE-989B-92BA72610237}" srcOrd="0" destOrd="2" presId="urn:microsoft.com/office/officeart/2005/8/layout/list1"/>
    <dgm:cxn modelId="{5E1E301D-A0B0-4053-9713-35AA1C22E394}" type="presOf" srcId="{FD4FE833-E347-49BF-8FF1-BA88E3BC9C7A}" destId="{E216EED5-90EB-4BB3-9275-66C3E1A302F5}" srcOrd="1" destOrd="0" presId="urn:microsoft.com/office/officeart/2005/8/layout/list1"/>
    <dgm:cxn modelId="{902CCE24-E0D2-4593-B546-5CDE97FB88A7}" type="presOf" srcId="{47FED138-0674-40CE-A5E4-9185C582B710}" destId="{3CAD9C3E-7BBA-4188-B941-89BCB2540730}" srcOrd="0" destOrd="0" presId="urn:microsoft.com/office/officeart/2005/8/layout/list1"/>
    <dgm:cxn modelId="{009DB329-1A3B-4710-A15F-BDC6E7F58520}" srcId="{A2D02E25-CD9E-461E-96FA-9599AA69BA10}" destId="{C00F0DFF-2653-40D2-815C-D1005839DF11}" srcOrd="1" destOrd="0" parTransId="{F7A36183-8B2B-45A2-90BA-A443C0E3F8FA}" sibTransId="{BB44FC32-B3EF-47F3-A96A-647096DF1684}"/>
    <dgm:cxn modelId="{8D967C30-498F-4576-8405-884063FB6039}" type="presOf" srcId="{3E4D7419-D858-45DA-BB53-47F09F5C18CB}" destId="{48A4C5BC-F82E-41D4-B279-0DEFEB6D50C6}" srcOrd="0" destOrd="4" presId="urn:microsoft.com/office/officeart/2005/8/layout/list1"/>
    <dgm:cxn modelId="{4C6F555C-C96B-4ADB-85E2-FF0009A3DB70}" srcId="{FD4FE833-E347-49BF-8FF1-BA88E3BC9C7A}" destId="{A2D02E25-CD9E-461E-96FA-9599AA69BA10}" srcOrd="0" destOrd="0" parTransId="{CDE2A0D7-FD22-4A94-9668-134F38EB102A}" sibTransId="{AC0A7283-ECB0-4557-B52B-36E7B4C751E2}"/>
    <dgm:cxn modelId="{727B5141-9E34-4132-B293-B310BA1EB469}" srcId="{A2D02E25-CD9E-461E-96FA-9599AA69BA10}" destId="{031E91F1-948A-45AC-8108-91AC146F6DE3}" srcOrd="0" destOrd="0" parTransId="{C2A97341-AE12-45FC-9172-0798E3A8D3F4}" sibTransId="{87AB85C9-45ED-4658-BF70-AF2FCDC87731}"/>
    <dgm:cxn modelId="{EB206C64-90B3-418A-9F4B-FBA339D025CC}" type="presOf" srcId="{C2FB875E-39B8-4135-AE26-5C0CC2A5C376}" destId="{DBBF227B-3715-45DE-989B-92BA72610237}" srcOrd="0" destOrd="1" presId="urn:microsoft.com/office/officeart/2005/8/layout/list1"/>
    <dgm:cxn modelId="{5A580B51-C8F5-4C72-90C4-D719C2142F09}" type="presOf" srcId="{A2D02E25-CD9E-461E-96FA-9599AA69BA10}" destId="{48A4C5BC-F82E-41D4-B279-0DEFEB6D50C6}" srcOrd="0" destOrd="0" presId="urn:microsoft.com/office/officeart/2005/8/layout/list1"/>
    <dgm:cxn modelId="{64B74C55-B8BE-4675-8495-D460FFF4D25C}" type="presOf" srcId="{2866C505-3C6A-4B08-B4B1-62D7B20E2553}" destId="{454369B0-2633-4C42-BEBE-F3E822167008}" srcOrd="1" destOrd="0" presId="urn:microsoft.com/office/officeart/2005/8/layout/list1"/>
    <dgm:cxn modelId="{031EB47D-73BA-4EDE-9C20-D9A7A106FD37}" srcId="{E63CD84B-C225-4F1E-8799-B66F365F7E2C}" destId="{1D2CECE9-BB40-4D9B-9E21-42BA8616277D}" srcOrd="1" destOrd="0" parTransId="{386A1911-07F8-4541-AC8A-407111C00981}" sibTransId="{A92D0B02-3354-4A9F-BF89-04FC9A23A5CD}"/>
    <dgm:cxn modelId="{C63CC68F-C041-430E-BB87-092E4D8C5A89}" srcId="{E63CD84B-C225-4F1E-8799-B66F365F7E2C}" destId="{3E4D7419-D858-45DA-BB53-47F09F5C18CB}" srcOrd="0" destOrd="0" parTransId="{F9BFED57-4608-42C9-954C-6AB0ECF1B36D}" sibTransId="{9062209A-250D-488D-A948-7BFAEDF47F63}"/>
    <dgm:cxn modelId="{B4E31094-FA21-47FD-9042-92682A6B01A9}" srcId="{2866C505-3C6A-4B08-B4B1-62D7B20E2553}" destId="{16E7E59F-A3F6-4507-A1E9-0CED8D9F4CE9}" srcOrd="0" destOrd="0" parTransId="{B8E52CD3-0444-48A2-BF91-87B829745089}" sibTransId="{73A94B60-C12A-46B3-B60E-727662F47295}"/>
    <dgm:cxn modelId="{ECF5B39E-F591-4E01-B4E4-4ABAE621E726}" srcId="{16E7E59F-A3F6-4507-A1E9-0CED8D9F4CE9}" destId="{3AF7C6BF-285B-4BDC-B96E-9D789F1EA699}" srcOrd="1" destOrd="0" parTransId="{45A52516-6E67-44B0-ADF9-887DAAF76046}" sibTransId="{EDB879E1-F01D-40C6-81BC-D1989B791CAE}"/>
    <dgm:cxn modelId="{768695AA-A0BB-4965-BB57-3629E36BFA91}" type="presOf" srcId="{FD4FE833-E347-49BF-8FF1-BA88E3BC9C7A}" destId="{FAC4D3E8-6AD2-45DF-B745-1EDF01E53C48}" srcOrd="0" destOrd="0" presId="urn:microsoft.com/office/officeart/2005/8/layout/list1"/>
    <dgm:cxn modelId="{52A9F8AA-91D6-42C8-9AA0-D8B2711041F4}" srcId="{47FED138-0674-40CE-A5E4-9185C582B710}" destId="{2866C505-3C6A-4B08-B4B1-62D7B20E2553}" srcOrd="0" destOrd="0" parTransId="{82DF6524-1B25-487B-AD1C-83B9EA687E68}" sibTransId="{2CBE0BA0-8DB3-4543-9064-002A72878B10}"/>
    <dgm:cxn modelId="{476925B2-650E-40B1-A0BC-39B85CB036A9}" type="presOf" srcId="{E63CD84B-C225-4F1E-8799-B66F365F7E2C}" destId="{48A4C5BC-F82E-41D4-B279-0DEFEB6D50C6}" srcOrd="0" destOrd="3" presId="urn:microsoft.com/office/officeart/2005/8/layout/list1"/>
    <dgm:cxn modelId="{75B2FBB7-6EED-408A-9E11-B7318AA2EDD1}" type="presOf" srcId="{C00F0DFF-2653-40D2-815C-D1005839DF11}" destId="{48A4C5BC-F82E-41D4-B279-0DEFEB6D50C6}" srcOrd="0" destOrd="2" presId="urn:microsoft.com/office/officeart/2005/8/layout/list1"/>
    <dgm:cxn modelId="{6C69DEB8-C0EE-4C0A-8C56-201354C03FE0}" type="presOf" srcId="{031E91F1-948A-45AC-8108-91AC146F6DE3}" destId="{48A4C5BC-F82E-41D4-B279-0DEFEB6D50C6}" srcOrd="0" destOrd="1" presId="urn:microsoft.com/office/officeart/2005/8/layout/list1"/>
    <dgm:cxn modelId="{0AE075C4-D4BD-4FBF-A84A-3DF21122FFCC}" srcId="{47FED138-0674-40CE-A5E4-9185C582B710}" destId="{FD4FE833-E347-49BF-8FF1-BA88E3BC9C7A}" srcOrd="1" destOrd="0" parTransId="{CD1ED1F7-9311-4E6A-8968-26185509F13F}" sibTransId="{F309212C-EE0B-47DB-B1AB-24A8E43DFA64}"/>
    <dgm:cxn modelId="{8D784DD9-6AFD-446B-8F6E-9D2B811DCBB7}" type="presOf" srcId="{2866C505-3C6A-4B08-B4B1-62D7B20E2553}" destId="{62166D99-9FBD-43DB-A90A-C0635E16D220}" srcOrd="0" destOrd="0" presId="urn:microsoft.com/office/officeart/2005/8/layout/list1"/>
    <dgm:cxn modelId="{EF5A11FC-619A-4109-AF58-2398F664434D}" type="presOf" srcId="{16E7E59F-A3F6-4507-A1E9-0CED8D9F4CE9}" destId="{DBBF227B-3715-45DE-989B-92BA72610237}" srcOrd="0" destOrd="0" presId="urn:microsoft.com/office/officeart/2005/8/layout/list1"/>
    <dgm:cxn modelId="{5A777008-97FC-4A21-80EA-7D38385731C2}" type="presParOf" srcId="{3CAD9C3E-7BBA-4188-B941-89BCB2540730}" destId="{DEA575A7-14F9-42CF-A51E-891DB26D1E21}" srcOrd="0" destOrd="0" presId="urn:microsoft.com/office/officeart/2005/8/layout/list1"/>
    <dgm:cxn modelId="{FB334EBC-DC08-4B17-B033-CB915ED12555}" type="presParOf" srcId="{DEA575A7-14F9-42CF-A51E-891DB26D1E21}" destId="{62166D99-9FBD-43DB-A90A-C0635E16D220}" srcOrd="0" destOrd="0" presId="urn:microsoft.com/office/officeart/2005/8/layout/list1"/>
    <dgm:cxn modelId="{1EB10F5B-C776-4C99-9F27-DC2EE23559DB}" type="presParOf" srcId="{DEA575A7-14F9-42CF-A51E-891DB26D1E21}" destId="{454369B0-2633-4C42-BEBE-F3E822167008}" srcOrd="1" destOrd="0" presId="urn:microsoft.com/office/officeart/2005/8/layout/list1"/>
    <dgm:cxn modelId="{FCDE6299-7632-4D32-B7D8-F5FCB1AE304D}" type="presParOf" srcId="{3CAD9C3E-7BBA-4188-B941-89BCB2540730}" destId="{083D45F0-1C65-4879-A8F5-6153644852A1}" srcOrd="1" destOrd="0" presId="urn:microsoft.com/office/officeart/2005/8/layout/list1"/>
    <dgm:cxn modelId="{DCA41DDD-0AE0-4167-876C-8EBA811D8760}" type="presParOf" srcId="{3CAD9C3E-7BBA-4188-B941-89BCB2540730}" destId="{DBBF227B-3715-45DE-989B-92BA72610237}" srcOrd="2" destOrd="0" presId="urn:microsoft.com/office/officeart/2005/8/layout/list1"/>
    <dgm:cxn modelId="{E9369715-64BF-4027-93E5-540ED08A37CC}" type="presParOf" srcId="{3CAD9C3E-7BBA-4188-B941-89BCB2540730}" destId="{8CBA3990-9A42-460D-A6A8-FA27F6281E22}" srcOrd="3" destOrd="0" presId="urn:microsoft.com/office/officeart/2005/8/layout/list1"/>
    <dgm:cxn modelId="{FFE1D83A-9854-4FBE-945B-587A6BB0C3DD}" type="presParOf" srcId="{3CAD9C3E-7BBA-4188-B941-89BCB2540730}" destId="{9F516C8A-D8C6-4A17-90DA-6C09F991992C}" srcOrd="4" destOrd="0" presId="urn:microsoft.com/office/officeart/2005/8/layout/list1"/>
    <dgm:cxn modelId="{41B37C51-C6F9-4715-9322-923A4366A57E}" type="presParOf" srcId="{9F516C8A-D8C6-4A17-90DA-6C09F991992C}" destId="{FAC4D3E8-6AD2-45DF-B745-1EDF01E53C48}" srcOrd="0" destOrd="0" presId="urn:microsoft.com/office/officeart/2005/8/layout/list1"/>
    <dgm:cxn modelId="{B4B1FA01-D551-4033-8D43-BD4412AA489E}" type="presParOf" srcId="{9F516C8A-D8C6-4A17-90DA-6C09F991992C}" destId="{E216EED5-90EB-4BB3-9275-66C3E1A302F5}" srcOrd="1" destOrd="0" presId="urn:microsoft.com/office/officeart/2005/8/layout/list1"/>
    <dgm:cxn modelId="{9FDC29B2-444D-48F4-A129-0D5F33D1E8CD}" type="presParOf" srcId="{3CAD9C3E-7BBA-4188-B941-89BCB2540730}" destId="{75E0DD8E-17D2-47F5-8A2C-AD31AE14DD6C}" srcOrd="5" destOrd="0" presId="urn:microsoft.com/office/officeart/2005/8/layout/list1"/>
    <dgm:cxn modelId="{6B445211-6447-43A5-90EE-ED205FCDE114}" type="presParOf" srcId="{3CAD9C3E-7BBA-4188-B941-89BCB2540730}" destId="{48A4C5BC-F82E-41D4-B279-0DEFEB6D50C6}"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5D2D8E-C59D-4A88-B768-1F30D443EFE3}">
      <dsp:nvSpPr>
        <dsp:cNvPr id="0" name=""/>
        <dsp:cNvSpPr/>
      </dsp:nvSpPr>
      <dsp:spPr>
        <a:xfrm>
          <a:off x="0" y="1809"/>
          <a:ext cx="6798539"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A64B98-2DAF-4980-8243-F5FA4BD02FCF}">
      <dsp:nvSpPr>
        <dsp:cNvPr id="0" name=""/>
        <dsp:cNvSpPr/>
      </dsp:nvSpPr>
      <dsp:spPr>
        <a:xfrm>
          <a:off x="0" y="1809"/>
          <a:ext cx="6798539" cy="123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err="1"/>
            <a:t>i</a:t>
          </a:r>
          <a:r>
            <a:rPr lang="en-US" sz="3400" kern="1200" dirty="0"/>
            <a:t>) Detailed preprocessing applied on the root form,</a:t>
          </a:r>
        </a:p>
      </dsp:txBody>
      <dsp:txXfrm>
        <a:off x="0" y="1809"/>
        <a:ext cx="6798539" cy="1233866"/>
      </dsp:txXfrm>
    </dsp:sp>
    <dsp:sp modelId="{C9DD4F24-21F7-4518-8F84-526E0A961EAC}">
      <dsp:nvSpPr>
        <dsp:cNvPr id="0" name=""/>
        <dsp:cNvSpPr/>
      </dsp:nvSpPr>
      <dsp:spPr>
        <a:xfrm>
          <a:off x="0" y="1235675"/>
          <a:ext cx="6798539" cy="0"/>
        </a:xfrm>
        <a:prstGeom prst="line">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966585-CEDD-4D8D-9BEB-72C70F57121D}">
      <dsp:nvSpPr>
        <dsp:cNvPr id="0" name=""/>
        <dsp:cNvSpPr/>
      </dsp:nvSpPr>
      <dsp:spPr>
        <a:xfrm>
          <a:off x="0" y="1235675"/>
          <a:ext cx="6798539" cy="123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ii) Partial preprocessing applied on the root form,</a:t>
          </a:r>
        </a:p>
      </dsp:txBody>
      <dsp:txXfrm>
        <a:off x="0" y="1235675"/>
        <a:ext cx="6798539" cy="1233866"/>
      </dsp:txXfrm>
    </dsp:sp>
    <dsp:sp modelId="{72F5F307-961A-4A3F-A247-0A3B5917B7BE}">
      <dsp:nvSpPr>
        <dsp:cNvPr id="0" name=""/>
        <dsp:cNvSpPr/>
      </dsp:nvSpPr>
      <dsp:spPr>
        <a:xfrm>
          <a:off x="0" y="2469541"/>
          <a:ext cx="6798539" cy="0"/>
        </a:xfrm>
        <a:prstGeom prst="line">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B924C7-B1A1-4D30-9823-2B83093D69F9}">
      <dsp:nvSpPr>
        <dsp:cNvPr id="0" name=""/>
        <dsp:cNvSpPr/>
      </dsp:nvSpPr>
      <dsp:spPr>
        <a:xfrm>
          <a:off x="0" y="2469541"/>
          <a:ext cx="6798539" cy="123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iii) Partial preprocessing applied on the surface form,</a:t>
          </a:r>
        </a:p>
      </dsp:txBody>
      <dsp:txXfrm>
        <a:off x="0" y="2469541"/>
        <a:ext cx="6798539" cy="12338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3077D6-1B74-4FCC-84CD-BD3AA511DE91}">
      <dsp:nvSpPr>
        <dsp:cNvPr id="0" name=""/>
        <dsp:cNvSpPr/>
      </dsp:nvSpPr>
      <dsp:spPr>
        <a:xfrm rot="5400000">
          <a:off x="6589693" y="-2661723"/>
          <a:ext cx="1121829" cy="6729984"/>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b="1" kern="1200"/>
            <a:t>Purpose:</a:t>
          </a:r>
          <a:r>
            <a:rPr lang="en-US" sz="1200" kern="1200"/>
            <a:t> Designed for conversational sentiment analysis in Turkish.</a:t>
          </a:r>
        </a:p>
        <a:p>
          <a:pPr marL="114300" lvl="1" indent="-114300" algn="l" defTabSz="533400">
            <a:lnSpc>
              <a:spcPct val="90000"/>
            </a:lnSpc>
            <a:spcBef>
              <a:spcPct val="0"/>
            </a:spcBef>
            <a:spcAft>
              <a:spcPct val="15000"/>
            </a:spcAft>
            <a:buChar char="•"/>
          </a:pPr>
          <a:r>
            <a:rPr lang="en-US" sz="1200" b="1" kern="1200"/>
            <a:t>Reliability:</a:t>
          </a:r>
          <a:r>
            <a:rPr lang="en-US" sz="1200" kern="1200"/>
            <a:t> Demonstrated through statistical analysis and robust data collection methods.</a:t>
          </a:r>
        </a:p>
      </dsp:txBody>
      <dsp:txXfrm rot="-5400000">
        <a:off x="3785616" y="197117"/>
        <a:ext cx="6675221" cy="1012303"/>
      </dsp:txXfrm>
    </dsp:sp>
    <dsp:sp modelId="{3198DE11-547E-480D-B36F-10DC36E10746}">
      <dsp:nvSpPr>
        <dsp:cNvPr id="0" name=""/>
        <dsp:cNvSpPr/>
      </dsp:nvSpPr>
      <dsp:spPr>
        <a:xfrm>
          <a:off x="0" y="2124"/>
          <a:ext cx="3785616" cy="140228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b="1" kern="1200" dirty="0"/>
            <a:t>1. Creation of the "Couple Dialogue" Dataset</a:t>
          </a:r>
          <a:endParaRPr lang="en-US" sz="2700" kern="1200" dirty="0"/>
        </a:p>
      </dsp:txBody>
      <dsp:txXfrm>
        <a:off x="68454" y="70578"/>
        <a:ext cx="3648708" cy="1265378"/>
      </dsp:txXfrm>
    </dsp:sp>
    <dsp:sp modelId="{87D1CFD9-5F28-409D-8BB3-4302B4FBDF4F}">
      <dsp:nvSpPr>
        <dsp:cNvPr id="0" name=""/>
        <dsp:cNvSpPr/>
      </dsp:nvSpPr>
      <dsp:spPr>
        <a:xfrm rot="5400000">
          <a:off x="6589693" y="-1189323"/>
          <a:ext cx="1121829" cy="6729984"/>
        </a:xfrm>
        <a:prstGeom prst="round2SameRect">
          <a:avLst/>
        </a:prstGeom>
        <a:solidFill>
          <a:schemeClr val="accent2">
            <a:tint val="40000"/>
            <a:alpha val="90000"/>
            <a:hueOff val="-424613"/>
            <a:satOff val="-37673"/>
            <a:lumOff val="-385"/>
            <a:alphaOff val="0"/>
          </a:schemeClr>
        </a:solidFill>
        <a:ln w="12700" cap="flat" cmpd="sng" algn="ctr">
          <a:solidFill>
            <a:schemeClr val="accent2">
              <a:tint val="40000"/>
              <a:alpha val="90000"/>
              <a:hueOff val="-424613"/>
              <a:satOff val="-37673"/>
              <a:lumOff val="-38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b="1" kern="1200"/>
            <a:t>Non-Contextual vs. Contextual:</a:t>
          </a:r>
          <a:endParaRPr lang="en-US" sz="1200" kern="1200"/>
        </a:p>
        <a:p>
          <a:pPr marL="228600" lvl="2" indent="-114300" algn="l" defTabSz="533400">
            <a:lnSpc>
              <a:spcPct val="90000"/>
            </a:lnSpc>
            <a:spcBef>
              <a:spcPct val="0"/>
            </a:spcBef>
            <a:spcAft>
              <a:spcPct val="15000"/>
            </a:spcAft>
            <a:buChar char="•"/>
          </a:pPr>
          <a:r>
            <a:rPr lang="en-US" sz="1200" kern="1200"/>
            <a:t>Contextual models significantly outperform Non-Contextual models.</a:t>
          </a:r>
        </a:p>
        <a:p>
          <a:pPr marL="228600" lvl="2" indent="-114300" algn="l" defTabSz="533400">
            <a:lnSpc>
              <a:spcPct val="90000"/>
            </a:lnSpc>
            <a:spcBef>
              <a:spcPct val="0"/>
            </a:spcBef>
            <a:spcAft>
              <a:spcPct val="15000"/>
            </a:spcAft>
            <a:buChar char="•"/>
          </a:pPr>
          <a:r>
            <a:rPr lang="en-US" sz="1200" b="1" kern="1200"/>
            <a:t>Improvements:</a:t>
          </a:r>
          <a:endParaRPr lang="en-US" sz="1200" kern="1200"/>
        </a:p>
        <a:p>
          <a:pPr marL="342900" lvl="3" indent="-114300" algn="l" defTabSz="533400">
            <a:lnSpc>
              <a:spcPct val="90000"/>
            </a:lnSpc>
            <a:spcBef>
              <a:spcPct val="0"/>
            </a:spcBef>
            <a:spcAft>
              <a:spcPct val="15000"/>
            </a:spcAft>
            <a:buChar char="•"/>
          </a:pPr>
          <a:r>
            <a:rPr lang="en-US" sz="1200" b="1" kern="1200"/>
            <a:t>Weighted F1 Scores:</a:t>
          </a:r>
          <a:r>
            <a:rPr lang="en-US" sz="1200" kern="1200"/>
            <a:t> +9.98% with conventional ML classifiers.</a:t>
          </a:r>
        </a:p>
        <a:p>
          <a:pPr marL="342900" lvl="3" indent="-114300" algn="l" defTabSz="533400">
            <a:lnSpc>
              <a:spcPct val="90000"/>
            </a:lnSpc>
            <a:spcBef>
              <a:spcPct val="0"/>
            </a:spcBef>
            <a:spcAft>
              <a:spcPct val="15000"/>
            </a:spcAft>
            <a:buChar char="•"/>
          </a:pPr>
          <a:r>
            <a:rPr lang="en-US" sz="1200" b="1" kern="1200"/>
            <a:t>Deep Neural Networks:</a:t>
          </a:r>
          <a:r>
            <a:rPr lang="en-US" sz="1200" kern="1200"/>
            <a:t> +6.51%, confirmed by paired t-tests.</a:t>
          </a:r>
        </a:p>
      </dsp:txBody>
      <dsp:txXfrm rot="-5400000">
        <a:off x="3785616" y="1669517"/>
        <a:ext cx="6675221" cy="1012303"/>
      </dsp:txXfrm>
    </dsp:sp>
    <dsp:sp modelId="{DF8297B0-37EE-4225-8EBE-96AF57AAFCA2}">
      <dsp:nvSpPr>
        <dsp:cNvPr id="0" name=""/>
        <dsp:cNvSpPr/>
      </dsp:nvSpPr>
      <dsp:spPr>
        <a:xfrm>
          <a:off x="0" y="1474525"/>
          <a:ext cx="3785616" cy="1402286"/>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b="1" kern="1200" dirty="0"/>
            <a:t>2. Development and Comparison of Frameworks</a:t>
          </a:r>
          <a:endParaRPr lang="en-US" sz="2700" kern="1200" dirty="0"/>
        </a:p>
      </dsp:txBody>
      <dsp:txXfrm>
        <a:off x="68454" y="1542979"/>
        <a:ext cx="3648708" cy="1265378"/>
      </dsp:txXfrm>
    </dsp:sp>
    <dsp:sp modelId="{5C71CE45-0F83-4717-AD63-760251C255A6}">
      <dsp:nvSpPr>
        <dsp:cNvPr id="0" name=""/>
        <dsp:cNvSpPr/>
      </dsp:nvSpPr>
      <dsp:spPr>
        <a:xfrm rot="5400000">
          <a:off x="6589693" y="283077"/>
          <a:ext cx="1121829" cy="6729984"/>
        </a:xfrm>
        <a:prstGeom prst="round2Same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b="1" kern="1200"/>
            <a:t>Fine-Tuned Approach:</a:t>
          </a:r>
          <a:endParaRPr lang="en-US" sz="1200" kern="1200"/>
        </a:p>
        <a:p>
          <a:pPr marL="228600" lvl="2" indent="-114300" algn="l" defTabSz="533400">
            <a:lnSpc>
              <a:spcPct val="90000"/>
            </a:lnSpc>
            <a:spcBef>
              <a:spcPct val="0"/>
            </a:spcBef>
            <a:spcAft>
              <a:spcPct val="15000"/>
            </a:spcAft>
            <a:buChar char="•"/>
          </a:pPr>
          <a:r>
            <a:rPr lang="en-US" sz="1200" kern="1200"/>
            <a:t>Significantly better, achieving up to +31.12% in Weighted F1 score.</a:t>
          </a:r>
        </a:p>
        <a:p>
          <a:pPr marL="228600" lvl="2" indent="-114300" algn="l" defTabSz="533400">
            <a:lnSpc>
              <a:spcPct val="90000"/>
            </a:lnSpc>
            <a:spcBef>
              <a:spcPct val="0"/>
            </a:spcBef>
            <a:spcAft>
              <a:spcPct val="15000"/>
            </a:spcAft>
            <a:buChar char="•"/>
          </a:pPr>
          <a:r>
            <a:rPr lang="en-US" sz="1200" kern="1200"/>
            <a:t>Statistically significant improvement confirmed by paired t-test.</a:t>
          </a:r>
        </a:p>
      </dsp:txBody>
      <dsp:txXfrm rot="-5400000">
        <a:off x="3785616" y="3141918"/>
        <a:ext cx="6675221" cy="1012303"/>
      </dsp:txXfrm>
    </dsp:sp>
    <dsp:sp modelId="{97A5C5BE-0B12-452B-B2B6-DF5321459DAC}">
      <dsp:nvSpPr>
        <dsp:cNvPr id="0" name=""/>
        <dsp:cNvSpPr/>
      </dsp:nvSpPr>
      <dsp:spPr>
        <a:xfrm>
          <a:off x="0" y="2946926"/>
          <a:ext cx="3785616" cy="1402286"/>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b="1" kern="1200" dirty="0"/>
            <a:t>3. Fine-Tuned vs. Prompt-Based Approaches</a:t>
          </a:r>
          <a:endParaRPr lang="en-US" sz="2700" kern="1200" dirty="0"/>
        </a:p>
      </dsp:txBody>
      <dsp:txXfrm>
        <a:off x="68454" y="3015380"/>
        <a:ext cx="3648708" cy="12653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BF227B-3715-45DE-989B-92BA72610237}">
      <dsp:nvSpPr>
        <dsp:cNvPr id="0" name=""/>
        <dsp:cNvSpPr/>
      </dsp:nvSpPr>
      <dsp:spPr>
        <a:xfrm>
          <a:off x="0" y="312668"/>
          <a:ext cx="10515600" cy="13608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16127" tIns="374904" rIns="816127" bIns="128016" numCol="1" spcCol="1270" anchor="t" anchorCtr="0">
          <a:noAutofit/>
        </a:bodyPr>
        <a:lstStyle/>
        <a:p>
          <a:pPr marL="171450" lvl="1" indent="-171450" algn="l" defTabSz="800100">
            <a:lnSpc>
              <a:spcPct val="90000"/>
            </a:lnSpc>
            <a:spcBef>
              <a:spcPct val="0"/>
            </a:spcBef>
            <a:spcAft>
              <a:spcPct val="15000"/>
            </a:spcAft>
            <a:buChar char="•"/>
          </a:pPr>
          <a:r>
            <a:rPr lang="en-US" sz="1800" b="1" kern="1200"/>
            <a:t>Specific Morphemes:</a:t>
          </a:r>
          <a:endParaRPr lang="en-US" sz="1800" kern="1200"/>
        </a:p>
        <a:p>
          <a:pPr marL="342900" lvl="2" indent="-171450" algn="l" defTabSz="800100">
            <a:lnSpc>
              <a:spcPct val="90000"/>
            </a:lnSpc>
            <a:spcBef>
              <a:spcPct val="0"/>
            </a:spcBef>
            <a:spcAft>
              <a:spcPct val="15000"/>
            </a:spcAft>
            <a:buChar char="•"/>
          </a:pPr>
          <a:r>
            <a:rPr lang="en-US" sz="1800" kern="1200"/>
            <a:t>Enhance sentiment classification, improving Weighted F1 scores by up to +9.89%.</a:t>
          </a:r>
        </a:p>
        <a:p>
          <a:pPr marL="342900" lvl="2" indent="-171450" algn="l" defTabSz="800100">
            <a:lnSpc>
              <a:spcPct val="90000"/>
            </a:lnSpc>
            <a:spcBef>
              <a:spcPct val="0"/>
            </a:spcBef>
            <a:spcAft>
              <a:spcPct val="15000"/>
            </a:spcAft>
            <a:buChar char="•"/>
          </a:pPr>
          <a:r>
            <a:rPr lang="en-US" sz="1800" kern="1200"/>
            <a:t>Supported by selective paired t-tests across classifiers and preprocessing settings.</a:t>
          </a:r>
        </a:p>
      </dsp:txBody>
      <dsp:txXfrm>
        <a:off x="0" y="312668"/>
        <a:ext cx="10515600" cy="1360800"/>
      </dsp:txXfrm>
    </dsp:sp>
    <dsp:sp modelId="{454369B0-2633-4C42-BEBE-F3E822167008}">
      <dsp:nvSpPr>
        <dsp:cNvPr id="0" name=""/>
        <dsp:cNvSpPr/>
      </dsp:nvSpPr>
      <dsp:spPr>
        <a:xfrm>
          <a:off x="525780" y="46988"/>
          <a:ext cx="7360920" cy="5313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b="1" kern="1200" dirty="0"/>
            <a:t>4. Impact of Morphological Features</a:t>
          </a:r>
          <a:endParaRPr lang="en-US" sz="1800" kern="1200" dirty="0"/>
        </a:p>
      </dsp:txBody>
      <dsp:txXfrm>
        <a:off x="551719" y="72927"/>
        <a:ext cx="7309042" cy="479482"/>
      </dsp:txXfrm>
    </dsp:sp>
    <dsp:sp modelId="{48A4C5BC-F82E-41D4-B279-0DEFEB6D50C6}">
      <dsp:nvSpPr>
        <dsp:cNvPr id="0" name=""/>
        <dsp:cNvSpPr/>
      </dsp:nvSpPr>
      <dsp:spPr>
        <a:xfrm>
          <a:off x="0" y="2036349"/>
          <a:ext cx="10515600" cy="2268000"/>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16127" tIns="374904" rIns="816127" bIns="128016" numCol="1" spcCol="1270" anchor="t" anchorCtr="0">
          <a:noAutofit/>
        </a:bodyPr>
        <a:lstStyle/>
        <a:p>
          <a:pPr marL="171450" lvl="1" indent="-171450" algn="l" defTabSz="800100">
            <a:lnSpc>
              <a:spcPct val="90000"/>
            </a:lnSpc>
            <a:spcBef>
              <a:spcPct val="0"/>
            </a:spcBef>
            <a:spcAft>
              <a:spcPct val="15000"/>
            </a:spcAft>
            <a:buChar char="•"/>
          </a:pPr>
          <a:r>
            <a:rPr lang="en-US" sz="1800" b="1" kern="1200"/>
            <a:t>Contextual Framework:</a:t>
          </a:r>
          <a:endParaRPr lang="en-US" sz="1800" kern="1200"/>
        </a:p>
        <a:p>
          <a:pPr marL="342900" lvl="2" indent="-171450" algn="l" defTabSz="800100">
            <a:lnSpc>
              <a:spcPct val="90000"/>
            </a:lnSpc>
            <a:spcBef>
              <a:spcPct val="0"/>
            </a:spcBef>
            <a:spcAft>
              <a:spcPct val="15000"/>
            </a:spcAft>
            <a:buChar char="•"/>
          </a:pPr>
          <a:r>
            <a:rPr lang="en-US" sz="1800" kern="1200"/>
            <a:t>BERT outperformed other models with a +14.46% increase in Weighted F1 scores.</a:t>
          </a:r>
        </a:p>
        <a:p>
          <a:pPr marL="342900" lvl="2" indent="-171450" algn="l" defTabSz="800100">
            <a:lnSpc>
              <a:spcPct val="90000"/>
            </a:lnSpc>
            <a:spcBef>
              <a:spcPct val="0"/>
            </a:spcBef>
            <a:spcAft>
              <a:spcPct val="15000"/>
            </a:spcAft>
            <a:buChar char="•"/>
          </a:pPr>
          <a:r>
            <a:rPr lang="en-US" sz="1800" kern="1200"/>
            <a:t>Statistically significant improvement confirmed through testing.</a:t>
          </a:r>
        </a:p>
        <a:p>
          <a:pPr marL="171450" lvl="1" indent="-171450" algn="l" defTabSz="800100">
            <a:lnSpc>
              <a:spcPct val="90000"/>
            </a:lnSpc>
            <a:spcBef>
              <a:spcPct val="0"/>
            </a:spcBef>
            <a:spcAft>
              <a:spcPct val="15000"/>
            </a:spcAft>
            <a:buChar char="•"/>
          </a:pPr>
          <a:r>
            <a:rPr lang="en-US" sz="1800" b="1" kern="1200"/>
            <a:t>Non-Contextual Framework:</a:t>
          </a:r>
          <a:endParaRPr lang="en-US" sz="1800" kern="1200"/>
        </a:p>
        <a:p>
          <a:pPr marL="342900" lvl="2" indent="-171450" algn="l" defTabSz="800100">
            <a:lnSpc>
              <a:spcPct val="90000"/>
            </a:lnSpc>
            <a:spcBef>
              <a:spcPct val="0"/>
            </a:spcBef>
            <a:spcAft>
              <a:spcPct val="15000"/>
            </a:spcAft>
            <a:buChar char="•"/>
          </a:pPr>
          <a:r>
            <a:rPr lang="en-US" sz="1800" kern="1200"/>
            <a:t>BERT improved by up to +7.42%.</a:t>
          </a:r>
        </a:p>
        <a:p>
          <a:pPr marL="342900" lvl="2" indent="-171450" algn="l" defTabSz="800100">
            <a:lnSpc>
              <a:spcPct val="90000"/>
            </a:lnSpc>
            <a:spcBef>
              <a:spcPct val="0"/>
            </a:spcBef>
            <a:spcAft>
              <a:spcPct val="15000"/>
            </a:spcAft>
            <a:buChar char="•"/>
          </a:pPr>
          <a:r>
            <a:rPr lang="en-US" sz="1800" kern="1200"/>
            <a:t>Statistically significant except when compared with GloVe embeddings.</a:t>
          </a:r>
        </a:p>
      </dsp:txBody>
      <dsp:txXfrm>
        <a:off x="0" y="2036349"/>
        <a:ext cx="10515600" cy="2268000"/>
      </dsp:txXfrm>
    </dsp:sp>
    <dsp:sp modelId="{E216EED5-90EB-4BB3-9275-66C3E1A302F5}">
      <dsp:nvSpPr>
        <dsp:cNvPr id="0" name=""/>
        <dsp:cNvSpPr/>
      </dsp:nvSpPr>
      <dsp:spPr>
        <a:xfrm>
          <a:off x="525780" y="1770669"/>
          <a:ext cx="7360920" cy="53136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n-US" sz="1800" b="1" kern="1200"/>
            <a:t>5. Performance of BERT-Based Utterance Features:</a:t>
          </a:r>
          <a:endParaRPr lang="en-US" sz="1800" kern="1200"/>
        </a:p>
      </dsp:txBody>
      <dsp:txXfrm>
        <a:off x="551719" y="1796608"/>
        <a:ext cx="7309042" cy="47948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D8201A-27D8-3750-3625-39EB96235B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Esma Nafiye Polat</a:t>
            </a:r>
          </a:p>
        </p:txBody>
      </p:sp>
      <p:sp>
        <p:nvSpPr>
          <p:cNvPr id="3" name="Date Placeholder 2">
            <a:extLst>
              <a:ext uri="{FF2B5EF4-FFF2-40B4-BE49-F238E27FC236}">
                <a16:creationId xmlns:a16="http://schemas.microsoft.com/office/drawing/2014/main" id="{4AAFD7B2-66A8-22F6-F7C1-3F9660C42F9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9995BD-F997-4E19-85CE-6F17AE516E5D}" type="datetimeFigureOut">
              <a:rPr lang="en-US" smtClean="0"/>
              <a:t>7/25/2025</a:t>
            </a:fld>
            <a:endParaRPr lang="en-US"/>
          </a:p>
        </p:txBody>
      </p:sp>
      <p:sp>
        <p:nvSpPr>
          <p:cNvPr id="4" name="Footer Placeholder 3">
            <a:extLst>
              <a:ext uri="{FF2B5EF4-FFF2-40B4-BE49-F238E27FC236}">
                <a16:creationId xmlns:a16="http://schemas.microsoft.com/office/drawing/2014/main" id="{4AFE0A23-78AB-BEA2-A8D4-3E66FED7A9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Esma Nafiye Polat</a:t>
            </a:r>
          </a:p>
        </p:txBody>
      </p:sp>
      <p:sp>
        <p:nvSpPr>
          <p:cNvPr id="5" name="Slide Number Placeholder 4">
            <a:extLst>
              <a:ext uri="{FF2B5EF4-FFF2-40B4-BE49-F238E27FC236}">
                <a16:creationId xmlns:a16="http://schemas.microsoft.com/office/drawing/2014/main" id="{848CAA24-972F-C69B-733C-40F24CC754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CC3B77-0BA1-44A7-A5BC-C75E7165EC70}" type="slidenum">
              <a:rPr lang="en-US" smtClean="0"/>
              <a:t>‹#›</a:t>
            </a:fld>
            <a:endParaRPr lang="en-US"/>
          </a:p>
        </p:txBody>
      </p:sp>
    </p:spTree>
    <p:extLst>
      <p:ext uri="{BB962C8B-B14F-4D97-AF65-F5344CB8AC3E}">
        <p14:creationId xmlns:p14="http://schemas.microsoft.com/office/powerpoint/2010/main" val="2964482921"/>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Esma Nafiye Polat</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087E4E-672C-40A1-BBE1-045896A6D395}" type="datetimeFigureOut">
              <a:rPr lang="en-US" smtClean="0"/>
              <a:t>7/25/2025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Esma Nafiye Polat</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B49E9D-50CB-4EA2-9973-313B5A9019AB}" type="slidenum">
              <a:rPr lang="en-US" smtClean="0"/>
              <a:t>‹#›</a:t>
            </a:fld>
            <a:endParaRPr lang="en-US"/>
          </a:p>
        </p:txBody>
      </p:sp>
    </p:spTree>
    <p:extLst>
      <p:ext uri="{BB962C8B-B14F-4D97-AF65-F5344CB8AC3E}">
        <p14:creationId xmlns:p14="http://schemas.microsoft.com/office/powerpoint/2010/main" val="1935207308"/>
      </p:ext>
    </p:extLst>
  </p:cSld>
  <p:clrMap bg1="lt1" tx1="dk1" bg2="lt2" tx2="dk2" accent1="accent1" accent2="accent2" accent3="accent3" accent4="accent4" accent5="accent5" accent6="accent6" hlink="hlink" folHlink="folHlink"/>
  <p:hf sldNum="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Header Placeholder 5">
            <a:extLst>
              <a:ext uri="{FF2B5EF4-FFF2-40B4-BE49-F238E27FC236}">
                <a16:creationId xmlns:a16="http://schemas.microsoft.com/office/drawing/2014/main" id="{E1BD701C-A571-51FB-CE71-3CCD8F63B3FF}"/>
              </a:ext>
            </a:extLst>
          </p:cNvPr>
          <p:cNvSpPr>
            <a:spLocks noGrp="1"/>
          </p:cNvSpPr>
          <p:nvPr>
            <p:ph type="hdr" sz="quarter"/>
          </p:nvPr>
        </p:nvSpPr>
        <p:spPr/>
        <p:txBody>
          <a:bodyPr/>
          <a:lstStyle/>
          <a:p>
            <a:r>
              <a:rPr lang="en-US"/>
              <a:t>Esma Nafiye Polat</a:t>
            </a:r>
          </a:p>
        </p:txBody>
      </p:sp>
    </p:spTree>
    <p:extLst>
      <p:ext uri="{BB962C8B-B14F-4D97-AF65-F5344CB8AC3E}">
        <p14:creationId xmlns:p14="http://schemas.microsoft.com/office/powerpoint/2010/main" val="3190702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Header Placeholder 5">
            <a:extLst>
              <a:ext uri="{FF2B5EF4-FFF2-40B4-BE49-F238E27FC236}">
                <a16:creationId xmlns:a16="http://schemas.microsoft.com/office/drawing/2014/main" id="{E3FA3588-19FC-612A-5129-F868480BCFCE}"/>
              </a:ext>
            </a:extLst>
          </p:cNvPr>
          <p:cNvSpPr>
            <a:spLocks noGrp="1"/>
          </p:cNvSpPr>
          <p:nvPr>
            <p:ph type="hdr" sz="quarter"/>
          </p:nvPr>
        </p:nvSpPr>
        <p:spPr/>
        <p:txBody>
          <a:bodyPr/>
          <a:lstStyle/>
          <a:p>
            <a:r>
              <a:rPr lang="en-US"/>
              <a:t>Esma Nafiye Polat</a:t>
            </a:r>
          </a:p>
        </p:txBody>
      </p:sp>
    </p:spTree>
    <p:extLst>
      <p:ext uri="{BB962C8B-B14F-4D97-AF65-F5344CB8AC3E}">
        <p14:creationId xmlns:p14="http://schemas.microsoft.com/office/powerpoint/2010/main" val="1085932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Header Placeholder 5">
            <a:extLst>
              <a:ext uri="{FF2B5EF4-FFF2-40B4-BE49-F238E27FC236}">
                <a16:creationId xmlns:a16="http://schemas.microsoft.com/office/drawing/2014/main" id="{CCACB9E9-3E82-D0AD-3A28-21486C553AD0}"/>
              </a:ext>
            </a:extLst>
          </p:cNvPr>
          <p:cNvSpPr>
            <a:spLocks noGrp="1"/>
          </p:cNvSpPr>
          <p:nvPr>
            <p:ph type="hdr" sz="quarter"/>
          </p:nvPr>
        </p:nvSpPr>
        <p:spPr/>
        <p:txBody>
          <a:bodyPr/>
          <a:lstStyle/>
          <a:p>
            <a:r>
              <a:rPr lang="en-US"/>
              <a:t>Esma Nafiye Polat</a:t>
            </a:r>
          </a:p>
        </p:txBody>
      </p:sp>
    </p:spTree>
    <p:extLst>
      <p:ext uri="{BB962C8B-B14F-4D97-AF65-F5344CB8AC3E}">
        <p14:creationId xmlns:p14="http://schemas.microsoft.com/office/powerpoint/2010/main" val="3474210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Header Placeholder 5">
            <a:extLst>
              <a:ext uri="{FF2B5EF4-FFF2-40B4-BE49-F238E27FC236}">
                <a16:creationId xmlns:a16="http://schemas.microsoft.com/office/drawing/2014/main" id="{D7E86F31-2D7B-CD56-9C56-F3C54D4B9CD3}"/>
              </a:ext>
            </a:extLst>
          </p:cNvPr>
          <p:cNvSpPr>
            <a:spLocks noGrp="1"/>
          </p:cNvSpPr>
          <p:nvPr>
            <p:ph type="hdr" sz="quarter"/>
          </p:nvPr>
        </p:nvSpPr>
        <p:spPr/>
        <p:txBody>
          <a:bodyPr/>
          <a:lstStyle/>
          <a:p>
            <a:r>
              <a:rPr lang="en-US"/>
              <a:t>Esma Nafiye Polat</a:t>
            </a:r>
          </a:p>
        </p:txBody>
      </p:sp>
    </p:spTree>
    <p:extLst>
      <p:ext uri="{BB962C8B-B14F-4D97-AF65-F5344CB8AC3E}">
        <p14:creationId xmlns:p14="http://schemas.microsoft.com/office/powerpoint/2010/main" val="3471025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Esma Nafiye Polat</a:t>
            </a:r>
          </a:p>
        </p:txBody>
      </p:sp>
    </p:spTree>
    <p:extLst>
      <p:ext uri="{BB962C8B-B14F-4D97-AF65-F5344CB8AC3E}">
        <p14:creationId xmlns:p14="http://schemas.microsoft.com/office/powerpoint/2010/main" val="484397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7F1274-89B9-4EF4-A7E1-075B93C0882B}" type="datetime1">
              <a:rPr lang="en-US" smtClean="0"/>
              <a:t>7/25/2025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C9141-23B4-4FD3-80FD-4E1CB454F295}" type="slidenum">
              <a:rPr lang="en-US" smtClean="0"/>
              <a:t>‹#›</a:t>
            </a:fld>
            <a:endParaRPr lang="en-US"/>
          </a:p>
        </p:txBody>
      </p:sp>
    </p:spTree>
    <p:extLst>
      <p:ext uri="{BB962C8B-B14F-4D97-AF65-F5344CB8AC3E}">
        <p14:creationId xmlns:p14="http://schemas.microsoft.com/office/powerpoint/2010/main" val="2415150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41676-1636-4976-AC32-C8C41A521A6D}" type="datetime1">
              <a:rPr lang="en-US" smtClean="0"/>
              <a:t>7/25/2025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C9141-23B4-4FD3-80FD-4E1CB454F295}" type="slidenum">
              <a:rPr lang="en-US" smtClean="0"/>
              <a:t>‹#›</a:t>
            </a:fld>
            <a:endParaRPr lang="en-US"/>
          </a:p>
        </p:txBody>
      </p:sp>
    </p:spTree>
    <p:extLst>
      <p:ext uri="{BB962C8B-B14F-4D97-AF65-F5344CB8AC3E}">
        <p14:creationId xmlns:p14="http://schemas.microsoft.com/office/powerpoint/2010/main" val="4293834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48A075-8618-449D-BBBD-CEFECF553BF6}" type="datetime1">
              <a:rPr lang="en-US" smtClean="0"/>
              <a:t>7/25/2025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C9141-23B4-4FD3-80FD-4E1CB454F295}" type="slidenum">
              <a:rPr lang="en-US" smtClean="0"/>
              <a:t>‹#›</a:t>
            </a:fld>
            <a:endParaRPr lang="en-US"/>
          </a:p>
        </p:txBody>
      </p:sp>
    </p:spTree>
    <p:extLst>
      <p:ext uri="{BB962C8B-B14F-4D97-AF65-F5344CB8AC3E}">
        <p14:creationId xmlns:p14="http://schemas.microsoft.com/office/powerpoint/2010/main" val="1419322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E6EE43-7DB9-470A-AC9F-DED2728EF6A3}" type="datetime1">
              <a:rPr lang="en-US" smtClean="0"/>
              <a:t>7/25/2025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6C9141-23B4-4FD3-80FD-4E1CB454F295}" type="slidenum">
              <a:rPr lang="en-US" smtClean="0"/>
              <a:t>‹#›</a:t>
            </a:fld>
            <a:endParaRPr lang="en-US"/>
          </a:p>
        </p:txBody>
      </p:sp>
    </p:spTree>
    <p:extLst>
      <p:ext uri="{BB962C8B-B14F-4D97-AF65-F5344CB8AC3E}">
        <p14:creationId xmlns:p14="http://schemas.microsoft.com/office/powerpoint/2010/main" val="1252214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734571-66B7-44D9-857E-44B2F2267281}" type="datetime1">
              <a:rPr lang="en-US" smtClean="0"/>
              <a:t>7/25/2025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6C9141-23B4-4FD3-80FD-4E1CB454F295}" type="slidenum">
              <a:rPr lang="en-US" smtClean="0"/>
              <a:t>‹#›</a:t>
            </a:fld>
            <a:endParaRPr lang="en-US"/>
          </a:p>
        </p:txBody>
      </p:sp>
    </p:spTree>
    <p:extLst>
      <p:ext uri="{BB962C8B-B14F-4D97-AF65-F5344CB8AC3E}">
        <p14:creationId xmlns:p14="http://schemas.microsoft.com/office/powerpoint/2010/main" val="1503945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D9BC87-4628-44C9-9EE5-8FCBBB06E398}" type="datetime1">
              <a:rPr lang="en-US" smtClean="0"/>
              <a:t>7/25/2025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6C9141-23B4-4FD3-80FD-4E1CB454F295}" type="slidenum">
              <a:rPr lang="en-US" smtClean="0"/>
              <a:t>‹#›</a:t>
            </a:fld>
            <a:endParaRPr lang="en-US"/>
          </a:p>
        </p:txBody>
      </p:sp>
    </p:spTree>
    <p:extLst>
      <p:ext uri="{BB962C8B-B14F-4D97-AF65-F5344CB8AC3E}">
        <p14:creationId xmlns:p14="http://schemas.microsoft.com/office/powerpoint/2010/main" val="3551473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DC22AE-739D-4DAE-8D3F-3EF2272C3715}" type="datetime1">
              <a:rPr lang="en-US" smtClean="0"/>
              <a:t>7/25/2025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6C9141-23B4-4FD3-80FD-4E1CB454F295}" type="slidenum">
              <a:rPr lang="en-US" smtClean="0"/>
              <a:t>‹#›</a:t>
            </a:fld>
            <a:endParaRPr lang="en-US"/>
          </a:p>
        </p:txBody>
      </p:sp>
    </p:spTree>
    <p:extLst>
      <p:ext uri="{BB962C8B-B14F-4D97-AF65-F5344CB8AC3E}">
        <p14:creationId xmlns:p14="http://schemas.microsoft.com/office/powerpoint/2010/main" val="1051204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B3190B-7BB1-4DF1-B660-C0480D3E2BF4}" type="datetime1">
              <a:rPr lang="en-US" smtClean="0"/>
              <a:t>7/25/2025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6C9141-23B4-4FD3-80FD-4E1CB454F295}" type="slidenum">
              <a:rPr lang="en-US" smtClean="0"/>
              <a:t>‹#›</a:t>
            </a:fld>
            <a:endParaRPr lang="en-US"/>
          </a:p>
        </p:txBody>
      </p:sp>
    </p:spTree>
    <p:extLst>
      <p:ext uri="{BB962C8B-B14F-4D97-AF65-F5344CB8AC3E}">
        <p14:creationId xmlns:p14="http://schemas.microsoft.com/office/powerpoint/2010/main" val="2611297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644B16-4876-42B3-A624-0ADE858E6800}" type="datetime1">
              <a:rPr lang="en-US" smtClean="0"/>
              <a:t>7/25/2025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6C9141-23B4-4FD3-80FD-4E1CB454F295}" type="slidenum">
              <a:rPr lang="en-US" smtClean="0"/>
              <a:t>‹#›</a:t>
            </a:fld>
            <a:endParaRPr lang="en-US"/>
          </a:p>
        </p:txBody>
      </p:sp>
    </p:spTree>
    <p:extLst>
      <p:ext uri="{BB962C8B-B14F-4D97-AF65-F5344CB8AC3E}">
        <p14:creationId xmlns:p14="http://schemas.microsoft.com/office/powerpoint/2010/main" val="1338368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152E65-5348-44D3-A082-9F83979D3B09}" type="datetime1">
              <a:rPr lang="en-US" smtClean="0"/>
              <a:t>7/25/2025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C9141-23B4-4FD3-80FD-4E1CB454F295}" type="slidenum">
              <a:rPr lang="en-US" smtClean="0"/>
              <a:t>‹#›</a:t>
            </a:fld>
            <a:endParaRPr lang="en-US"/>
          </a:p>
        </p:txBody>
      </p:sp>
    </p:spTree>
    <p:extLst>
      <p:ext uri="{BB962C8B-B14F-4D97-AF65-F5344CB8AC3E}">
        <p14:creationId xmlns:p14="http://schemas.microsoft.com/office/powerpoint/2010/main" val="3840913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DFDA90-1AA7-432F-AF6F-22C194A94A99}" type="datetime1">
              <a:rPr lang="en-US" smtClean="0"/>
              <a:t>7/25/2025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C9141-23B4-4FD3-80FD-4E1CB454F295}" type="slidenum">
              <a:rPr lang="en-US" smtClean="0"/>
              <a:t>‹#›</a:t>
            </a:fld>
            <a:endParaRPr lang="en-US"/>
          </a:p>
        </p:txBody>
      </p:sp>
    </p:spTree>
    <p:extLst>
      <p:ext uri="{BB962C8B-B14F-4D97-AF65-F5344CB8AC3E}">
        <p14:creationId xmlns:p14="http://schemas.microsoft.com/office/powerpoint/2010/main" val="2176051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964E61-6DE2-44D2-A085-8064E7A428C5}" type="datetime1">
              <a:rPr lang="en-US" smtClean="0"/>
              <a:t>7/25/2025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6C9141-23B4-4FD3-80FD-4E1CB454F295}" type="slidenum">
              <a:rPr lang="en-US" smtClean="0"/>
              <a:t>‹#›</a:t>
            </a:fld>
            <a:endParaRPr lang="en-US"/>
          </a:p>
        </p:txBody>
      </p:sp>
    </p:spTree>
    <p:extLst>
      <p:ext uri="{BB962C8B-B14F-4D97-AF65-F5344CB8AC3E}">
        <p14:creationId xmlns:p14="http://schemas.microsoft.com/office/powerpoint/2010/main" val="201873768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23_F0CDD6A1.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21_9B874F02.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microsoft.com/office/2018/10/relationships/comments" Target="../comments/modernComment_122_AB87E070.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28_EED48F03.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huggingface.co/Trendyol/Trendyol-LLM-7b-chat-v0.1"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tiff"/><Relationship Id="rId2" Type="http://schemas.openxmlformats.org/officeDocument/2006/relationships/image" Target="../media/image37.tiff"/><Relationship Id="rId1" Type="http://schemas.openxmlformats.org/officeDocument/2006/relationships/slideLayout" Target="../slideLayouts/slideLayout2.xml"/><Relationship Id="rId4" Type="http://schemas.openxmlformats.org/officeDocument/2006/relationships/image" Target="../media/image39.tiff"/></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3.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4.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98905F4-4443-712B-F535-473F902DBC2F}"/>
              </a:ext>
            </a:extLst>
          </p:cNvPr>
          <p:cNvPicPr>
            <a:picLocks noChangeAspect="1"/>
          </p:cNvPicPr>
          <p:nvPr/>
        </p:nvPicPr>
        <p:blipFill>
          <a:blip r:embed="rId2"/>
          <a:srcRect l="5105" r="31695"/>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AC71846-BC08-AC49-BD91-4D31A344D80C}"/>
              </a:ext>
            </a:extLst>
          </p:cNvPr>
          <p:cNvSpPr>
            <a:spLocks noGrp="1"/>
          </p:cNvSpPr>
          <p:nvPr>
            <p:ph type="ctrTitle"/>
          </p:nvPr>
        </p:nvSpPr>
        <p:spPr>
          <a:xfrm>
            <a:off x="477981" y="1122363"/>
            <a:ext cx="4023360" cy="3204134"/>
          </a:xfrm>
        </p:spPr>
        <p:txBody>
          <a:bodyPr anchor="b">
            <a:normAutofit/>
          </a:bodyPr>
          <a:lstStyle/>
          <a:p>
            <a:pPr algn="l"/>
            <a:r>
              <a:rPr lang="en-US" sz="2600" b="1" dirty="0">
                <a:solidFill>
                  <a:schemeClr val="bg1"/>
                </a:solidFill>
                <a:latin typeface="NimbusSanL-Bold"/>
              </a:rPr>
              <a:t>Exploring Emotional Flow in Dyadic Interactions: A Study of Contextual and Non-Contextual Sentiment Models in Turkish Couple Dialogues</a:t>
            </a:r>
            <a:endParaRPr lang="en-US" sz="2600" dirty="0">
              <a:solidFill>
                <a:schemeClr val="bg1"/>
              </a:solidFill>
            </a:endParaRPr>
          </a:p>
        </p:txBody>
      </p:sp>
      <p:sp>
        <p:nvSpPr>
          <p:cNvPr id="3" name="Subtitle 2">
            <a:extLst>
              <a:ext uri="{FF2B5EF4-FFF2-40B4-BE49-F238E27FC236}">
                <a16:creationId xmlns:a16="http://schemas.microsoft.com/office/drawing/2014/main" id="{0C913073-AEC5-E707-02B3-3DC6400201E9}"/>
              </a:ext>
            </a:extLst>
          </p:cNvPr>
          <p:cNvSpPr>
            <a:spLocks noGrp="1"/>
          </p:cNvSpPr>
          <p:nvPr>
            <p:ph type="subTitle" idx="1"/>
          </p:nvPr>
        </p:nvSpPr>
        <p:spPr>
          <a:xfrm>
            <a:off x="477980" y="4872922"/>
            <a:ext cx="4023359" cy="1208141"/>
          </a:xfrm>
        </p:spPr>
        <p:txBody>
          <a:bodyPr>
            <a:normAutofit/>
          </a:bodyPr>
          <a:lstStyle/>
          <a:p>
            <a:pPr algn="l"/>
            <a:r>
              <a:rPr lang="en-US" sz="2000">
                <a:solidFill>
                  <a:schemeClr val="bg1"/>
                </a:solidFill>
              </a:rPr>
              <a:t>Esma Nafiye POLAT</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3F95BA21-066C-2071-B477-CD996909B47E}"/>
              </a:ext>
            </a:extLst>
          </p:cNvPr>
          <p:cNvSpPr>
            <a:spLocks noGrp="1"/>
          </p:cNvSpPr>
          <p:nvPr>
            <p:ph type="dt" sz="half" idx="10"/>
          </p:nvPr>
        </p:nvSpPr>
        <p:spPr/>
        <p:txBody>
          <a:bodyPr/>
          <a:lstStyle/>
          <a:p>
            <a:fld id="{1E32D106-0C26-43CE-B34C-E73B9F080672}" type="datetime1">
              <a:rPr lang="en-US" smtClean="0"/>
              <a:t>7/25/2025</a:t>
            </a:fld>
            <a:endParaRPr lang="en-US"/>
          </a:p>
        </p:txBody>
      </p:sp>
      <p:sp>
        <p:nvSpPr>
          <p:cNvPr id="6" name="Slide Number Placeholder 5">
            <a:extLst>
              <a:ext uri="{FF2B5EF4-FFF2-40B4-BE49-F238E27FC236}">
                <a16:creationId xmlns:a16="http://schemas.microsoft.com/office/drawing/2014/main" id="{658CF7B1-8ACC-E4DC-97E7-CFA76DB7D246}"/>
              </a:ext>
            </a:extLst>
          </p:cNvPr>
          <p:cNvSpPr>
            <a:spLocks noGrp="1"/>
          </p:cNvSpPr>
          <p:nvPr>
            <p:ph type="sldNum" sz="quarter" idx="12"/>
          </p:nvPr>
        </p:nvSpPr>
        <p:spPr/>
        <p:txBody>
          <a:bodyPr/>
          <a:lstStyle/>
          <a:p>
            <a:fld id="{F66C9141-23B4-4FD3-80FD-4E1CB454F295}" type="slidenum">
              <a:rPr lang="en-US" smtClean="0"/>
              <a:t>1</a:t>
            </a:fld>
            <a:endParaRPr lang="en-US"/>
          </a:p>
        </p:txBody>
      </p:sp>
    </p:spTree>
    <p:extLst>
      <p:ext uri="{BB962C8B-B14F-4D97-AF65-F5344CB8AC3E}">
        <p14:creationId xmlns:p14="http://schemas.microsoft.com/office/powerpoint/2010/main" val="370800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A7AD0-6CC2-03B3-B6F9-4DFB78EABA86}"/>
              </a:ext>
            </a:extLst>
          </p:cNvPr>
          <p:cNvSpPr>
            <a:spLocks noGrp="1"/>
          </p:cNvSpPr>
          <p:nvPr>
            <p:ph type="title"/>
          </p:nvPr>
        </p:nvSpPr>
        <p:spPr>
          <a:xfrm>
            <a:off x="477980" y="1828799"/>
            <a:ext cx="5313219" cy="2497697"/>
          </a:xfrm>
        </p:spPr>
        <p:txBody>
          <a:bodyPr vert="horz" lIns="91440" tIns="45720" rIns="91440" bIns="45720" rtlCol="0" anchor="b">
            <a:normAutofit/>
          </a:bodyPr>
          <a:lstStyle/>
          <a:p>
            <a:r>
              <a:rPr lang="en-US" sz="4800" b="1" kern="1200" dirty="0">
                <a:solidFill>
                  <a:schemeClr val="tx1"/>
                </a:solidFill>
                <a:latin typeface="+mj-lt"/>
                <a:ea typeface="+mj-ea"/>
                <a:cs typeface="+mj-cs"/>
              </a:rPr>
              <a:t>ABSTRACT:</a:t>
            </a:r>
            <a:br>
              <a:rPr lang="en-US" sz="4800" b="1" kern="1200" dirty="0">
                <a:solidFill>
                  <a:schemeClr val="tx1"/>
                </a:solidFill>
                <a:latin typeface="+mj-lt"/>
                <a:ea typeface="+mj-ea"/>
                <a:cs typeface="+mj-cs"/>
              </a:rPr>
            </a:br>
            <a:r>
              <a:rPr lang="en-US" sz="4800" b="1" kern="1200" dirty="0">
                <a:solidFill>
                  <a:schemeClr val="tx1"/>
                </a:solidFill>
                <a:latin typeface="+mj-lt"/>
                <a:ea typeface="+mj-ea"/>
                <a:cs typeface="+mj-cs"/>
              </a:rPr>
              <a:t>PhD THESIS</a:t>
            </a:r>
            <a:br>
              <a:rPr lang="en-US" sz="4800" b="1" kern="1200" dirty="0">
                <a:solidFill>
                  <a:schemeClr val="tx1"/>
                </a:solidFill>
                <a:latin typeface="+mj-lt"/>
                <a:ea typeface="+mj-ea"/>
                <a:cs typeface="+mj-cs"/>
              </a:rPr>
            </a:br>
            <a:r>
              <a:rPr lang="en-US" sz="4800" b="1" kern="1200" dirty="0">
                <a:solidFill>
                  <a:schemeClr val="tx1"/>
                </a:solidFill>
                <a:latin typeface="+mj-lt"/>
                <a:ea typeface="+mj-ea"/>
                <a:cs typeface="+mj-cs"/>
              </a:rPr>
              <a:t>SUMMARY</a:t>
            </a:r>
          </a:p>
        </p:txBody>
      </p:sp>
      <p:pic>
        <p:nvPicPr>
          <p:cNvPr id="5" name="Picture 4">
            <a:extLst>
              <a:ext uri="{FF2B5EF4-FFF2-40B4-BE49-F238E27FC236}">
                <a16:creationId xmlns:a16="http://schemas.microsoft.com/office/drawing/2014/main" id="{51EC470A-B9F6-F25C-6AC1-58F754981068}"/>
              </a:ext>
            </a:extLst>
          </p:cNvPr>
          <p:cNvPicPr>
            <a:picLocks noChangeAspect="1"/>
          </p:cNvPicPr>
          <p:nvPr/>
        </p:nvPicPr>
        <p:blipFill>
          <a:blip r:embed="rId4"/>
          <a:srcRect t="12748" r="978" b="3806"/>
          <a:stretch/>
        </p:blipFill>
        <p:spPr>
          <a:xfrm>
            <a:off x="5414356" y="1550878"/>
            <a:ext cx="6408836" cy="3604992"/>
          </a:xfrm>
          <a:prstGeom prst="rect">
            <a:avLst/>
          </a:prstGeom>
        </p:spPr>
      </p:pic>
      <p:sp>
        <p:nvSpPr>
          <p:cNvPr id="3" name="Date Placeholder 2">
            <a:extLst>
              <a:ext uri="{FF2B5EF4-FFF2-40B4-BE49-F238E27FC236}">
                <a16:creationId xmlns:a16="http://schemas.microsoft.com/office/drawing/2014/main" id="{EFFBEACF-B1D3-1CAA-36EC-A6E694A3E740}"/>
              </a:ext>
            </a:extLst>
          </p:cNvPr>
          <p:cNvSpPr>
            <a:spLocks noGrp="1"/>
          </p:cNvSpPr>
          <p:nvPr>
            <p:ph type="dt" sz="half" idx="10"/>
          </p:nvPr>
        </p:nvSpPr>
        <p:spPr/>
        <p:txBody>
          <a:bodyPr/>
          <a:lstStyle/>
          <a:p>
            <a:fld id="{88539CA5-3047-4A1B-8C8A-ADD118EC59BF}" type="datetime1">
              <a:rPr lang="en-US" smtClean="0"/>
              <a:t>7/25/2025</a:t>
            </a:fld>
            <a:endParaRPr lang="en-US"/>
          </a:p>
        </p:txBody>
      </p:sp>
      <p:sp>
        <p:nvSpPr>
          <p:cNvPr id="4" name="Slide Number Placeholder 3">
            <a:extLst>
              <a:ext uri="{FF2B5EF4-FFF2-40B4-BE49-F238E27FC236}">
                <a16:creationId xmlns:a16="http://schemas.microsoft.com/office/drawing/2014/main" id="{2917E22B-2FFC-C084-BF0D-1188AB9DE65D}"/>
              </a:ext>
            </a:extLst>
          </p:cNvPr>
          <p:cNvSpPr>
            <a:spLocks noGrp="1"/>
          </p:cNvSpPr>
          <p:nvPr>
            <p:ph type="sldNum" sz="quarter" idx="12"/>
          </p:nvPr>
        </p:nvSpPr>
        <p:spPr/>
        <p:txBody>
          <a:bodyPr/>
          <a:lstStyle/>
          <a:p>
            <a:fld id="{F66C9141-23B4-4FD3-80FD-4E1CB454F295}" type="slidenum">
              <a:rPr lang="en-US" smtClean="0"/>
              <a:t>2</a:t>
            </a:fld>
            <a:endParaRPr lang="en-US"/>
          </a:p>
        </p:txBody>
      </p:sp>
    </p:spTree>
    <p:extLst>
      <p:ext uri="{BB962C8B-B14F-4D97-AF65-F5344CB8AC3E}">
        <p14:creationId xmlns:p14="http://schemas.microsoft.com/office/powerpoint/2010/main" val="4040021665"/>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583FD2B-7CD3-64B9-6447-703957230103}"/>
              </a:ext>
            </a:extLst>
          </p:cNvPr>
          <p:cNvPicPr>
            <a:picLocks noChangeAspect="1"/>
          </p:cNvPicPr>
          <p:nvPr/>
        </p:nvPicPr>
        <p:blipFill>
          <a:blip r:embed="rId2"/>
          <a:srcRect r="5200"/>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3C33640-EEEE-270F-84B4-32DD1FF54205}"/>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b="1" dirty="0">
                <a:solidFill>
                  <a:schemeClr val="bg1"/>
                </a:solidFill>
              </a:rPr>
              <a:t>INTRODUCTION</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FF88E3E4-16F0-9BBE-771F-F800E9FE4392}"/>
              </a:ext>
            </a:extLst>
          </p:cNvPr>
          <p:cNvSpPr>
            <a:spLocks noGrp="1"/>
          </p:cNvSpPr>
          <p:nvPr>
            <p:ph type="dt" sz="half" idx="10"/>
          </p:nvPr>
        </p:nvSpPr>
        <p:spPr/>
        <p:txBody>
          <a:bodyPr/>
          <a:lstStyle/>
          <a:p>
            <a:fld id="{43CE5322-C833-408B-B396-0CCB6ED1DFE7}" type="datetime1">
              <a:rPr lang="en-US" smtClean="0"/>
              <a:t>7/25/2025</a:t>
            </a:fld>
            <a:endParaRPr lang="en-US"/>
          </a:p>
        </p:txBody>
      </p:sp>
      <p:sp>
        <p:nvSpPr>
          <p:cNvPr id="4" name="Slide Number Placeholder 3">
            <a:extLst>
              <a:ext uri="{FF2B5EF4-FFF2-40B4-BE49-F238E27FC236}">
                <a16:creationId xmlns:a16="http://schemas.microsoft.com/office/drawing/2014/main" id="{747F7702-CF64-AFEB-4EC2-677398B96776}"/>
              </a:ext>
            </a:extLst>
          </p:cNvPr>
          <p:cNvSpPr>
            <a:spLocks noGrp="1"/>
          </p:cNvSpPr>
          <p:nvPr>
            <p:ph type="sldNum" sz="quarter" idx="12"/>
          </p:nvPr>
        </p:nvSpPr>
        <p:spPr/>
        <p:txBody>
          <a:bodyPr/>
          <a:lstStyle/>
          <a:p>
            <a:fld id="{F66C9141-23B4-4FD3-80FD-4E1CB454F295}" type="slidenum">
              <a:rPr lang="en-US" smtClean="0"/>
              <a:t>3</a:t>
            </a:fld>
            <a:endParaRPr lang="en-US"/>
          </a:p>
        </p:txBody>
      </p:sp>
    </p:spTree>
    <p:extLst>
      <p:ext uri="{BB962C8B-B14F-4D97-AF65-F5344CB8AC3E}">
        <p14:creationId xmlns:p14="http://schemas.microsoft.com/office/powerpoint/2010/main" val="321793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C53E1C-34B3-5B62-4EE3-4863DB47D7F8}"/>
              </a:ext>
            </a:extLst>
          </p:cNvPr>
          <p:cNvSpPr>
            <a:spLocks noGrp="1"/>
          </p:cNvSpPr>
          <p:nvPr>
            <p:ph type="title"/>
          </p:nvPr>
        </p:nvSpPr>
        <p:spPr>
          <a:xfrm>
            <a:off x="4553733" y="548464"/>
            <a:ext cx="6798541" cy="1675623"/>
          </a:xfrm>
        </p:spPr>
        <p:txBody>
          <a:bodyPr anchor="b">
            <a:normAutofit/>
          </a:bodyPr>
          <a:lstStyle/>
          <a:p>
            <a:r>
              <a:rPr lang="en-US" sz="3700" b="1" dirty="0"/>
              <a:t>Challenges and Key Focus Areas in Conversational Sentiment Analysis</a:t>
            </a:r>
          </a:p>
        </p:txBody>
      </p:sp>
      <p:pic>
        <p:nvPicPr>
          <p:cNvPr id="14" name="Picture 13" descr="Sticky notes on a wall">
            <a:extLst>
              <a:ext uri="{FF2B5EF4-FFF2-40B4-BE49-F238E27FC236}">
                <a16:creationId xmlns:a16="http://schemas.microsoft.com/office/drawing/2014/main" id="{B531B4DD-3AB2-8FCF-C5C1-5D7CCBD15500}"/>
              </a:ext>
            </a:extLst>
          </p:cNvPr>
          <p:cNvPicPr>
            <a:picLocks noChangeAspect="1"/>
          </p:cNvPicPr>
          <p:nvPr/>
        </p:nvPicPr>
        <p:blipFill>
          <a:blip r:embed="rId4"/>
          <a:srcRect l="29112" r="28207" b="2"/>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D5DA2EDE-2EC8-CC98-1C58-64DA179AF488}"/>
              </a:ext>
            </a:extLst>
          </p:cNvPr>
          <p:cNvSpPr>
            <a:spLocks noGrp="1"/>
          </p:cNvSpPr>
          <p:nvPr>
            <p:ph idx="1"/>
          </p:nvPr>
        </p:nvSpPr>
        <p:spPr>
          <a:xfrm>
            <a:off x="4553734" y="2409830"/>
            <a:ext cx="6798539" cy="3705217"/>
          </a:xfrm>
        </p:spPr>
        <p:txBody>
          <a:bodyPr>
            <a:normAutofit/>
          </a:bodyPr>
          <a:lstStyle/>
          <a:p>
            <a:r>
              <a:rPr lang="en-US" sz="1600" b="1" dirty="0"/>
              <a:t>Key Focus Areas:</a:t>
            </a:r>
          </a:p>
          <a:p>
            <a:pPr lvl="1"/>
            <a:r>
              <a:rPr lang="en-US" sz="1600" b="1" dirty="0"/>
              <a:t>Understanding Context</a:t>
            </a:r>
            <a:endParaRPr lang="en-US" sz="1600" dirty="0"/>
          </a:p>
          <a:p>
            <a:pPr marL="1200150" lvl="2" indent="-285750"/>
            <a:r>
              <a:rPr lang="en-US" sz="1600" dirty="0"/>
              <a:t>Detecting </a:t>
            </a:r>
            <a:r>
              <a:rPr lang="en-US" sz="1600" b="1" dirty="0"/>
              <a:t>sarcasm</a:t>
            </a:r>
            <a:r>
              <a:rPr lang="en-US" sz="1600" dirty="0"/>
              <a:t> &amp; </a:t>
            </a:r>
            <a:r>
              <a:rPr lang="en-US" sz="1600" b="1" dirty="0"/>
              <a:t>irony</a:t>
            </a:r>
            <a:endParaRPr lang="en-US" sz="1600" dirty="0"/>
          </a:p>
          <a:p>
            <a:pPr marL="1200150" lvl="2" indent="-285750"/>
            <a:r>
              <a:rPr lang="en-US" sz="1600" dirty="0"/>
              <a:t>Addressing </a:t>
            </a:r>
            <a:r>
              <a:rPr lang="en-US" sz="1600" b="1" dirty="0"/>
              <a:t>ambiguity</a:t>
            </a:r>
            <a:r>
              <a:rPr lang="en-US" sz="1600" dirty="0"/>
              <a:t> in utterances</a:t>
            </a:r>
          </a:p>
          <a:p>
            <a:r>
              <a:rPr lang="en-US" sz="1600" b="1" dirty="0"/>
              <a:t>Challenges:</a:t>
            </a:r>
          </a:p>
          <a:p>
            <a:pPr lvl="1"/>
            <a:r>
              <a:rPr lang="en-US" sz="1600" b="1" dirty="0"/>
              <a:t>Dynamic Sentiment Shifts</a:t>
            </a:r>
            <a:endParaRPr lang="en-US" sz="1600" dirty="0"/>
          </a:p>
          <a:p>
            <a:pPr marL="1200150" lvl="2" indent="-285750"/>
            <a:r>
              <a:rPr lang="en-US" sz="1600" dirty="0"/>
              <a:t>Tracking sentiment </a:t>
            </a:r>
            <a:r>
              <a:rPr lang="en-US" sz="1600" b="1" dirty="0"/>
              <a:t>evolution</a:t>
            </a:r>
            <a:r>
              <a:rPr lang="en-US" sz="1600" dirty="0"/>
              <a:t> in dialogue</a:t>
            </a:r>
          </a:p>
          <a:p>
            <a:pPr marL="1200150" lvl="2" indent="-285750"/>
            <a:r>
              <a:rPr lang="en-US" sz="1600" dirty="0"/>
              <a:t>Handling </a:t>
            </a:r>
            <a:r>
              <a:rPr lang="en-US" sz="1600" b="1" dirty="0"/>
              <a:t>multi-meaning words</a:t>
            </a:r>
            <a:endParaRPr lang="en-US" sz="1600" dirty="0"/>
          </a:p>
          <a:p>
            <a:r>
              <a:rPr lang="en-US" sz="1600" b="1" dirty="0"/>
              <a:t>Core Requirements:</a:t>
            </a:r>
          </a:p>
          <a:p>
            <a:pPr lvl="1"/>
            <a:r>
              <a:rPr lang="en-US" sz="1600" b="1" dirty="0"/>
              <a:t>Contextual Modeling</a:t>
            </a:r>
            <a:endParaRPr lang="en-US" sz="1600" dirty="0"/>
          </a:p>
          <a:p>
            <a:pPr marL="1200150" lvl="2" indent="-285750"/>
            <a:r>
              <a:rPr lang="en-US" sz="1600" dirty="0"/>
              <a:t>Capture </a:t>
            </a:r>
            <a:r>
              <a:rPr lang="en-US" sz="1600" b="1" dirty="0"/>
              <a:t>flow</a:t>
            </a:r>
            <a:r>
              <a:rPr lang="en-US" sz="1600" dirty="0"/>
              <a:t> &amp; </a:t>
            </a:r>
            <a:r>
              <a:rPr lang="en-US" sz="1600" b="1" dirty="0"/>
              <a:t>interaction</a:t>
            </a:r>
            <a:r>
              <a:rPr lang="en-US" sz="1600" dirty="0"/>
              <a:t> dynamics</a:t>
            </a:r>
          </a:p>
          <a:p>
            <a:pPr marL="1200150" lvl="2" indent="-285750"/>
            <a:r>
              <a:rPr lang="en-US" sz="1600" dirty="0"/>
              <a:t>Identify </a:t>
            </a:r>
            <a:r>
              <a:rPr lang="en-US" sz="1600" b="1" dirty="0"/>
              <a:t>nuances</a:t>
            </a:r>
            <a:r>
              <a:rPr lang="en-US" sz="1600" dirty="0"/>
              <a:t> in sentiment expression</a:t>
            </a:r>
          </a:p>
          <a:p>
            <a:endParaRPr lang="en-US" sz="1600" dirty="0"/>
          </a:p>
        </p:txBody>
      </p:sp>
      <p:sp>
        <p:nvSpPr>
          <p:cNvPr id="4" name="Date Placeholder 3">
            <a:extLst>
              <a:ext uri="{FF2B5EF4-FFF2-40B4-BE49-F238E27FC236}">
                <a16:creationId xmlns:a16="http://schemas.microsoft.com/office/drawing/2014/main" id="{33E1905B-2A21-C5C5-310F-5A7ECF3C6885}"/>
              </a:ext>
            </a:extLst>
          </p:cNvPr>
          <p:cNvSpPr>
            <a:spLocks noGrp="1"/>
          </p:cNvSpPr>
          <p:nvPr>
            <p:ph type="dt" sz="half" idx="10"/>
          </p:nvPr>
        </p:nvSpPr>
        <p:spPr/>
        <p:txBody>
          <a:bodyPr/>
          <a:lstStyle/>
          <a:p>
            <a:fld id="{2F4D8DE0-A31A-4E58-833A-92293559C96F}" type="datetime1">
              <a:rPr lang="en-US" smtClean="0"/>
              <a:t>7/25/2025</a:t>
            </a:fld>
            <a:endParaRPr lang="en-US"/>
          </a:p>
        </p:txBody>
      </p:sp>
      <p:sp>
        <p:nvSpPr>
          <p:cNvPr id="5" name="Slide Number Placeholder 4">
            <a:extLst>
              <a:ext uri="{FF2B5EF4-FFF2-40B4-BE49-F238E27FC236}">
                <a16:creationId xmlns:a16="http://schemas.microsoft.com/office/drawing/2014/main" id="{72D45704-42DC-0803-C3DD-4C8B305CACC8}"/>
              </a:ext>
            </a:extLst>
          </p:cNvPr>
          <p:cNvSpPr>
            <a:spLocks noGrp="1"/>
          </p:cNvSpPr>
          <p:nvPr>
            <p:ph type="sldNum" sz="quarter" idx="12"/>
          </p:nvPr>
        </p:nvSpPr>
        <p:spPr/>
        <p:txBody>
          <a:bodyPr/>
          <a:lstStyle/>
          <a:p>
            <a:fld id="{F66C9141-23B4-4FD3-80FD-4E1CB454F295}" type="slidenum">
              <a:rPr lang="en-US" smtClean="0"/>
              <a:t>4</a:t>
            </a:fld>
            <a:endParaRPr lang="en-US"/>
          </a:p>
        </p:txBody>
      </p:sp>
    </p:spTree>
    <p:extLst>
      <p:ext uri="{BB962C8B-B14F-4D97-AF65-F5344CB8AC3E}">
        <p14:creationId xmlns:p14="http://schemas.microsoft.com/office/powerpoint/2010/main" val="2609336066"/>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D4464D8-FD41-4EA2-9094-791BB1112F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7" name="Picture 36">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38" name="Rectangle 37">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514A1B69-F82D-4322-9669-42AC0CB70B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678" y="0"/>
            <a:ext cx="11145980" cy="6870723"/>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0468883A-0FA0-2F4C-9DC2-7F7DF756ABC8}"/>
              </a:ext>
            </a:extLst>
          </p:cNvPr>
          <p:cNvSpPr>
            <a:spLocks noGrp="1"/>
          </p:cNvSpPr>
          <p:nvPr>
            <p:ph type="title"/>
          </p:nvPr>
        </p:nvSpPr>
        <p:spPr>
          <a:xfrm>
            <a:off x="1191965" y="549266"/>
            <a:ext cx="9792707" cy="918380"/>
          </a:xfrm>
        </p:spPr>
        <p:txBody>
          <a:bodyPr anchor="b">
            <a:normAutofit/>
          </a:bodyPr>
          <a:lstStyle/>
          <a:p>
            <a:pPr algn="ctr"/>
            <a:r>
              <a:rPr lang="en-US" sz="3600" b="1" dirty="0"/>
              <a:t>Modeling Dependencies in Conversations</a:t>
            </a:r>
            <a:endParaRPr lang="en-TR" sz="3600" b="1" dirty="0"/>
          </a:p>
        </p:txBody>
      </p:sp>
      <p:pic>
        <p:nvPicPr>
          <p:cNvPr id="16" name="Picture 15" descr="Timeline&#10;&#10;Description automatically generated">
            <a:extLst>
              <a:ext uri="{FF2B5EF4-FFF2-40B4-BE49-F238E27FC236}">
                <a16:creationId xmlns:a16="http://schemas.microsoft.com/office/drawing/2014/main" id="{B9C5BEEA-171E-DD45-8A89-026F37C423E4}"/>
              </a:ext>
            </a:extLst>
          </p:cNvPr>
          <p:cNvPicPr/>
          <p:nvPr/>
        </p:nvPicPr>
        <p:blipFill rotWithShape="1">
          <a:blip r:embed="rId5">
            <a:extLst>
              <a:ext uri="{28A0092B-C50C-407E-A947-70E740481C1C}">
                <a14:useLocalDpi xmlns:a14="http://schemas.microsoft.com/office/drawing/2010/main" val="0"/>
              </a:ext>
            </a:extLst>
          </a:blip>
          <a:srcRect r="6" b="1623"/>
          <a:stretch/>
        </p:blipFill>
        <p:spPr>
          <a:xfrm>
            <a:off x="4319528" y="2517355"/>
            <a:ext cx="3727387" cy="3613263"/>
          </a:xfrm>
          <a:prstGeom prst="rect">
            <a:avLst/>
          </a:prstGeom>
        </p:spPr>
      </p:pic>
      <p:sp>
        <p:nvSpPr>
          <p:cNvPr id="4" name="TextBox 3">
            <a:extLst>
              <a:ext uri="{FF2B5EF4-FFF2-40B4-BE49-F238E27FC236}">
                <a16:creationId xmlns:a16="http://schemas.microsoft.com/office/drawing/2014/main" id="{2B2E61EA-C5AC-0E5D-A638-70108A04A64D}"/>
              </a:ext>
            </a:extLst>
          </p:cNvPr>
          <p:cNvSpPr txBox="1"/>
          <p:nvPr/>
        </p:nvSpPr>
        <p:spPr>
          <a:xfrm>
            <a:off x="3509038" y="1851298"/>
            <a:ext cx="2248723" cy="280718"/>
          </a:xfrm>
          <a:prstGeom prst="rect">
            <a:avLst/>
          </a:prstGeom>
          <a:noFill/>
        </p:spPr>
        <p:txBody>
          <a:bodyPr wrap="square" rtlCol="0">
            <a:spAutoFit/>
          </a:bodyPr>
          <a:lstStyle/>
          <a:p>
            <a:pPr defTabSz="310896">
              <a:spcAft>
                <a:spcPts val="600"/>
              </a:spcAft>
            </a:pPr>
            <a:r>
              <a:rPr lang="en-US" sz="1224" kern="1200" dirty="0">
                <a:solidFill>
                  <a:schemeClr val="tx1"/>
                </a:solidFill>
                <a:latin typeface="+mn-lt"/>
                <a:ea typeface="+mn-ea"/>
                <a:cs typeface="+mn-cs"/>
              </a:rPr>
              <a:t>Inter-personal dependency</a:t>
            </a:r>
            <a:endParaRPr lang="en-US" sz="1800" dirty="0"/>
          </a:p>
        </p:txBody>
      </p:sp>
      <p:sp>
        <p:nvSpPr>
          <p:cNvPr id="5" name="TextBox 4">
            <a:extLst>
              <a:ext uri="{FF2B5EF4-FFF2-40B4-BE49-F238E27FC236}">
                <a16:creationId xmlns:a16="http://schemas.microsoft.com/office/drawing/2014/main" id="{4F1D9C09-092C-A571-67B5-DDEEAEB77392}"/>
              </a:ext>
            </a:extLst>
          </p:cNvPr>
          <p:cNvSpPr txBox="1"/>
          <p:nvPr/>
        </p:nvSpPr>
        <p:spPr>
          <a:xfrm>
            <a:off x="6922553" y="1832232"/>
            <a:ext cx="2248723" cy="280718"/>
          </a:xfrm>
          <a:prstGeom prst="rect">
            <a:avLst/>
          </a:prstGeom>
          <a:noFill/>
        </p:spPr>
        <p:txBody>
          <a:bodyPr wrap="square" rtlCol="0">
            <a:spAutoFit/>
          </a:bodyPr>
          <a:lstStyle/>
          <a:p>
            <a:pPr defTabSz="310896">
              <a:spcAft>
                <a:spcPts val="600"/>
              </a:spcAft>
            </a:pPr>
            <a:r>
              <a:rPr lang="en-US" sz="1224" kern="1200" dirty="0">
                <a:solidFill>
                  <a:schemeClr val="tx1"/>
                </a:solidFill>
                <a:latin typeface="+mn-lt"/>
                <a:ea typeface="+mn-ea"/>
                <a:cs typeface="+mn-cs"/>
              </a:rPr>
              <a:t>Self-dependency</a:t>
            </a:r>
            <a:endParaRPr lang="en-US" sz="1800" dirty="0"/>
          </a:p>
        </p:txBody>
      </p:sp>
      <p:sp>
        <p:nvSpPr>
          <p:cNvPr id="8" name="TextBox 7">
            <a:extLst>
              <a:ext uri="{FF2B5EF4-FFF2-40B4-BE49-F238E27FC236}">
                <a16:creationId xmlns:a16="http://schemas.microsoft.com/office/drawing/2014/main" id="{FBEE31A6-BBBF-2649-91F6-BFDBE60997D9}"/>
              </a:ext>
            </a:extLst>
          </p:cNvPr>
          <p:cNvSpPr txBox="1"/>
          <p:nvPr/>
        </p:nvSpPr>
        <p:spPr>
          <a:xfrm>
            <a:off x="8696429" y="2517354"/>
            <a:ext cx="1975035" cy="1200329"/>
          </a:xfrm>
          <a:prstGeom prst="rect">
            <a:avLst/>
          </a:prstGeom>
          <a:noFill/>
        </p:spPr>
        <p:txBody>
          <a:bodyPr wrap="square" rtlCol="0">
            <a:spAutoFit/>
          </a:bodyPr>
          <a:lstStyle/>
          <a:p>
            <a:r>
              <a:rPr lang="en-US" dirty="0"/>
              <a:t>Tracks an individual's </a:t>
            </a:r>
            <a:r>
              <a:rPr lang="en-US" b="1" dirty="0"/>
              <a:t>own utterances</a:t>
            </a:r>
            <a:r>
              <a:rPr lang="en-US" dirty="0"/>
              <a:t> and sentiment shifts.</a:t>
            </a:r>
          </a:p>
        </p:txBody>
      </p:sp>
      <p:sp>
        <p:nvSpPr>
          <p:cNvPr id="9" name="TextBox 8">
            <a:extLst>
              <a:ext uri="{FF2B5EF4-FFF2-40B4-BE49-F238E27FC236}">
                <a16:creationId xmlns:a16="http://schemas.microsoft.com/office/drawing/2014/main" id="{1B5F789F-917F-A7F3-8823-E6A747A4BACA}"/>
              </a:ext>
            </a:extLst>
          </p:cNvPr>
          <p:cNvSpPr txBox="1"/>
          <p:nvPr/>
        </p:nvSpPr>
        <p:spPr>
          <a:xfrm>
            <a:off x="2232202" y="2378854"/>
            <a:ext cx="1762569" cy="1477328"/>
          </a:xfrm>
          <a:prstGeom prst="rect">
            <a:avLst/>
          </a:prstGeom>
          <a:noFill/>
        </p:spPr>
        <p:txBody>
          <a:bodyPr wrap="square" rtlCol="0">
            <a:spAutoFit/>
          </a:bodyPr>
          <a:lstStyle/>
          <a:p>
            <a:r>
              <a:rPr lang="en-US" dirty="0"/>
              <a:t>Understands how one participant's sentiments influence others.</a:t>
            </a:r>
          </a:p>
        </p:txBody>
      </p:sp>
      <p:sp>
        <p:nvSpPr>
          <p:cNvPr id="10" name="TextBox 9">
            <a:extLst>
              <a:ext uri="{FF2B5EF4-FFF2-40B4-BE49-F238E27FC236}">
                <a16:creationId xmlns:a16="http://schemas.microsoft.com/office/drawing/2014/main" id="{654D284B-640D-65EA-6372-F8674F9AD490}"/>
              </a:ext>
            </a:extLst>
          </p:cNvPr>
          <p:cNvSpPr txBox="1"/>
          <p:nvPr/>
        </p:nvSpPr>
        <p:spPr>
          <a:xfrm>
            <a:off x="1567762" y="4103020"/>
            <a:ext cx="2751766" cy="1815882"/>
          </a:xfrm>
          <a:prstGeom prst="rect">
            <a:avLst/>
          </a:prstGeom>
          <a:noFill/>
        </p:spPr>
        <p:txBody>
          <a:bodyPr wrap="square" rtlCol="0">
            <a:spAutoFit/>
          </a:bodyPr>
          <a:lstStyle/>
          <a:p>
            <a:r>
              <a:rPr lang="en-US" sz="1400" b="1" dirty="0"/>
              <a:t>Key Modeling Techniques:</a:t>
            </a:r>
          </a:p>
          <a:p>
            <a:pPr lvl="1">
              <a:buFont typeface="Arial" panose="020B0604020202020204" pitchFamily="34" charset="0"/>
              <a:buChar char="•"/>
            </a:pPr>
            <a:r>
              <a:rPr lang="en-US" sz="1400" b="1" dirty="0"/>
              <a:t>LSTMs, </a:t>
            </a:r>
          </a:p>
          <a:p>
            <a:pPr lvl="1">
              <a:buFont typeface="Arial" panose="020B0604020202020204" pitchFamily="34" charset="0"/>
              <a:buChar char="•"/>
            </a:pPr>
            <a:r>
              <a:rPr lang="en-US" sz="1400" b="1" dirty="0"/>
              <a:t>RNNs, </a:t>
            </a:r>
          </a:p>
          <a:p>
            <a:pPr lvl="1">
              <a:buFont typeface="Arial" panose="020B0604020202020204" pitchFamily="34" charset="0"/>
              <a:buChar char="•"/>
            </a:pPr>
            <a:r>
              <a:rPr lang="en-US" sz="1400" b="1" dirty="0"/>
              <a:t>Transformers</a:t>
            </a:r>
          </a:p>
          <a:p>
            <a:pPr lvl="1">
              <a:buFont typeface="Arial" panose="020B0604020202020204" pitchFamily="34" charset="0"/>
              <a:buChar char="•"/>
            </a:pPr>
            <a:r>
              <a:rPr lang="en-US" sz="1400" b="1" dirty="0"/>
              <a:t>Attention Mechanisms</a:t>
            </a:r>
            <a:r>
              <a:rPr lang="en-US" sz="1400" dirty="0"/>
              <a:t> </a:t>
            </a:r>
          </a:p>
          <a:p>
            <a:r>
              <a:rPr lang="en-US" sz="1400" dirty="0"/>
              <a:t>Retain and utilize contextual information to model dependencies.</a:t>
            </a:r>
          </a:p>
        </p:txBody>
      </p:sp>
      <p:sp>
        <p:nvSpPr>
          <p:cNvPr id="3" name="Date Placeholder 2">
            <a:extLst>
              <a:ext uri="{FF2B5EF4-FFF2-40B4-BE49-F238E27FC236}">
                <a16:creationId xmlns:a16="http://schemas.microsoft.com/office/drawing/2014/main" id="{7778114C-E7C0-365F-28BA-E91BA5CD9C54}"/>
              </a:ext>
            </a:extLst>
          </p:cNvPr>
          <p:cNvSpPr>
            <a:spLocks noGrp="1"/>
          </p:cNvSpPr>
          <p:nvPr>
            <p:ph type="dt" sz="half" idx="10"/>
          </p:nvPr>
        </p:nvSpPr>
        <p:spPr/>
        <p:txBody>
          <a:bodyPr/>
          <a:lstStyle/>
          <a:p>
            <a:fld id="{B73BF8B2-B7E8-4DA7-A4AB-7730029E669E}" type="datetime1">
              <a:rPr lang="en-US" smtClean="0"/>
              <a:t>7/25/2025</a:t>
            </a:fld>
            <a:endParaRPr lang="en-US"/>
          </a:p>
        </p:txBody>
      </p:sp>
      <p:sp>
        <p:nvSpPr>
          <p:cNvPr id="6" name="Slide Number Placeholder 5">
            <a:extLst>
              <a:ext uri="{FF2B5EF4-FFF2-40B4-BE49-F238E27FC236}">
                <a16:creationId xmlns:a16="http://schemas.microsoft.com/office/drawing/2014/main" id="{DC0079C0-A138-95FF-1B29-17BDBC9724F4}"/>
              </a:ext>
            </a:extLst>
          </p:cNvPr>
          <p:cNvSpPr>
            <a:spLocks noGrp="1"/>
          </p:cNvSpPr>
          <p:nvPr>
            <p:ph type="sldNum" sz="quarter" idx="12"/>
          </p:nvPr>
        </p:nvSpPr>
        <p:spPr/>
        <p:txBody>
          <a:bodyPr/>
          <a:lstStyle/>
          <a:p>
            <a:fld id="{F66C9141-23B4-4FD3-80FD-4E1CB454F295}" type="slidenum">
              <a:rPr lang="en-US" smtClean="0"/>
              <a:t>5</a:t>
            </a:fld>
            <a:endParaRPr lang="en-US"/>
          </a:p>
        </p:txBody>
      </p:sp>
    </p:spTree>
    <p:extLst>
      <p:ext uri="{BB962C8B-B14F-4D97-AF65-F5344CB8AC3E}">
        <p14:creationId xmlns:p14="http://schemas.microsoft.com/office/powerpoint/2010/main" val="2877808752"/>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0A2A7F-044A-2FF3-41AA-9D0E3202CA41}"/>
              </a:ext>
            </a:extLst>
          </p:cNvPr>
          <p:cNvSpPr>
            <a:spLocks noGrp="1"/>
          </p:cNvSpPr>
          <p:nvPr>
            <p:ph type="title"/>
          </p:nvPr>
        </p:nvSpPr>
        <p:spPr>
          <a:xfrm>
            <a:off x="4553733" y="548464"/>
            <a:ext cx="6798541" cy="1226939"/>
          </a:xfrm>
        </p:spPr>
        <p:txBody>
          <a:bodyPr anchor="b">
            <a:normAutofit fontScale="90000"/>
          </a:bodyPr>
          <a:lstStyle/>
          <a:p>
            <a:br>
              <a:rPr lang="en-US" sz="2800" dirty="0"/>
            </a:br>
            <a:r>
              <a:rPr lang="en-US" sz="3600" b="1" dirty="0"/>
              <a:t>Importance of Conversational Sentiment Analysis</a:t>
            </a:r>
            <a:br>
              <a:rPr lang="en-US" sz="2800" b="1" dirty="0"/>
            </a:br>
            <a:endParaRPr lang="en-US" sz="2800" dirty="0"/>
          </a:p>
        </p:txBody>
      </p:sp>
      <p:pic>
        <p:nvPicPr>
          <p:cNvPr id="5" name="Picture 4">
            <a:extLst>
              <a:ext uri="{FF2B5EF4-FFF2-40B4-BE49-F238E27FC236}">
                <a16:creationId xmlns:a16="http://schemas.microsoft.com/office/drawing/2014/main" id="{4B1E6BBA-0D61-98CF-48FF-2A5DBE6C334F}"/>
              </a:ext>
            </a:extLst>
          </p:cNvPr>
          <p:cNvPicPr>
            <a:picLocks noChangeAspect="1"/>
          </p:cNvPicPr>
          <p:nvPr/>
        </p:nvPicPr>
        <p:blipFill>
          <a:blip r:embed="rId2"/>
          <a:srcRect l="21811" r="43769"/>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889CAFC5-2866-9288-6434-159E0024CA20}"/>
              </a:ext>
            </a:extLst>
          </p:cNvPr>
          <p:cNvSpPr>
            <a:spLocks noGrp="1"/>
          </p:cNvSpPr>
          <p:nvPr>
            <p:ph idx="1"/>
          </p:nvPr>
        </p:nvSpPr>
        <p:spPr>
          <a:xfrm>
            <a:off x="4553734" y="1911928"/>
            <a:ext cx="6798539" cy="4203120"/>
          </a:xfrm>
        </p:spPr>
        <p:txBody>
          <a:bodyPr>
            <a:normAutofit/>
          </a:bodyPr>
          <a:lstStyle/>
          <a:p>
            <a:r>
              <a:rPr lang="en-US" sz="1400" b="1" dirty="0"/>
              <a:t>Key Applications:</a:t>
            </a:r>
          </a:p>
          <a:p>
            <a:pPr lvl="1"/>
            <a:r>
              <a:rPr lang="en-US" sz="1400" dirty="0"/>
              <a:t>Customer Service Analysis</a:t>
            </a:r>
          </a:p>
          <a:p>
            <a:pPr lvl="1"/>
            <a:r>
              <a:rPr lang="en-US" sz="1400" dirty="0"/>
              <a:t>Social Media Monitoring</a:t>
            </a:r>
          </a:p>
          <a:p>
            <a:pPr lvl="1"/>
            <a:r>
              <a:rPr lang="en-US" sz="1400" dirty="0"/>
              <a:t>Market Research</a:t>
            </a:r>
          </a:p>
          <a:p>
            <a:pPr lvl="1"/>
            <a:r>
              <a:rPr lang="en-US" sz="1400" dirty="0"/>
              <a:t>Opinion Mining for Decision-Making</a:t>
            </a:r>
          </a:p>
          <a:p>
            <a:r>
              <a:rPr lang="en-US" sz="1400" b="1" dirty="0"/>
              <a:t>Challenges:</a:t>
            </a:r>
          </a:p>
          <a:p>
            <a:pPr lvl="1"/>
            <a:r>
              <a:rPr lang="en-US" sz="1400" dirty="0"/>
              <a:t>Understanding Emotional Flow</a:t>
            </a:r>
          </a:p>
          <a:p>
            <a:pPr lvl="1"/>
            <a:r>
              <a:rPr lang="en-US" sz="1400" dirty="0"/>
              <a:t>Tracking Contextual Shifts</a:t>
            </a:r>
          </a:p>
          <a:p>
            <a:pPr lvl="1"/>
            <a:r>
              <a:rPr lang="en-US" sz="1400" dirty="0"/>
              <a:t>Modeling Participant Interactions</a:t>
            </a:r>
          </a:p>
          <a:p>
            <a:r>
              <a:rPr lang="en-US" sz="1400" b="1" dirty="0"/>
              <a:t>Research Gap:</a:t>
            </a:r>
          </a:p>
          <a:p>
            <a:pPr lvl="1"/>
            <a:r>
              <a:rPr lang="en-US" sz="1400" b="1" dirty="0"/>
              <a:t>Traditional Approaches:</a:t>
            </a:r>
            <a:r>
              <a:rPr lang="en-US" sz="1400" dirty="0"/>
              <a:t> Focus on Word, Sentence, and Aspect Levels.</a:t>
            </a:r>
          </a:p>
          <a:p>
            <a:pPr lvl="1"/>
            <a:r>
              <a:rPr lang="en-US" sz="1400" b="1" dirty="0"/>
              <a:t>Underdeveloped Area:</a:t>
            </a:r>
            <a:r>
              <a:rPr lang="en-US" sz="1400" dirty="0"/>
              <a:t> Modeling Interaction Dynamics within conversations.</a:t>
            </a:r>
          </a:p>
          <a:p>
            <a:endParaRPr lang="en-US" sz="1400" dirty="0"/>
          </a:p>
        </p:txBody>
      </p:sp>
      <p:sp>
        <p:nvSpPr>
          <p:cNvPr id="4" name="Date Placeholder 3">
            <a:extLst>
              <a:ext uri="{FF2B5EF4-FFF2-40B4-BE49-F238E27FC236}">
                <a16:creationId xmlns:a16="http://schemas.microsoft.com/office/drawing/2014/main" id="{0EE61E5D-FD76-BCD0-68E8-725DFD7FD32E}"/>
              </a:ext>
            </a:extLst>
          </p:cNvPr>
          <p:cNvSpPr>
            <a:spLocks noGrp="1"/>
          </p:cNvSpPr>
          <p:nvPr>
            <p:ph type="dt" sz="half" idx="10"/>
          </p:nvPr>
        </p:nvSpPr>
        <p:spPr/>
        <p:txBody>
          <a:bodyPr/>
          <a:lstStyle/>
          <a:p>
            <a:fld id="{D6EB1695-959B-4861-9B7B-33CD73F197FA}" type="datetime1">
              <a:rPr lang="en-US" smtClean="0"/>
              <a:t>7/25/2025</a:t>
            </a:fld>
            <a:endParaRPr lang="en-US"/>
          </a:p>
        </p:txBody>
      </p:sp>
      <p:sp>
        <p:nvSpPr>
          <p:cNvPr id="6" name="Slide Number Placeholder 5">
            <a:extLst>
              <a:ext uri="{FF2B5EF4-FFF2-40B4-BE49-F238E27FC236}">
                <a16:creationId xmlns:a16="http://schemas.microsoft.com/office/drawing/2014/main" id="{56769EBA-055C-D7A0-B448-39A7B7E12A59}"/>
              </a:ext>
            </a:extLst>
          </p:cNvPr>
          <p:cNvSpPr>
            <a:spLocks noGrp="1"/>
          </p:cNvSpPr>
          <p:nvPr>
            <p:ph type="sldNum" sz="quarter" idx="12"/>
          </p:nvPr>
        </p:nvSpPr>
        <p:spPr/>
        <p:txBody>
          <a:bodyPr/>
          <a:lstStyle/>
          <a:p>
            <a:fld id="{F66C9141-23B4-4FD3-80FD-4E1CB454F295}" type="slidenum">
              <a:rPr lang="en-US" smtClean="0"/>
              <a:t>6</a:t>
            </a:fld>
            <a:endParaRPr lang="en-US"/>
          </a:p>
        </p:txBody>
      </p:sp>
    </p:spTree>
    <p:extLst>
      <p:ext uri="{BB962C8B-B14F-4D97-AF65-F5344CB8AC3E}">
        <p14:creationId xmlns:p14="http://schemas.microsoft.com/office/powerpoint/2010/main" val="2432832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descr="Complex maths formulae on a blackboard">
            <a:extLst>
              <a:ext uri="{FF2B5EF4-FFF2-40B4-BE49-F238E27FC236}">
                <a16:creationId xmlns:a16="http://schemas.microsoft.com/office/drawing/2014/main" id="{AC3429A5-55FD-9A64-8BF7-62C05D9FB30C}"/>
              </a:ext>
            </a:extLst>
          </p:cNvPr>
          <p:cNvPicPr>
            <a:picLocks noChangeAspect="1"/>
          </p:cNvPicPr>
          <p:nvPr/>
        </p:nvPicPr>
        <p:blipFill>
          <a:blip r:embed="rId2"/>
          <a:srcRect t="18097" r="1" b="4627"/>
          <a:stretch/>
        </p:blipFill>
        <p:spPr>
          <a:xfrm>
            <a:off x="-3447" y="-1"/>
            <a:ext cx="12195447" cy="6879745"/>
          </a:xfrm>
          <a:prstGeom prst="rect">
            <a:avLst/>
          </a:prstGeom>
        </p:spPr>
      </p:pic>
      <p:sp>
        <p:nvSpPr>
          <p:cNvPr id="16" name="Rectangle 15">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589414" y="-733991"/>
            <a:ext cx="3020876" cy="12206596"/>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6567EA8-C72D-4B9B-D23F-6B2E9F9C9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46" y="0"/>
            <a:ext cx="2843402"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EFBFA78-9360-1E01-5448-6D5AE0A32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38704" y="21736"/>
            <a:ext cx="3152862" cy="6858008"/>
          </a:xfrm>
          <a:prstGeom prst="rect">
            <a:avLst/>
          </a:prstGeom>
          <a:gradFill flip="none" rotWithShape="1">
            <a:gsLst>
              <a:gs pos="5000">
                <a:schemeClr val="accent5">
                  <a:alpha val="48000"/>
                </a:schemeClr>
              </a:gs>
              <a:gs pos="42000">
                <a:schemeClr val="accent5">
                  <a:alpha val="0"/>
                </a:schemeClr>
              </a:gs>
            </a:gsLst>
            <a:lin ang="1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47" y="5288433"/>
            <a:ext cx="12199706" cy="1591311"/>
          </a:xfrm>
          <a:prstGeom prst="rect">
            <a:avLst/>
          </a:prstGeom>
          <a:gradFill flip="none" rotWithShape="1">
            <a:gsLst>
              <a:gs pos="0">
                <a:schemeClr val="accent2"/>
              </a:gs>
              <a:gs pos="49000">
                <a:schemeClr val="accent2">
                  <a:alpha val="0"/>
                </a:schemeClr>
              </a:gs>
            </a:gsLst>
            <a:lin ang="58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84596" y="2224929"/>
            <a:ext cx="3866773" cy="5442859"/>
          </a:xfrm>
          <a:prstGeom prst="rect">
            <a:avLst/>
          </a:prstGeom>
          <a:gradFill flip="none" rotWithShape="1">
            <a:gsLst>
              <a:gs pos="0">
                <a:schemeClr val="accent5"/>
              </a:gs>
              <a:gs pos="54000">
                <a:schemeClr val="accent5">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D176F5-FE27-D40A-A0E8-F64A5553590F}"/>
              </a:ext>
            </a:extLst>
          </p:cNvPr>
          <p:cNvSpPr>
            <a:spLocks noGrp="1"/>
          </p:cNvSpPr>
          <p:nvPr>
            <p:ph type="title"/>
          </p:nvPr>
        </p:nvSpPr>
        <p:spPr>
          <a:xfrm>
            <a:off x="859028" y="4121944"/>
            <a:ext cx="7927785" cy="1620665"/>
          </a:xfrm>
        </p:spPr>
        <p:txBody>
          <a:bodyPr vert="horz" lIns="91440" tIns="45720" rIns="91440" bIns="45720" rtlCol="0" anchor="b">
            <a:normAutofit/>
          </a:bodyPr>
          <a:lstStyle/>
          <a:p>
            <a:r>
              <a:rPr lang="en-US" sz="6000" b="1" dirty="0">
                <a:solidFill>
                  <a:srgbClr val="FFFFFF"/>
                </a:solidFill>
              </a:rPr>
              <a:t>Corpus Description</a:t>
            </a:r>
          </a:p>
        </p:txBody>
      </p:sp>
      <p:sp>
        <p:nvSpPr>
          <p:cNvPr id="3" name="Date Placeholder 2">
            <a:extLst>
              <a:ext uri="{FF2B5EF4-FFF2-40B4-BE49-F238E27FC236}">
                <a16:creationId xmlns:a16="http://schemas.microsoft.com/office/drawing/2014/main" id="{6FCB8B18-4A9C-D0F5-91B0-BCF0D3A24FAD}"/>
              </a:ext>
            </a:extLst>
          </p:cNvPr>
          <p:cNvSpPr>
            <a:spLocks noGrp="1"/>
          </p:cNvSpPr>
          <p:nvPr>
            <p:ph type="dt" sz="half" idx="10"/>
          </p:nvPr>
        </p:nvSpPr>
        <p:spPr/>
        <p:txBody>
          <a:bodyPr/>
          <a:lstStyle/>
          <a:p>
            <a:fld id="{68CCA450-DDF5-4A6E-8693-3A92A6AEFF7E}" type="datetime1">
              <a:rPr lang="en-US" smtClean="0"/>
              <a:t>7/25/2025</a:t>
            </a:fld>
            <a:endParaRPr lang="en-US"/>
          </a:p>
        </p:txBody>
      </p:sp>
      <p:sp>
        <p:nvSpPr>
          <p:cNvPr id="4" name="Slide Number Placeholder 3">
            <a:extLst>
              <a:ext uri="{FF2B5EF4-FFF2-40B4-BE49-F238E27FC236}">
                <a16:creationId xmlns:a16="http://schemas.microsoft.com/office/drawing/2014/main" id="{8B490788-CA19-1E2D-7B5A-0642A1481926}"/>
              </a:ext>
            </a:extLst>
          </p:cNvPr>
          <p:cNvSpPr>
            <a:spLocks noGrp="1"/>
          </p:cNvSpPr>
          <p:nvPr>
            <p:ph type="sldNum" sz="quarter" idx="12"/>
          </p:nvPr>
        </p:nvSpPr>
        <p:spPr/>
        <p:txBody>
          <a:bodyPr/>
          <a:lstStyle/>
          <a:p>
            <a:fld id="{F66C9141-23B4-4FD3-80FD-4E1CB454F295}" type="slidenum">
              <a:rPr lang="en-US" smtClean="0"/>
              <a:t>7</a:t>
            </a:fld>
            <a:endParaRPr lang="en-US"/>
          </a:p>
        </p:txBody>
      </p:sp>
    </p:spTree>
    <p:extLst>
      <p:ext uri="{BB962C8B-B14F-4D97-AF65-F5344CB8AC3E}">
        <p14:creationId xmlns:p14="http://schemas.microsoft.com/office/powerpoint/2010/main" val="3644595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FA09B6-5AF1-6EFF-5BF5-BB08D4B5A02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Couple Dialogue Dataset Example</a:t>
            </a:r>
          </a:p>
        </p:txBody>
      </p:sp>
      <p:pic>
        <p:nvPicPr>
          <p:cNvPr id="4" name="Content Placeholder 4">
            <a:extLst>
              <a:ext uri="{FF2B5EF4-FFF2-40B4-BE49-F238E27FC236}">
                <a16:creationId xmlns:a16="http://schemas.microsoft.com/office/drawing/2014/main" id="{4A6E805B-B7BD-9908-ACD8-753D36339C44}"/>
              </a:ext>
            </a:extLst>
          </p:cNvPr>
          <p:cNvPicPr>
            <a:picLocks noGrp="1" noChangeAspect="1"/>
          </p:cNvPicPr>
          <p:nvPr>
            <p:ph idx="1"/>
          </p:nvPr>
        </p:nvPicPr>
        <p:blipFill>
          <a:blip r:embed="rId2"/>
          <a:stretch>
            <a:fillRect/>
          </a:stretch>
        </p:blipFill>
        <p:spPr>
          <a:xfrm>
            <a:off x="643467" y="1759470"/>
            <a:ext cx="10905066" cy="4225712"/>
          </a:xfrm>
          <a:prstGeom prst="rect">
            <a:avLst/>
          </a:prstGeom>
        </p:spPr>
      </p:pic>
      <p:sp>
        <p:nvSpPr>
          <p:cNvPr id="3" name="Date Placeholder 2">
            <a:extLst>
              <a:ext uri="{FF2B5EF4-FFF2-40B4-BE49-F238E27FC236}">
                <a16:creationId xmlns:a16="http://schemas.microsoft.com/office/drawing/2014/main" id="{D96A16EE-37D0-D4EF-23E3-27BBA851D20F}"/>
              </a:ext>
            </a:extLst>
          </p:cNvPr>
          <p:cNvSpPr>
            <a:spLocks noGrp="1"/>
          </p:cNvSpPr>
          <p:nvPr>
            <p:ph type="dt" sz="half" idx="10"/>
          </p:nvPr>
        </p:nvSpPr>
        <p:spPr/>
        <p:txBody>
          <a:bodyPr/>
          <a:lstStyle/>
          <a:p>
            <a:fld id="{4F18CD4D-FF12-4C03-A18A-3E818E3EC923}" type="datetime1">
              <a:rPr lang="en-US" smtClean="0"/>
              <a:t>7/25/2025</a:t>
            </a:fld>
            <a:endParaRPr lang="en-US"/>
          </a:p>
        </p:txBody>
      </p:sp>
      <p:sp>
        <p:nvSpPr>
          <p:cNvPr id="5" name="Slide Number Placeholder 4">
            <a:extLst>
              <a:ext uri="{FF2B5EF4-FFF2-40B4-BE49-F238E27FC236}">
                <a16:creationId xmlns:a16="http://schemas.microsoft.com/office/drawing/2014/main" id="{35122AAA-A07C-356E-B1F1-FAD7BA99E378}"/>
              </a:ext>
            </a:extLst>
          </p:cNvPr>
          <p:cNvSpPr>
            <a:spLocks noGrp="1"/>
          </p:cNvSpPr>
          <p:nvPr>
            <p:ph type="sldNum" sz="quarter" idx="12"/>
          </p:nvPr>
        </p:nvSpPr>
        <p:spPr/>
        <p:txBody>
          <a:bodyPr/>
          <a:lstStyle/>
          <a:p>
            <a:fld id="{F66C9141-23B4-4FD3-80FD-4E1CB454F295}" type="slidenum">
              <a:rPr lang="en-US" smtClean="0"/>
              <a:t>8</a:t>
            </a:fld>
            <a:endParaRPr lang="en-US"/>
          </a:p>
        </p:txBody>
      </p:sp>
    </p:spTree>
    <p:extLst>
      <p:ext uri="{BB962C8B-B14F-4D97-AF65-F5344CB8AC3E}">
        <p14:creationId xmlns:p14="http://schemas.microsoft.com/office/powerpoint/2010/main" val="205806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E70EA0-5FCB-6A47-3B7F-0DB0C7104889}"/>
              </a:ext>
            </a:extLst>
          </p:cNvPr>
          <p:cNvSpPr>
            <a:spLocks noGrp="1"/>
          </p:cNvSpPr>
          <p:nvPr>
            <p:ph type="title"/>
          </p:nvPr>
        </p:nvSpPr>
        <p:spPr>
          <a:xfrm>
            <a:off x="836679" y="723898"/>
            <a:ext cx="6002110" cy="1495425"/>
          </a:xfrm>
        </p:spPr>
        <p:txBody>
          <a:bodyPr>
            <a:normAutofit/>
          </a:bodyPr>
          <a:lstStyle/>
          <a:p>
            <a:r>
              <a:rPr lang="en-US" sz="4000" b="1" dirty="0"/>
              <a:t>Participants &amp; Data Collection</a:t>
            </a:r>
          </a:p>
        </p:txBody>
      </p:sp>
      <p:sp>
        <p:nvSpPr>
          <p:cNvPr id="7" name="Rectangle 3">
            <a:extLst>
              <a:ext uri="{FF2B5EF4-FFF2-40B4-BE49-F238E27FC236}">
                <a16:creationId xmlns:a16="http://schemas.microsoft.com/office/drawing/2014/main" id="{B177B56D-4547-123B-EBD0-9EDF8844B047}"/>
              </a:ext>
            </a:extLst>
          </p:cNvPr>
          <p:cNvSpPr>
            <a:spLocks noGrp="1" noChangeArrowheads="1"/>
          </p:cNvSpPr>
          <p:nvPr>
            <p:ph idx="1"/>
          </p:nvPr>
        </p:nvSpPr>
        <p:spPr bwMode="auto">
          <a:xfrm>
            <a:off x="836680" y="2405067"/>
            <a:ext cx="6002110" cy="372903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effectLst/>
                <a:latin typeface="Arial" panose="020B0604020202020204" pitchFamily="34" charset="0"/>
              </a:rPr>
              <a:t>Sample</a:t>
            </a:r>
            <a:r>
              <a:rPr kumimoji="0" lang="en-US" altLang="en-US" sz="1700" b="0" i="0" u="none" strike="noStrike" cap="none" normalizeH="0" baseline="0" dirty="0">
                <a:ln>
                  <a:noFill/>
                </a:ln>
                <a:effectLst/>
                <a:latin typeface="Arial" panose="020B0604020202020204" pitchFamily="34" charset="0"/>
              </a:rPr>
              <a:t>: 103 newly married, childless couples in Turkey.</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effectLst/>
                <a:latin typeface="Arial" panose="020B0604020202020204" pitchFamily="34" charset="0"/>
              </a:rPr>
              <a:t>Demographics</a:t>
            </a:r>
            <a:r>
              <a:rPr kumimoji="0" lang="en-US" altLang="en-US" sz="1700" b="0" i="0" u="none" strike="noStrike" cap="none" normalizeH="0" baseline="0" dirty="0">
                <a:ln>
                  <a:noFill/>
                </a:ln>
                <a:effectLst/>
                <a:latin typeface="Arial" panose="020B0604020202020204" pitchFamily="34" charset="0"/>
              </a:rPr>
              <a:t>:</a:t>
            </a:r>
          </a:p>
          <a:p>
            <a:pPr marL="457200" lvl="1" indent="0" eaLnBrk="0" fontAlgn="base" hangingPunct="0">
              <a:spcBef>
                <a:spcPct val="0"/>
              </a:spcBef>
              <a:spcAft>
                <a:spcPts val="600"/>
              </a:spcAft>
              <a:buFontTx/>
              <a:buChar char="•"/>
            </a:pPr>
            <a:r>
              <a:rPr kumimoji="0" lang="en-US" altLang="en-US" sz="1700" b="0" i="0" u="none" strike="noStrike" cap="none" normalizeH="0" baseline="0" dirty="0">
                <a:ln>
                  <a:noFill/>
                </a:ln>
                <a:effectLst/>
                <a:latin typeface="Arial" panose="020B0604020202020204" pitchFamily="34" charset="0"/>
              </a:rPr>
              <a:t>Marriage duration: 1-15 months (Mean = 6.06, SD = 3.43)</a:t>
            </a:r>
          </a:p>
          <a:p>
            <a:pPr marL="457200" lvl="1" indent="0" eaLnBrk="0" fontAlgn="base" hangingPunct="0">
              <a:spcBef>
                <a:spcPct val="0"/>
              </a:spcBef>
              <a:spcAft>
                <a:spcPts val="600"/>
              </a:spcAft>
              <a:buFontTx/>
              <a:buChar char="•"/>
            </a:pPr>
            <a:r>
              <a:rPr kumimoji="0" lang="en-US" altLang="en-US" sz="1700" b="0" i="0" u="none" strike="noStrike" cap="none" normalizeH="0" baseline="0" dirty="0">
                <a:ln>
                  <a:noFill/>
                </a:ln>
                <a:effectLst/>
                <a:latin typeface="Arial" panose="020B0604020202020204" pitchFamily="34" charset="0"/>
              </a:rPr>
              <a:t>Age: 20-48 years (Mean = 27.83, SD = 3.80)</a:t>
            </a:r>
          </a:p>
          <a:p>
            <a:pPr marL="457200" lvl="1" indent="0" eaLnBrk="0" fontAlgn="base" hangingPunct="0">
              <a:spcBef>
                <a:spcPct val="0"/>
              </a:spcBef>
              <a:spcAft>
                <a:spcPts val="600"/>
              </a:spcAft>
              <a:buFontTx/>
              <a:buChar char="•"/>
            </a:pPr>
            <a:r>
              <a:rPr kumimoji="0" lang="en-US" altLang="en-US" sz="1700" b="0" i="0" u="none" strike="noStrike" cap="none" normalizeH="0" baseline="0" dirty="0">
                <a:ln>
                  <a:noFill/>
                </a:ln>
                <a:effectLst/>
                <a:latin typeface="Arial" panose="020B0604020202020204" pitchFamily="34" charset="0"/>
              </a:rPr>
              <a:t>Education: 8-26 years (Mean = 16.36 years)</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effectLst/>
                <a:latin typeface="Arial" panose="020B0604020202020204" pitchFamily="34" charset="0"/>
              </a:rPr>
              <a:t>Recruitment</a:t>
            </a:r>
            <a:r>
              <a:rPr kumimoji="0" lang="en-US" altLang="en-US" sz="1700" b="0" i="0" u="none" strike="noStrike" cap="none" normalizeH="0" baseline="0" dirty="0">
                <a:ln>
                  <a:noFill/>
                </a:ln>
                <a:effectLst/>
                <a:latin typeface="Arial" panose="020B0604020202020204" pitchFamily="34" charset="0"/>
              </a:rPr>
              <a:t>: Flyers, social media, and email groups.</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dirty="0">
                <a:ln>
                  <a:noFill/>
                </a:ln>
                <a:effectLst/>
                <a:latin typeface="Arial" panose="020B0604020202020204" pitchFamily="34" charset="0"/>
              </a:rPr>
              <a:t>Procedure</a:t>
            </a:r>
            <a:r>
              <a:rPr kumimoji="0" lang="en-US" altLang="en-US" sz="1700" b="0" i="0" u="none" strike="noStrike" cap="none" normalizeH="0" baseline="0" dirty="0">
                <a:ln>
                  <a:noFill/>
                </a:ln>
                <a:effectLst/>
                <a:latin typeface="Arial" panose="020B0604020202020204" pitchFamily="34" charset="0"/>
              </a:rPr>
              <a:t>:</a:t>
            </a:r>
          </a:p>
          <a:p>
            <a:pPr marL="457200" lvl="1" indent="0" eaLnBrk="0" fontAlgn="base" hangingPunct="0">
              <a:spcBef>
                <a:spcPct val="0"/>
              </a:spcBef>
              <a:spcAft>
                <a:spcPts val="600"/>
              </a:spcAft>
              <a:buFontTx/>
              <a:buChar char="•"/>
            </a:pPr>
            <a:r>
              <a:rPr kumimoji="0" lang="en-US" altLang="en-US" sz="1700" b="1" i="0" u="none" strike="noStrike" cap="none" normalizeH="0" baseline="0" dirty="0">
                <a:ln>
                  <a:noFill/>
                </a:ln>
                <a:effectLst/>
                <a:latin typeface="Arial" panose="020B0604020202020204" pitchFamily="34" charset="0"/>
              </a:rPr>
              <a:t>Audio-Visual Data</a:t>
            </a:r>
            <a:r>
              <a:rPr kumimoji="0" lang="en-US" altLang="en-US" sz="1700" b="0" i="0" u="none" strike="noStrike" cap="none" normalizeH="0" baseline="0" dirty="0">
                <a:ln>
                  <a:noFill/>
                </a:ln>
                <a:effectLst/>
                <a:latin typeface="Arial" panose="020B0604020202020204" pitchFamily="34" charset="0"/>
              </a:rPr>
              <a:t>: Collected at </a:t>
            </a:r>
            <a:r>
              <a:rPr kumimoji="0" lang="en-US" altLang="en-US" sz="1700" b="0" i="0" u="none" strike="noStrike" cap="none" normalizeH="0" baseline="0" dirty="0" err="1">
                <a:ln>
                  <a:noFill/>
                </a:ln>
                <a:effectLst/>
                <a:latin typeface="Arial" panose="020B0604020202020204" pitchFamily="34" charset="0"/>
              </a:rPr>
              <a:t>Özyegin</a:t>
            </a:r>
            <a:r>
              <a:rPr kumimoji="0" lang="en-US" altLang="en-US" sz="1700" b="0" i="0" u="none" strike="noStrike" cap="none" normalizeH="0" baseline="0" dirty="0">
                <a:ln>
                  <a:noFill/>
                </a:ln>
                <a:effectLst/>
                <a:latin typeface="Arial" panose="020B0604020202020204" pitchFamily="34" charset="0"/>
              </a:rPr>
              <a:t> University using CIRS.</a:t>
            </a:r>
          </a:p>
          <a:p>
            <a:pPr marL="457200" lvl="1" indent="0" eaLnBrk="0" fontAlgn="base" hangingPunct="0">
              <a:spcBef>
                <a:spcPct val="0"/>
              </a:spcBef>
              <a:spcAft>
                <a:spcPts val="600"/>
              </a:spcAft>
              <a:buFontTx/>
              <a:buChar char="•"/>
            </a:pPr>
            <a:r>
              <a:rPr kumimoji="0" lang="en-US" altLang="en-US" sz="1700" b="1" i="0" u="none" strike="noStrike" cap="none" normalizeH="0" baseline="0" dirty="0">
                <a:ln>
                  <a:noFill/>
                </a:ln>
                <a:effectLst/>
                <a:latin typeface="Arial" panose="020B0604020202020204" pitchFamily="34" charset="0"/>
              </a:rPr>
              <a:t>Discussion Topics</a:t>
            </a:r>
            <a:r>
              <a:rPr kumimoji="0" lang="en-US" altLang="en-US" sz="1700" b="0" i="0" u="none" strike="noStrike" cap="none" normalizeH="0" baseline="0" dirty="0">
                <a:ln>
                  <a:noFill/>
                </a:ln>
                <a:effectLst/>
                <a:latin typeface="Arial" panose="020B0604020202020204" pitchFamily="34" charset="0"/>
              </a:rPr>
              <a:t>: Couples discussed significant relationship issues in two 10-minute sessions.</a:t>
            </a:r>
          </a:p>
          <a:p>
            <a:pPr marL="0" marR="0" lvl="0" indent="0" defTabSz="914400" rtl="0" eaLnBrk="0" fontAlgn="base" latinLnBrk="0" hangingPunct="0">
              <a:spcBef>
                <a:spcPct val="0"/>
              </a:spcBef>
              <a:spcAft>
                <a:spcPts val="600"/>
              </a:spcAft>
              <a:buClrTx/>
              <a:buSzTx/>
              <a:buFontTx/>
              <a:buNone/>
              <a:tabLst/>
            </a:pPr>
            <a:endParaRPr kumimoji="0" lang="en-US" altLang="en-US" sz="1700" b="0" i="0" u="none" strike="noStrike" cap="none" normalizeH="0" baseline="0" dirty="0">
              <a:ln>
                <a:noFill/>
              </a:ln>
              <a:effectLst/>
              <a:latin typeface="Arial" panose="020B0604020202020204" pitchFamily="34" charset="0"/>
            </a:endParaRPr>
          </a:p>
        </p:txBody>
      </p:sp>
      <p:pic>
        <p:nvPicPr>
          <p:cNvPr id="6" name="Picture 5" descr="Old computer monitors">
            <a:extLst>
              <a:ext uri="{FF2B5EF4-FFF2-40B4-BE49-F238E27FC236}">
                <a16:creationId xmlns:a16="http://schemas.microsoft.com/office/drawing/2014/main" id="{9B502C50-1FA1-83D4-37C8-0A3437A8D1CE}"/>
              </a:ext>
            </a:extLst>
          </p:cNvPr>
          <p:cNvPicPr>
            <a:picLocks noChangeAspect="1"/>
          </p:cNvPicPr>
          <p:nvPr/>
        </p:nvPicPr>
        <p:blipFill>
          <a:blip r:embed="rId4"/>
          <a:srcRect l="22752" r="29200" b="-1"/>
          <a:stretch/>
        </p:blipFill>
        <p:spPr>
          <a:xfrm>
            <a:off x="7199440" y="10"/>
            <a:ext cx="4992560" cy="6857990"/>
          </a:xfrm>
          <a:prstGeom prst="rect">
            <a:avLst/>
          </a:prstGeom>
          <a:effectLst/>
        </p:spPr>
      </p:pic>
      <p:sp>
        <p:nvSpPr>
          <p:cNvPr id="3" name="Date Placeholder 2">
            <a:extLst>
              <a:ext uri="{FF2B5EF4-FFF2-40B4-BE49-F238E27FC236}">
                <a16:creationId xmlns:a16="http://schemas.microsoft.com/office/drawing/2014/main" id="{7BDA46A4-B988-C865-A0B6-7EF93A8316A2}"/>
              </a:ext>
            </a:extLst>
          </p:cNvPr>
          <p:cNvSpPr>
            <a:spLocks noGrp="1"/>
          </p:cNvSpPr>
          <p:nvPr>
            <p:ph type="dt" sz="half" idx="10"/>
          </p:nvPr>
        </p:nvSpPr>
        <p:spPr/>
        <p:txBody>
          <a:bodyPr/>
          <a:lstStyle/>
          <a:p>
            <a:fld id="{63EB97E3-C9E1-4474-B9AF-FBE19F615AE6}" type="datetime1">
              <a:rPr lang="en-US" smtClean="0"/>
              <a:t>7/25/2025</a:t>
            </a:fld>
            <a:endParaRPr lang="en-US"/>
          </a:p>
        </p:txBody>
      </p:sp>
      <p:sp>
        <p:nvSpPr>
          <p:cNvPr id="4" name="Slide Number Placeholder 3">
            <a:extLst>
              <a:ext uri="{FF2B5EF4-FFF2-40B4-BE49-F238E27FC236}">
                <a16:creationId xmlns:a16="http://schemas.microsoft.com/office/drawing/2014/main" id="{F1556A73-5401-B641-13D3-A8AAEA87D0D7}"/>
              </a:ext>
            </a:extLst>
          </p:cNvPr>
          <p:cNvSpPr>
            <a:spLocks noGrp="1"/>
          </p:cNvSpPr>
          <p:nvPr>
            <p:ph type="sldNum" sz="quarter" idx="12"/>
          </p:nvPr>
        </p:nvSpPr>
        <p:spPr/>
        <p:txBody>
          <a:bodyPr/>
          <a:lstStyle/>
          <a:p>
            <a:fld id="{F66C9141-23B4-4FD3-80FD-4E1CB454F295}" type="slidenum">
              <a:rPr lang="en-US" smtClean="0"/>
              <a:t>9</a:t>
            </a:fld>
            <a:endParaRPr lang="en-US"/>
          </a:p>
        </p:txBody>
      </p:sp>
    </p:spTree>
    <p:extLst>
      <p:ext uri="{BB962C8B-B14F-4D97-AF65-F5344CB8AC3E}">
        <p14:creationId xmlns:p14="http://schemas.microsoft.com/office/powerpoint/2010/main" val="4006907651"/>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55EB05-E313-C4B1-6E6D-5A6329C47B9E}"/>
              </a:ext>
            </a:extLst>
          </p:cNvPr>
          <p:cNvSpPr>
            <a:spLocks noGrp="1"/>
          </p:cNvSpPr>
          <p:nvPr>
            <p:ph type="title"/>
          </p:nvPr>
        </p:nvSpPr>
        <p:spPr>
          <a:xfrm>
            <a:off x="572493" y="238539"/>
            <a:ext cx="11018520" cy="1434415"/>
          </a:xfrm>
        </p:spPr>
        <p:txBody>
          <a:bodyPr anchor="b">
            <a:normAutofit/>
          </a:bodyPr>
          <a:lstStyle/>
          <a:p>
            <a:r>
              <a:rPr lang="en-US" sz="5000" b="1" dirty="0"/>
              <a:t>Couple Dialogue Dataset &amp; Preprocessing</a:t>
            </a:r>
          </a:p>
        </p:txBody>
      </p:sp>
      <p:sp>
        <p:nvSpPr>
          <p:cNvPr id="30"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1189959E-4060-CC39-8880-FCF1A17349AD}"/>
              </a:ext>
            </a:extLst>
          </p:cNvPr>
          <p:cNvSpPr>
            <a:spLocks noGrp="1" noChangeArrowheads="1"/>
          </p:cNvSpPr>
          <p:nvPr>
            <p:ph idx="1"/>
          </p:nvPr>
        </p:nvSpPr>
        <p:spPr bwMode="auto">
          <a:xfrm>
            <a:off x="572493" y="2071316"/>
            <a:ext cx="6713552" cy="41191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Dataset Overview</a:t>
            </a:r>
            <a:r>
              <a:rPr kumimoji="0" lang="en-US" altLang="en-US" sz="1400" b="0" i="0" u="none" strike="noStrike" cap="none" normalizeH="0" baseline="0" dirty="0">
                <a:ln>
                  <a:noFill/>
                </a:ln>
                <a:effectLst/>
                <a:latin typeface="Arial" panose="020B0604020202020204" pitchFamily="34" charset="0"/>
              </a:rPr>
              <a:t>:</a:t>
            </a:r>
          </a:p>
          <a:p>
            <a:pPr marL="457200" lvl="1" indent="0" eaLnBrk="0" fontAlgn="base" hangingPunct="0">
              <a:spcBef>
                <a:spcPct val="0"/>
              </a:spcBef>
              <a:spcAft>
                <a:spcPts val="600"/>
              </a:spcAft>
              <a:buFontTx/>
              <a:buChar char="•"/>
            </a:pPr>
            <a:r>
              <a:rPr kumimoji="0" lang="en-US" altLang="en-US" sz="1400" b="0" i="0" u="none" strike="noStrike" cap="none" normalizeH="0" baseline="0" dirty="0">
                <a:ln>
                  <a:noFill/>
                </a:ln>
                <a:effectLst/>
                <a:latin typeface="Arial" panose="020B0604020202020204" pitchFamily="34" charset="0"/>
              </a:rPr>
              <a:t>Collected from 118 conversations, transcribed into Turkish text.</a:t>
            </a:r>
          </a:p>
          <a:p>
            <a:pPr marL="457200" lvl="1" indent="0" eaLnBrk="0" fontAlgn="base" hangingPunct="0">
              <a:spcBef>
                <a:spcPct val="0"/>
              </a:spcBef>
              <a:spcAft>
                <a:spcPts val="600"/>
              </a:spcAft>
              <a:buFontTx/>
              <a:buChar char="•"/>
            </a:pPr>
            <a:r>
              <a:rPr kumimoji="0" lang="en-US" altLang="en-US" sz="1400" b="0" i="0" u="none" strike="noStrike" cap="none" normalizeH="0" baseline="0" dirty="0">
                <a:ln>
                  <a:noFill/>
                </a:ln>
                <a:effectLst/>
                <a:latin typeface="Arial" panose="020B0604020202020204" pitchFamily="34" charset="0"/>
              </a:rPr>
              <a:t>Annotated at the utterance level for sentiment and emotion labels.</a:t>
            </a:r>
          </a:p>
          <a:p>
            <a:pPr marL="0" marR="0" lvl="0"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Sentiment Distribution</a:t>
            </a:r>
            <a:r>
              <a:rPr kumimoji="0" lang="en-US" altLang="en-US" sz="1400" b="0" i="0" u="none" strike="noStrike" cap="none" normalizeH="0" baseline="0" dirty="0">
                <a:ln>
                  <a:noFill/>
                </a:ln>
                <a:effectLst/>
                <a:latin typeface="Arial" panose="020B0604020202020204" pitchFamily="34" charset="0"/>
              </a:rPr>
              <a:t>:</a:t>
            </a:r>
          </a:p>
          <a:p>
            <a:pPr marL="457200" lvl="1" indent="0" eaLnBrk="0" fontAlgn="base" hangingPunct="0">
              <a:spcBef>
                <a:spcPct val="0"/>
              </a:spcBef>
              <a:spcAft>
                <a:spcPts val="600"/>
              </a:spcAft>
              <a:buFontTx/>
              <a:buChar char="•"/>
            </a:pPr>
            <a:r>
              <a:rPr kumimoji="0" lang="en-US" altLang="en-US" sz="1400" b="0" i="0" u="none" strike="noStrike" cap="none" normalizeH="0" baseline="0" dirty="0">
                <a:ln>
                  <a:noFill/>
                </a:ln>
                <a:effectLst/>
                <a:latin typeface="Arial" panose="020B0604020202020204" pitchFamily="34" charset="0"/>
              </a:rPr>
              <a:t>Imbalanced dataset</a:t>
            </a:r>
          </a:p>
          <a:p>
            <a:pPr marL="457200" lvl="1" indent="0" eaLnBrk="0" fontAlgn="base" hangingPunct="0">
              <a:spcBef>
                <a:spcPct val="0"/>
              </a:spcBef>
              <a:spcAft>
                <a:spcPts val="600"/>
              </a:spcAft>
              <a:buFontTx/>
              <a:buChar char="•"/>
            </a:pPr>
            <a:r>
              <a:rPr kumimoji="0" lang="en-US" altLang="en-US" sz="1400" b="0" i="0" u="none" strike="noStrike" cap="none" normalizeH="0" baseline="0" dirty="0">
                <a:ln>
                  <a:noFill/>
                </a:ln>
                <a:effectLst/>
                <a:latin typeface="Arial" panose="020B0604020202020204" pitchFamily="34" charset="0"/>
              </a:rPr>
              <a:t>Gender differences: </a:t>
            </a:r>
          </a:p>
          <a:p>
            <a:pPr eaLnBrk="0" fontAlgn="base" hangingPunct="0">
              <a:spcBef>
                <a:spcPct val="0"/>
              </a:spcBef>
              <a:spcAft>
                <a:spcPts val="600"/>
              </a:spcAft>
            </a:pPr>
            <a:r>
              <a:rPr kumimoji="0" lang="en-US" altLang="en-US" sz="1400" b="1" i="0" u="none" strike="noStrike" cap="none" normalizeH="0" baseline="0" dirty="0">
                <a:ln>
                  <a:noFill/>
                </a:ln>
                <a:effectLst/>
                <a:latin typeface="Arial" panose="020B0604020202020204" pitchFamily="34" charset="0"/>
              </a:rPr>
              <a:t>Data Preprocessing</a:t>
            </a:r>
            <a:r>
              <a:rPr kumimoji="0" lang="en-US" altLang="en-US" sz="1400" b="0" i="0" u="none" strike="noStrike" cap="none" normalizeH="0" baseline="0" dirty="0">
                <a:ln>
                  <a:noFill/>
                </a:ln>
                <a:effectLst/>
                <a:latin typeface="Arial" panose="020B0604020202020204" pitchFamily="34" charset="0"/>
              </a:rPr>
              <a:t>:</a:t>
            </a:r>
          </a:p>
          <a:p>
            <a:pPr marL="457200" lvl="1" indent="0" eaLnBrk="0" fontAlgn="base" hangingPunct="0">
              <a:spcBef>
                <a:spcPct val="0"/>
              </a:spcBef>
              <a:spcAft>
                <a:spcPts val="600"/>
              </a:spcAft>
              <a:buFontTx/>
              <a:buChar char="•"/>
            </a:pPr>
            <a:r>
              <a:rPr kumimoji="0" lang="en-US" altLang="en-US" sz="1400" b="0" i="0" u="none" strike="noStrike" cap="none" normalizeH="0" baseline="0" dirty="0">
                <a:ln>
                  <a:noFill/>
                </a:ln>
                <a:effectLst/>
                <a:latin typeface="Arial" panose="020B0604020202020204" pitchFamily="34" charset="0"/>
              </a:rPr>
              <a:t>Addressed issues with illegible characters, misspellings, and lack of punctuation.</a:t>
            </a:r>
          </a:p>
          <a:p>
            <a:pPr marL="0" marR="0" lvl="0"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Two-Tiered Correction</a:t>
            </a:r>
            <a:r>
              <a:rPr kumimoji="0" lang="en-US" altLang="en-US" sz="1400" b="0" i="0" u="none" strike="noStrike" cap="none" normalizeH="0" baseline="0" dirty="0">
                <a:ln>
                  <a:noFill/>
                </a:ln>
                <a:effectLst/>
                <a:latin typeface="Arial" panose="020B0604020202020204" pitchFamily="34" charset="0"/>
              </a:rPr>
              <a:t>:</a:t>
            </a:r>
          </a:p>
          <a:p>
            <a:pPr marL="457200" marR="0" lvl="1"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Automated</a:t>
            </a:r>
            <a:r>
              <a:rPr kumimoji="0" lang="en-US" altLang="en-US" sz="1400" b="0" i="0" u="none" strike="noStrike" cap="none" normalizeH="0" baseline="0" dirty="0">
                <a:ln>
                  <a:noFill/>
                </a:ln>
                <a:effectLst/>
                <a:latin typeface="Arial" panose="020B0604020202020204" pitchFamily="34" charset="0"/>
              </a:rPr>
              <a:t>: Initial correction using Microsoft Office Spell Checker.</a:t>
            </a:r>
          </a:p>
          <a:p>
            <a:pPr marL="457200" marR="0" lvl="1"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Manual</a:t>
            </a:r>
            <a:r>
              <a:rPr kumimoji="0" lang="en-US" altLang="en-US" sz="1400" b="0" i="0" u="none" strike="noStrike" cap="none" normalizeH="0" baseline="0" dirty="0">
                <a:ln>
                  <a:noFill/>
                </a:ln>
                <a:effectLst/>
                <a:latin typeface="Arial" panose="020B0604020202020204" pitchFamily="34" charset="0"/>
              </a:rPr>
              <a:t>: Extensive manual review for punctuation and final corrections to ensure text clarity and accuracy.</a:t>
            </a:r>
          </a:p>
          <a:p>
            <a:pPr marL="0" marR="0" lvl="0" indent="0" defTabSz="914400" rtl="0" eaLnBrk="0" fontAlgn="base" latinLnBrk="0" hangingPunct="0">
              <a:spcBef>
                <a:spcPct val="0"/>
              </a:spcBef>
              <a:spcAft>
                <a:spcPts val="600"/>
              </a:spcAft>
              <a:buClrTx/>
              <a:buSzTx/>
              <a:buFontTx/>
              <a:buNone/>
              <a:tabLst/>
            </a:pPr>
            <a:endParaRPr kumimoji="0" lang="en-US" altLang="en-US" sz="1400" b="0" i="0" u="none" strike="noStrike" cap="none" normalizeH="0" baseline="0" dirty="0">
              <a:ln>
                <a:noFill/>
              </a:ln>
              <a:effectLst/>
              <a:latin typeface="Arial" panose="020B0604020202020204" pitchFamily="34" charset="0"/>
            </a:endParaRPr>
          </a:p>
        </p:txBody>
      </p:sp>
      <p:pic>
        <p:nvPicPr>
          <p:cNvPr id="13" name="Picture 12" descr="Analogue board showing flight information">
            <a:extLst>
              <a:ext uri="{FF2B5EF4-FFF2-40B4-BE49-F238E27FC236}">
                <a16:creationId xmlns:a16="http://schemas.microsoft.com/office/drawing/2014/main" id="{4A9F0112-1001-81B3-6DFD-3BDACC9BCA3D}"/>
              </a:ext>
            </a:extLst>
          </p:cNvPr>
          <p:cNvPicPr>
            <a:picLocks noChangeAspect="1"/>
          </p:cNvPicPr>
          <p:nvPr/>
        </p:nvPicPr>
        <p:blipFill>
          <a:blip r:embed="rId2"/>
          <a:srcRect l="11016" r="24768" b="2"/>
          <a:stretch/>
        </p:blipFill>
        <p:spPr>
          <a:xfrm>
            <a:off x="7675658" y="2093976"/>
            <a:ext cx="3941064" cy="4096512"/>
          </a:xfrm>
          <a:prstGeom prst="rect">
            <a:avLst/>
          </a:prstGeom>
        </p:spPr>
      </p:pic>
      <p:sp>
        <p:nvSpPr>
          <p:cNvPr id="3" name="Date Placeholder 2">
            <a:extLst>
              <a:ext uri="{FF2B5EF4-FFF2-40B4-BE49-F238E27FC236}">
                <a16:creationId xmlns:a16="http://schemas.microsoft.com/office/drawing/2014/main" id="{8EE70D5C-7811-8227-13CA-327A200806B5}"/>
              </a:ext>
            </a:extLst>
          </p:cNvPr>
          <p:cNvSpPr>
            <a:spLocks noGrp="1"/>
          </p:cNvSpPr>
          <p:nvPr>
            <p:ph type="dt" sz="half" idx="10"/>
          </p:nvPr>
        </p:nvSpPr>
        <p:spPr/>
        <p:txBody>
          <a:bodyPr/>
          <a:lstStyle/>
          <a:p>
            <a:fld id="{B0067DAF-6EC5-43ED-A92B-22C4C1C34F92}" type="datetime1">
              <a:rPr lang="en-US" smtClean="0"/>
              <a:t>7/25/2025</a:t>
            </a:fld>
            <a:endParaRPr lang="en-US"/>
          </a:p>
        </p:txBody>
      </p:sp>
      <p:sp>
        <p:nvSpPr>
          <p:cNvPr id="5" name="Slide Number Placeholder 4">
            <a:extLst>
              <a:ext uri="{FF2B5EF4-FFF2-40B4-BE49-F238E27FC236}">
                <a16:creationId xmlns:a16="http://schemas.microsoft.com/office/drawing/2014/main" id="{1A063086-57CE-915B-5D1F-EF6EE56D02C0}"/>
              </a:ext>
            </a:extLst>
          </p:cNvPr>
          <p:cNvSpPr>
            <a:spLocks noGrp="1"/>
          </p:cNvSpPr>
          <p:nvPr>
            <p:ph type="sldNum" sz="quarter" idx="12"/>
          </p:nvPr>
        </p:nvSpPr>
        <p:spPr/>
        <p:txBody>
          <a:bodyPr/>
          <a:lstStyle/>
          <a:p>
            <a:fld id="{F66C9141-23B4-4FD3-80FD-4E1CB454F295}" type="slidenum">
              <a:rPr lang="en-US" smtClean="0"/>
              <a:t>10</a:t>
            </a:fld>
            <a:endParaRPr lang="en-US"/>
          </a:p>
        </p:txBody>
      </p:sp>
    </p:spTree>
    <p:extLst>
      <p:ext uri="{BB962C8B-B14F-4D97-AF65-F5344CB8AC3E}">
        <p14:creationId xmlns:p14="http://schemas.microsoft.com/office/powerpoint/2010/main" val="409020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EB35D5-978A-2C96-F739-67F82C22886F}"/>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b="1" kern="1200" dirty="0">
                <a:solidFill>
                  <a:srgbClr val="FFFFFF"/>
                </a:solidFill>
                <a:latin typeface="+mj-lt"/>
                <a:ea typeface="+mj-ea"/>
                <a:cs typeface="+mj-cs"/>
              </a:rPr>
              <a:t>OVERALL STATISTICS</a:t>
            </a:r>
          </a:p>
        </p:txBody>
      </p:sp>
      <p:sp>
        <p:nvSpPr>
          <p:cNvPr id="9" name="Content Placeholder 8">
            <a:extLst>
              <a:ext uri="{FF2B5EF4-FFF2-40B4-BE49-F238E27FC236}">
                <a16:creationId xmlns:a16="http://schemas.microsoft.com/office/drawing/2014/main" id="{61C99461-48BC-5EEE-FC39-B9897815E42B}"/>
              </a:ext>
            </a:extLst>
          </p:cNvPr>
          <p:cNvSpPr>
            <a:spLocks noGrp="1"/>
          </p:cNvSpPr>
          <p:nvPr>
            <p:ph idx="1"/>
          </p:nvPr>
        </p:nvSpPr>
        <p:spPr>
          <a:xfrm>
            <a:off x="8572499" y="390832"/>
            <a:ext cx="3233585" cy="873612"/>
          </a:xfrm>
        </p:spPr>
        <p:txBody>
          <a:bodyPr vert="horz" lIns="91440" tIns="45720" rIns="91440" bIns="45720" rtlCol="0" anchor="ctr">
            <a:normAutofit/>
          </a:bodyPr>
          <a:lstStyle/>
          <a:p>
            <a:pPr marL="0" indent="0">
              <a:buNone/>
            </a:pPr>
            <a:r>
              <a:rPr lang="en-US" sz="2000" b="1" kern="1200" dirty="0">
                <a:solidFill>
                  <a:srgbClr val="FFFFFF"/>
                </a:solidFill>
                <a:latin typeface="+mn-lt"/>
                <a:ea typeface="+mn-ea"/>
                <a:cs typeface="+mn-cs"/>
              </a:rPr>
              <a:t>CORPUS DESCRIPTION</a:t>
            </a:r>
          </a:p>
        </p:txBody>
      </p:sp>
      <p:pic>
        <p:nvPicPr>
          <p:cNvPr id="5" name="Content Placeholder 4">
            <a:extLst>
              <a:ext uri="{FF2B5EF4-FFF2-40B4-BE49-F238E27FC236}">
                <a16:creationId xmlns:a16="http://schemas.microsoft.com/office/drawing/2014/main" id="{578A0275-B21F-9575-5F44-70D89D56E1EE}"/>
              </a:ext>
            </a:extLst>
          </p:cNvPr>
          <p:cNvPicPr>
            <a:picLocks noChangeAspect="1"/>
          </p:cNvPicPr>
          <p:nvPr/>
        </p:nvPicPr>
        <p:blipFill>
          <a:blip r:embed="rId2"/>
          <a:stretch>
            <a:fillRect/>
          </a:stretch>
        </p:blipFill>
        <p:spPr>
          <a:xfrm>
            <a:off x="2750134" y="1966293"/>
            <a:ext cx="6691731" cy="4452160"/>
          </a:xfrm>
          <a:prstGeom prst="rect">
            <a:avLst/>
          </a:prstGeom>
        </p:spPr>
      </p:pic>
      <p:sp>
        <p:nvSpPr>
          <p:cNvPr id="3" name="Date Placeholder 2">
            <a:extLst>
              <a:ext uri="{FF2B5EF4-FFF2-40B4-BE49-F238E27FC236}">
                <a16:creationId xmlns:a16="http://schemas.microsoft.com/office/drawing/2014/main" id="{AB145B29-CBE8-11F5-4334-8E0AE9CE9CD3}"/>
              </a:ext>
            </a:extLst>
          </p:cNvPr>
          <p:cNvSpPr>
            <a:spLocks noGrp="1"/>
          </p:cNvSpPr>
          <p:nvPr>
            <p:ph type="dt" sz="half" idx="10"/>
          </p:nvPr>
        </p:nvSpPr>
        <p:spPr/>
        <p:txBody>
          <a:bodyPr/>
          <a:lstStyle/>
          <a:p>
            <a:fld id="{0DBBC8F9-FD0A-4F3D-8BB5-DCABB7763363}" type="datetime1">
              <a:rPr lang="en-US" smtClean="0"/>
              <a:t>7/25/2025</a:t>
            </a:fld>
            <a:endParaRPr lang="en-US"/>
          </a:p>
        </p:txBody>
      </p:sp>
      <p:sp>
        <p:nvSpPr>
          <p:cNvPr id="4" name="Slide Number Placeholder 3">
            <a:extLst>
              <a:ext uri="{FF2B5EF4-FFF2-40B4-BE49-F238E27FC236}">
                <a16:creationId xmlns:a16="http://schemas.microsoft.com/office/drawing/2014/main" id="{0066879C-F884-9B96-EE31-F54E646AE2A5}"/>
              </a:ext>
            </a:extLst>
          </p:cNvPr>
          <p:cNvSpPr>
            <a:spLocks noGrp="1"/>
          </p:cNvSpPr>
          <p:nvPr>
            <p:ph type="sldNum" sz="quarter" idx="12"/>
          </p:nvPr>
        </p:nvSpPr>
        <p:spPr/>
        <p:txBody>
          <a:bodyPr/>
          <a:lstStyle/>
          <a:p>
            <a:fld id="{F66C9141-23B4-4FD3-80FD-4E1CB454F295}" type="slidenum">
              <a:rPr lang="en-US" smtClean="0"/>
              <a:t>11</a:t>
            </a:fld>
            <a:endParaRPr lang="en-US"/>
          </a:p>
        </p:txBody>
      </p:sp>
    </p:spTree>
    <p:extLst>
      <p:ext uri="{BB962C8B-B14F-4D97-AF65-F5344CB8AC3E}">
        <p14:creationId xmlns:p14="http://schemas.microsoft.com/office/powerpoint/2010/main" val="33969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28CF4B-4A2E-E3F1-FA34-465BE706871F}"/>
              </a:ext>
            </a:extLst>
          </p:cNvPr>
          <p:cNvSpPr>
            <a:spLocks noGrp="1"/>
          </p:cNvSpPr>
          <p:nvPr>
            <p:ph type="title"/>
          </p:nvPr>
        </p:nvSpPr>
        <p:spPr>
          <a:xfrm>
            <a:off x="6981825" y="1641752"/>
            <a:ext cx="4894984" cy="1504648"/>
          </a:xfrm>
        </p:spPr>
        <p:txBody>
          <a:bodyPr anchor="t">
            <a:normAutofit/>
          </a:bodyPr>
          <a:lstStyle/>
          <a:p>
            <a:r>
              <a:rPr lang="en-US" sz="2000" dirty="0">
                <a:solidFill>
                  <a:schemeClr val="bg1"/>
                </a:solidFill>
              </a:rPr>
              <a:t># of positive samples: 2083</a:t>
            </a:r>
            <a:br>
              <a:rPr lang="en-US" sz="2000" dirty="0">
                <a:solidFill>
                  <a:schemeClr val="bg1"/>
                </a:solidFill>
              </a:rPr>
            </a:br>
            <a:r>
              <a:rPr lang="en-US" sz="2000" dirty="0">
                <a:solidFill>
                  <a:schemeClr val="bg1"/>
                </a:solidFill>
              </a:rPr>
              <a:t># of negative samples: 6161</a:t>
            </a:r>
            <a:br>
              <a:rPr lang="en-US" sz="2000" dirty="0">
                <a:solidFill>
                  <a:schemeClr val="bg1"/>
                </a:solidFill>
              </a:rPr>
            </a:br>
            <a:r>
              <a:rPr lang="en-US" sz="2000" dirty="0">
                <a:solidFill>
                  <a:schemeClr val="bg1"/>
                </a:solidFill>
              </a:rPr>
              <a:t># of neutral samples: 6050</a:t>
            </a:r>
            <a:br>
              <a:rPr lang="en-US" sz="2000" dirty="0">
                <a:solidFill>
                  <a:schemeClr val="bg1"/>
                </a:solidFill>
              </a:rPr>
            </a:br>
            <a:r>
              <a:rPr lang="en-US" sz="2000" dirty="0"/>
              <a:t>2083</a:t>
            </a:r>
            <a:endParaRPr lang="en-US" sz="2000" dirty="0">
              <a:solidFill>
                <a:schemeClr val="bg1"/>
              </a:solidFill>
            </a:endParaRPr>
          </a:p>
        </p:txBody>
      </p:sp>
      <p:grpSp>
        <p:nvGrpSpPr>
          <p:cNvPr id="12" name="Group 11">
            <a:extLst>
              <a:ext uri="{FF2B5EF4-FFF2-40B4-BE49-F238E27FC236}">
                <a16:creationId xmlns:a16="http://schemas.microsoft.com/office/drawing/2014/main" id="{0EAC7AFE-68C0-41EB-A1C7-108E60D7C3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7088" y="4795537"/>
            <a:ext cx="5260975" cy="1410656"/>
            <a:chOff x="827088" y="4795537"/>
            <a:chExt cx="5260975" cy="1410656"/>
          </a:xfrm>
        </p:grpSpPr>
        <p:sp>
          <p:nvSpPr>
            <p:cNvPr id="13" name="Freeform: Shape 12">
              <a:extLst>
                <a:ext uri="{FF2B5EF4-FFF2-40B4-BE49-F238E27FC236}">
                  <a16:creationId xmlns:a16="http://schemas.microsoft.com/office/drawing/2014/main" id="{127393A7-D6DA-410B-8699-AA56B57BF7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EC44C88-69E3-42EE-86E8-9B45F712B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864DACA2-CDA0-C567-253F-A8882E555D6A}"/>
              </a:ext>
            </a:extLst>
          </p:cNvPr>
          <p:cNvSpPr>
            <a:spLocks noGrp="1"/>
          </p:cNvSpPr>
          <p:nvPr>
            <p:ph idx="1"/>
          </p:nvPr>
        </p:nvSpPr>
        <p:spPr>
          <a:xfrm>
            <a:off x="6981826" y="3146400"/>
            <a:ext cx="4391024" cy="2682000"/>
          </a:xfrm>
        </p:spPr>
        <p:txBody>
          <a:bodyPr>
            <a:normAutofit/>
          </a:bodyPr>
          <a:lstStyle/>
          <a:p>
            <a:pPr marL="0" indent="0">
              <a:buNone/>
            </a:pPr>
            <a:r>
              <a:rPr lang="en-US" sz="3600" b="1" dirty="0">
                <a:solidFill>
                  <a:schemeClr val="bg1">
                    <a:alpha val="80000"/>
                  </a:schemeClr>
                </a:solidFill>
              </a:rPr>
              <a:t>CORPUS DESCRIPTION</a:t>
            </a:r>
          </a:p>
          <a:p>
            <a:endParaRPr lang="en-US" sz="2400" dirty="0">
              <a:solidFill>
                <a:schemeClr val="bg1">
                  <a:alpha val="80000"/>
                </a:schemeClr>
              </a:solidFill>
            </a:endParaRPr>
          </a:p>
        </p:txBody>
      </p:sp>
      <p:pic>
        <p:nvPicPr>
          <p:cNvPr id="6" name="Picture 5">
            <a:extLst>
              <a:ext uri="{FF2B5EF4-FFF2-40B4-BE49-F238E27FC236}">
                <a16:creationId xmlns:a16="http://schemas.microsoft.com/office/drawing/2014/main" id="{7424B070-D96E-D28C-83AB-5FA0AF5DE9FB}"/>
              </a:ext>
            </a:extLst>
          </p:cNvPr>
          <p:cNvPicPr>
            <a:picLocks noChangeAspect="1"/>
          </p:cNvPicPr>
          <p:nvPr/>
        </p:nvPicPr>
        <p:blipFill>
          <a:blip r:embed="rId3"/>
          <a:stretch>
            <a:fillRect/>
          </a:stretch>
        </p:blipFill>
        <p:spPr>
          <a:xfrm>
            <a:off x="318767" y="909337"/>
            <a:ext cx="5843908" cy="3886200"/>
          </a:xfrm>
          <a:prstGeom prst="rect">
            <a:avLst/>
          </a:prstGeom>
        </p:spPr>
      </p:pic>
      <p:sp>
        <p:nvSpPr>
          <p:cNvPr id="4" name="Date Placeholder 3">
            <a:extLst>
              <a:ext uri="{FF2B5EF4-FFF2-40B4-BE49-F238E27FC236}">
                <a16:creationId xmlns:a16="http://schemas.microsoft.com/office/drawing/2014/main" id="{EB669E0B-85F4-9509-C503-A5A43E2554F1}"/>
              </a:ext>
            </a:extLst>
          </p:cNvPr>
          <p:cNvSpPr>
            <a:spLocks noGrp="1"/>
          </p:cNvSpPr>
          <p:nvPr>
            <p:ph type="dt" sz="half" idx="10"/>
          </p:nvPr>
        </p:nvSpPr>
        <p:spPr/>
        <p:txBody>
          <a:bodyPr/>
          <a:lstStyle/>
          <a:p>
            <a:fld id="{59D4AB3A-1BA9-4968-8E66-799C4108E7B3}" type="datetime1">
              <a:rPr lang="en-US" smtClean="0"/>
              <a:t>7/25/2025</a:t>
            </a:fld>
            <a:endParaRPr lang="en-US"/>
          </a:p>
        </p:txBody>
      </p:sp>
      <p:sp>
        <p:nvSpPr>
          <p:cNvPr id="5" name="Slide Number Placeholder 4">
            <a:extLst>
              <a:ext uri="{FF2B5EF4-FFF2-40B4-BE49-F238E27FC236}">
                <a16:creationId xmlns:a16="http://schemas.microsoft.com/office/drawing/2014/main" id="{E4322BCE-63EA-DA19-1201-CA3C9959DB35}"/>
              </a:ext>
            </a:extLst>
          </p:cNvPr>
          <p:cNvSpPr>
            <a:spLocks noGrp="1"/>
          </p:cNvSpPr>
          <p:nvPr>
            <p:ph type="sldNum" sz="quarter" idx="12"/>
          </p:nvPr>
        </p:nvSpPr>
        <p:spPr/>
        <p:txBody>
          <a:bodyPr/>
          <a:lstStyle/>
          <a:p>
            <a:fld id="{F66C9141-23B4-4FD3-80FD-4E1CB454F295}" type="slidenum">
              <a:rPr lang="en-US" smtClean="0"/>
              <a:t>12</a:t>
            </a:fld>
            <a:endParaRPr lang="en-US"/>
          </a:p>
        </p:txBody>
      </p:sp>
    </p:spTree>
    <p:extLst>
      <p:ext uri="{BB962C8B-B14F-4D97-AF65-F5344CB8AC3E}">
        <p14:creationId xmlns:p14="http://schemas.microsoft.com/office/powerpoint/2010/main" val="216915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Content Placeholder 4">
            <a:extLst>
              <a:ext uri="{FF2B5EF4-FFF2-40B4-BE49-F238E27FC236}">
                <a16:creationId xmlns:a16="http://schemas.microsoft.com/office/drawing/2014/main" id="{28DFCE8A-E2C2-3564-2251-1C60283DD7CB}"/>
              </a:ext>
            </a:extLst>
          </p:cNvPr>
          <p:cNvPicPr>
            <a:picLocks noGrp="1" noChangeAspect="1"/>
          </p:cNvPicPr>
          <p:nvPr>
            <p:ph idx="1"/>
          </p:nvPr>
        </p:nvPicPr>
        <p:blipFill>
          <a:blip r:embed="rId2"/>
          <a:stretch>
            <a:fillRect/>
          </a:stretch>
        </p:blipFill>
        <p:spPr>
          <a:xfrm>
            <a:off x="1313969" y="643466"/>
            <a:ext cx="9564062" cy="5571067"/>
          </a:xfrm>
          <a:prstGeom prst="rect">
            <a:avLst/>
          </a:prstGeom>
        </p:spPr>
      </p:pic>
      <p:sp>
        <p:nvSpPr>
          <p:cNvPr id="2" name="Date Placeholder 1">
            <a:extLst>
              <a:ext uri="{FF2B5EF4-FFF2-40B4-BE49-F238E27FC236}">
                <a16:creationId xmlns:a16="http://schemas.microsoft.com/office/drawing/2014/main" id="{67F14DFE-9084-09E9-E434-DA09C5DFF4A8}"/>
              </a:ext>
            </a:extLst>
          </p:cNvPr>
          <p:cNvSpPr>
            <a:spLocks noGrp="1"/>
          </p:cNvSpPr>
          <p:nvPr>
            <p:ph type="dt" sz="half" idx="10"/>
          </p:nvPr>
        </p:nvSpPr>
        <p:spPr/>
        <p:txBody>
          <a:bodyPr/>
          <a:lstStyle/>
          <a:p>
            <a:fld id="{7D3D712D-9986-4A1D-BEA8-13586582CAD7}" type="datetime1">
              <a:rPr lang="en-US" smtClean="0"/>
              <a:t>7/25/2025</a:t>
            </a:fld>
            <a:endParaRPr lang="en-US"/>
          </a:p>
        </p:txBody>
      </p:sp>
      <p:sp>
        <p:nvSpPr>
          <p:cNvPr id="4" name="Slide Number Placeholder 3">
            <a:extLst>
              <a:ext uri="{FF2B5EF4-FFF2-40B4-BE49-F238E27FC236}">
                <a16:creationId xmlns:a16="http://schemas.microsoft.com/office/drawing/2014/main" id="{A62E33CA-B14F-94C5-B65C-A0313DB8AF5B}"/>
              </a:ext>
            </a:extLst>
          </p:cNvPr>
          <p:cNvSpPr>
            <a:spLocks noGrp="1"/>
          </p:cNvSpPr>
          <p:nvPr>
            <p:ph type="sldNum" sz="quarter" idx="12"/>
          </p:nvPr>
        </p:nvSpPr>
        <p:spPr/>
        <p:txBody>
          <a:bodyPr/>
          <a:lstStyle/>
          <a:p>
            <a:fld id="{F66C9141-23B4-4FD3-80FD-4E1CB454F295}" type="slidenum">
              <a:rPr lang="en-US" smtClean="0"/>
              <a:t>13</a:t>
            </a:fld>
            <a:endParaRPr lang="en-US"/>
          </a:p>
        </p:txBody>
      </p:sp>
    </p:spTree>
    <p:extLst>
      <p:ext uri="{BB962C8B-B14F-4D97-AF65-F5344CB8AC3E}">
        <p14:creationId xmlns:p14="http://schemas.microsoft.com/office/powerpoint/2010/main" val="1970908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B14D1B-A42C-C3A6-B861-7FEA8A1A5B18}"/>
              </a:ext>
            </a:extLst>
          </p:cNvPr>
          <p:cNvSpPr>
            <a:spLocks noGrp="1"/>
          </p:cNvSpPr>
          <p:nvPr>
            <p:ph type="title"/>
          </p:nvPr>
        </p:nvSpPr>
        <p:spPr>
          <a:xfrm>
            <a:off x="572493" y="238539"/>
            <a:ext cx="11018520" cy="987155"/>
          </a:xfrm>
        </p:spPr>
        <p:txBody>
          <a:bodyPr anchor="b">
            <a:normAutofit/>
          </a:bodyPr>
          <a:lstStyle/>
          <a:p>
            <a:r>
              <a:rPr lang="en-US" sz="5400" b="1" dirty="0"/>
              <a:t>Annotation Procedure</a:t>
            </a:r>
          </a:p>
        </p:txBody>
      </p:sp>
      <p:sp>
        <p:nvSpPr>
          <p:cNvPr id="2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855036F7-CC58-D5D0-B8BF-480004FB72DD}"/>
              </a:ext>
            </a:extLst>
          </p:cNvPr>
          <p:cNvSpPr>
            <a:spLocks noGrp="1" noChangeArrowheads="1"/>
          </p:cNvSpPr>
          <p:nvPr>
            <p:ph idx="1"/>
          </p:nvPr>
        </p:nvSpPr>
        <p:spPr bwMode="auto">
          <a:xfrm>
            <a:off x="572493" y="1736409"/>
            <a:ext cx="6713552" cy="473712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600" b="1" i="0" u="none" strike="noStrike" cap="none" normalizeH="0" baseline="0" dirty="0">
                <a:ln>
                  <a:noFill/>
                </a:ln>
                <a:effectLst/>
                <a:latin typeface="Arial" panose="020B0604020202020204" pitchFamily="34" charset="0"/>
              </a:rPr>
              <a:t>Dual-labeling Strategy</a:t>
            </a:r>
            <a:r>
              <a:rPr kumimoji="0" lang="en-US" altLang="en-US" sz="1600" b="0" i="0" u="none" strike="noStrike" cap="none" normalizeH="0" baseline="0" dirty="0">
                <a:ln>
                  <a:noFill/>
                </a:ln>
                <a:effectLst/>
                <a:latin typeface="Arial" panose="020B0604020202020204" pitchFamily="34" charset="0"/>
              </a:rPr>
              <a:t>:</a:t>
            </a:r>
          </a:p>
          <a:p>
            <a:pPr marL="457200" lvl="1" indent="0" eaLnBrk="0" fontAlgn="base" hangingPunct="0">
              <a:spcBef>
                <a:spcPct val="0"/>
              </a:spcBef>
              <a:spcAft>
                <a:spcPts val="600"/>
              </a:spcAft>
              <a:buFontTx/>
              <a:buChar char="•"/>
            </a:pPr>
            <a:r>
              <a:rPr kumimoji="0" lang="en-US" altLang="en-US" sz="1600" b="1" i="0" u="none" strike="noStrike" cap="none" normalizeH="0" baseline="0" dirty="0">
                <a:ln>
                  <a:noFill/>
                </a:ln>
                <a:effectLst/>
                <a:latin typeface="Arial" panose="020B0604020202020204" pitchFamily="34" charset="0"/>
              </a:rPr>
              <a:t>Emotions</a:t>
            </a:r>
            <a:r>
              <a:rPr kumimoji="0" lang="en-US" altLang="en-US" sz="1600" b="0" i="0" u="none" strike="noStrike" cap="none" normalizeH="0" baseline="0" dirty="0">
                <a:ln>
                  <a:noFill/>
                </a:ln>
                <a:effectLst/>
                <a:latin typeface="Arial" panose="020B0604020202020204" pitchFamily="34" charset="0"/>
              </a:rPr>
              <a:t>: 7 labels (Anger, Happiness, Sadness, Surprise, Fear, Disgust, No Emotion).</a:t>
            </a:r>
          </a:p>
          <a:p>
            <a:pPr marL="457200" lvl="1" indent="0" eaLnBrk="0" fontAlgn="base" hangingPunct="0">
              <a:spcBef>
                <a:spcPct val="0"/>
              </a:spcBef>
              <a:spcAft>
                <a:spcPts val="600"/>
              </a:spcAft>
              <a:buFontTx/>
              <a:buChar char="•"/>
            </a:pPr>
            <a:r>
              <a:rPr kumimoji="0" lang="en-US" altLang="en-US" sz="1600" b="1" i="0" u="none" strike="noStrike" cap="none" normalizeH="0" baseline="0" dirty="0">
                <a:ln>
                  <a:noFill/>
                </a:ln>
                <a:effectLst/>
                <a:latin typeface="Arial" panose="020B0604020202020204" pitchFamily="34" charset="0"/>
              </a:rPr>
              <a:t>Sentiments</a:t>
            </a:r>
            <a:r>
              <a:rPr kumimoji="0" lang="en-US" altLang="en-US" sz="1600" b="0" i="0" u="none" strike="noStrike" cap="none" normalizeH="0" baseline="0" dirty="0">
                <a:ln>
                  <a:noFill/>
                </a:ln>
                <a:effectLst/>
                <a:latin typeface="Arial" panose="020B0604020202020204" pitchFamily="34" charset="0"/>
              </a:rPr>
              <a:t>: 3 labels (Negative, Neutral, Positive).</a:t>
            </a:r>
          </a:p>
          <a:p>
            <a:pPr marL="457200" lvl="1" indent="0" eaLnBrk="0" fontAlgn="base" hangingPunct="0">
              <a:spcBef>
                <a:spcPct val="0"/>
              </a:spcBef>
              <a:spcAft>
                <a:spcPts val="600"/>
              </a:spcAft>
              <a:buFontTx/>
              <a:buChar char="•"/>
            </a:pPr>
            <a:endParaRPr kumimoji="0" lang="en-US" altLang="en-US" sz="16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600" b="1" i="0" u="none" strike="noStrike" cap="none" normalizeH="0" baseline="0" dirty="0">
                <a:ln>
                  <a:noFill/>
                </a:ln>
                <a:effectLst/>
                <a:latin typeface="Arial" panose="020B0604020202020204" pitchFamily="34" charset="0"/>
              </a:rPr>
              <a:t>Annotation Process</a:t>
            </a:r>
            <a:r>
              <a:rPr kumimoji="0" lang="en-US" altLang="en-US" sz="1600" b="0" i="0" u="none" strike="noStrike" cap="none" normalizeH="0" baseline="0" dirty="0">
                <a:ln>
                  <a:noFill/>
                </a:ln>
                <a:effectLst/>
                <a:latin typeface="Arial" panose="020B0604020202020204" pitchFamily="34" charset="0"/>
              </a:rPr>
              <a:t>:</a:t>
            </a:r>
          </a:p>
          <a:p>
            <a:pPr marL="457200" lvl="1" indent="0" eaLnBrk="0" fontAlgn="base" hangingPunct="0">
              <a:spcBef>
                <a:spcPct val="0"/>
              </a:spcBef>
              <a:spcAft>
                <a:spcPts val="600"/>
              </a:spcAft>
              <a:buFontTx/>
              <a:buChar char="•"/>
            </a:pPr>
            <a:r>
              <a:rPr kumimoji="0" lang="en-US" altLang="en-US" sz="1600" b="0" i="0" u="none" strike="noStrike" cap="none" normalizeH="0" baseline="0" dirty="0">
                <a:ln>
                  <a:noFill/>
                </a:ln>
                <a:effectLst/>
                <a:latin typeface="Arial" panose="020B0604020202020204" pitchFamily="34" charset="0"/>
              </a:rPr>
              <a:t>Initial annotations provided a baseline.</a:t>
            </a:r>
          </a:p>
          <a:p>
            <a:pPr marL="457200" lvl="1" indent="0" eaLnBrk="0" fontAlgn="base" hangingPunct="0">
              <a:spcBef>
                <a:spcPct val="0"/>
              </a:spcBef>
              <a:spcAft>
                <a:spcPts val="600"/>
              </a:spcAft>
              <a:buFontTx/>
              <a:buChar char="•"/>
            </a:pPr>
            <a:r>
              <a:rPr kumimoji="0" lang="en-US" altLang="en-US" sz="1600" b="0" i="0" u="none" strike="noStrike" cap="none" normalizeH="0" baseline="0" dirty="0">
                <a:ln>
                  <a:noFill/>
                </a:ln>
                <a:effectLst/>
                <a:latin typeface="Arial" panose="020B0604020202020204" pitchFamily="34" charset="0"/>
              </a:rPr>
              <a:t>Refined by 4 experienced volunteers for reliability.</a:t>
            </a:r>
          </a:p>
          <a:p>
            <a:pPr marL="457200" lvl="1" indent="0" eaLnBrk="0" fontAlgn="base" hangingPunct="0">
              <a:spcBef>
                <a:spcPct val="0"/>
              </a:spcBef>
              <a:spcAft>
                <a:spcPts val="600"/>
              </a:spcAft>
              <a:buFontTx/>
              <a:buChar char="•"/>
            </a:pPr>
            <a:endParaRPr kumimoji="0" lang="en-US" altLang="en-US" sz="16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600" b="1" i="0" u="none" strike="noStrike" cap="none" normalizeH="0" baseline="0" dirty="0">
                <a:ln>
                  <a:noFill/>
                </a:ln>
                <a:effectLst/>
                <a:latin typeface="Arial" panose="020B0604020202020204" pitchFamily="34" charset="0"/>
              </a:rPr>
              <a:t>Guidelines Development</a:t>
            </a:r>
            <a:r>
              <a:rPr kumimoji="0" lang="en-US" altLang="en-US" sz="1600" b="0" i="0" u="none" strike="noStrike" cap="none" normalizeH="0" baseline="0" dirty="0">
                <a:ln>
                  <a:noFill/>
                </a:ln>
                <a:effectLst/>
                <a:latin typeface="Arial" panose="020B0604020202020204" pitchFamily="34" charset="0"/>
              </a:rPr>
              <a:t>:</a:t>
            </a:r>
          </a:p>
          <a:p>
            <a:pPr marL="457200" lvl="1" indent="0" eaLnBrk="0" fontAlgn="base" hangingPunct="0">
              <a:spcBef>
                <a:spcPct val="0"/>
              </a:spcBef>
              <a:spcAft>
                <a:spcPts val="600"/>
              </a:spcAft>
              <a:buFontTx/>
              <a:buChar char="•"/>
            </a:pPr>
            <a:r>
              <a:rPr kumimoji="0" lang="en-US" altLang="en-US" sz="1600" b="1" i="0" u="none" strike="noStrike" cap="none" normalizeH="0" baseline="0" dirty="0">
                <a:ln>
                  <a:noFill/>
                </a:ln>
                <a:effectLst/>
                <a:latin typeface="Arial" panose="020B0604020202020204" pitchFamily="34" charset="0"/>
              </a:rPr>
              <a:t>Based on Paul Ekman’s principles</a:t>
            </a:r>
            <a:r>
              <a:rPr kumimoji="0" lang="en-US" altLang="en-US" sz="1600" b="0" i="0" u="none" strike="noStrike" cap="none" normalizeH="0" baseline="0" dirty="0">
                <a:ln>
                  <a:noFill/>
                </a:ln>
                <a:effectLst/>
                <a:latin typeface="Arial" panose="020B0604020202020204" pitchFamily="34" charset="0"/>
              </a:rPr>
              <a:t>: Adapted to the conversational context.</a:t>
            </a:r>
          </a:p>
          <a:p>
            <a:pPr marL="457200" lvl="1" indent="0" eaLnBrk="0" fontAlgn="base" hangingPunct="0">
              <a:spcBef>
                <a:spcPct val="0"/>
              </a:spcBef>
              <a:spcAft>
                <a:spcPts val="600"/>
              </a:spcAft>
              <a:buFontTx/>
              <a:buChar char="•"/>
            </a:pPr>
            <a:r>
              <a:rPr kumimoji="0" lang="en-US" altLang="en-US" sz="1600" b="1" i="0" u="none" strike="noStrike" cap="none" normalizeH="0" baseline="0" dirty="0">
                <a:ln>
                  <a:noFill/>
                </a:ln>
                <a:effectLst/>
                <a:latin typeface="Arial" panose="020B0604020202020204" pitchFamily="34" charset="0"/>
              </a:rPr>
              <a:t>Focus</a:t>
            </a:r>
            <a:r>
              <a:rPr kumimoji="0" lang="en-US" altLang="en-US" sz="1600" b="0" i="0" u="none" strike="noStrike" cap="none" normalizeH="0" baseline="0" dirty="0">
                <a:ln>
                  <a:noFill/>
                </a:ln>
                <a:effectLst/>
                <a:latin typeface="Arial" panose="020B0604020202020204" pitchFamily="34" charset="0"/>
              </a:rPr>
              <a:t>: Textual cues reflecting emotions, specific lexical choices, tone, and context.</a:t>
            </a:r>
          </a:p>
          <a:p>
            <a:pPr marL="0" marR="0" lvl="0" indent="0" defTabSz="914400" rtl="0" eaLnBrk="0" fontAlgn="base" latinLnBrk="0" hangingPunct="0">
              <a:spcBef>
                <a:spcPct val="0"/>
              </a:spcBef>
              <a:spcAft>
                <a:spcPts val="600"/>
              </a:spcAft>
              <a:buClrTx/>
              <a:buSzTx/>
              <a:buFontTx/>
              <a:buNone/>
              <a:tabLst/>
            </a:pPr>
            <a:endParaRPr kumimoji="0" lang="en-US" altLang="en-US" sz="1000" b="0" i="0" u="none" strike="noStrike" cap="none" normalizeH="0" baseline="0" dirty="0">
              <a:ln>
                <a:noFill/>
              </a:ln>
              <a:effectLst/>
              <a:latin typeface="Arial" panose="020B0604020202020204" pitchFamily="34" charset="0"/>
            </a:endParaRPr>
          </a:p>
        </p:txBody>
      </p:sp>
      <p:pic>
        <p:nvPicPr>
          <p:cNvPr id="6" name="Picture 5" descr="Multi-coloured paper-craft art">
            <a:extLst>
              <a:ext uri="{FF2B5EF4-FFF2-40B4-BE49-F238E27FC236}">
                <a16:creationId xmlns:a16="http://schemas.microsoft.com/office/drawing/2014/main" id="{615D076F-3C86-7627-1100-B6569DB02D7D}"/>
              </a:ext>
            </a:extLst>
          </p:cNvPr>
          <p:cNvPicPr>
            <a:picLocks noChangeAspect="1"/>
          </p:cNvPicPr>
          <p:nvPr/>
        </p:nvPicPr>
        <p:blipFill>
          <a:blip r:embed="rId2"/>
          <a:srcRect l="19197" r="16587" b="2"/>
          <a:stretch/>
        </p:blipFill>
        <p:spPr>
          <a:xfrm>
            <a:off x="7675658" y="1911493"/>
            <a:ext cx="3941064" cy="4278995"/>
          </a:xfrm>
          <a:prstGeom prst="rect">
            <a:avLst/>
          </a:prstGeom>
        </p:spPr>
      </p:pic>
      <p:sp>
        <p:nvSpPr>
          <p:cNvPr id="3" name="Date Placeholder 2">
            <a:extLst>
              <a:ext uri="{FF2B5EF4-FFF2-40B4-BE49-F238E27FC236}">
                <a16:creationId xmlns:a16="http://schemas.microsoft.com/office/drawing/2014/main" id="{2DED57D5-A5BD-9306-E260-B170B540C5E6}"/>
              </a:ext>
            </a:extLst>
          </p:cNvPr>
          <p:cNvSpPr>
            <a:spLocks noGrp="1"/>
          </p:cNvSpPr>
          <p:nvPr>
            <p:ph type="dt" sz="half" idx="10"/>
          </p:nvPr>
        </p:nvSpPr>
        <p:spPr/>
        <p:txBody>
          <a:bodyPr/>
          <a:lstStyle/>
          <a:p>
            <a:fld id="{DB6E570B-6B9A-4FD1-BA6E-2F851D20D75C}" type="datetime1">
              <a:rPr lang="en-US" smtClean="0"/>
              <a:t>7/25/2025</a:t>
            </a:fld>
            <a:endParaRPr lang="en-US"/>
          </a:p>
        </p:txBody>
      </p:sp>
      <p:sp>
        <p:nvSpPr>
          <p:cNvPr id="5" name="Slide Number Placeholder 4">
            <a:extLst>
              <a:ext uri="{FF2B5EF4-FFF2-40B4-BE49-F238E27FC236}">
                <a16:creationId xmlns:a16="http://schemas.microsoft.com/office/drawing/2014/main" id="{26A64FCC-CBD1-1013-6B64-404DEE3B855D}"/>
              </a:ext>
            </a:extLst>
          </p:cNvPr>
          <p:cNvSpPr>
            <a:spLocks noGrp="1"/>
          </p:cNvSpPr>
          <p:nvPr>
            <p:ph type="sldNum" sz="quarter" idx="12"/>
          </p:nvPr>
        </p:nvSpPr>
        <p:spPr/>
        <p:txBody>
          <a:bodyPr/>
          <a:lstStyle/>
          <a:p>
            <a:fld id="{F66C9141-23B4-4FD3-80FD-4E1CB454F295}" type="slidenum">
              <a:rPr lang="en-US" smtClean="0"/>
              <a:t>14</a:t>
            </a:fld>
            <a:endParaRPr lang="en-US"/>
          </a:p>
        </p:txBody>
      </p:sp>
    </p:spTree>
    <p:extLst>
      <p:ext uri="{BB962C8B-B14F-4D97-AF65-F5344CB8AC3E}">
        <p14:creationId xmlns:p14="http://schemas.microsoft.com/office/powerpoint/2010/main" val="211329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D23558-10EF-EEA9-14AD-A4C47F3DC832}"/>
              </a:ext>
            </a:extLst>
          </p:cNvPr>
          <p:cNvSpPr>
            <a:spLocks noGrp="1"/>
          </p:cNvSpPr>
          <p:nvPr>
            <p:ph type="title"/>
          </p:nvPr>
        </p:nvSpPr>
        <p:spPr>
          <a:xfrm>
            <a:off x="742950" y="742951"/>
            <a:ext cx="3476625" cy="4962524"/>
          </a:xfrm>
        </p:spPr>
        <p:txBody>
          <a:bodyPr vert="horz" lIns="91440" tIns="45720" rIns="91440" bIns="45720" rtlCol="0" anchor="ctr">
            <a:normAutofit/>
          </a:bodyPr>
          <a:lstStyle/>
          <a:p>
            <a:pPr algn="ctr"/>
            <a:r>
              <a:rPr lang="en-US" b="1" kern="1200" dirty="0">
                <a:solidFill>
                  <a:srgbClr val="FFFFFF"/>
                </a:solidFill>
                <a:latin typeface="+mj-lt"/>
                <a:ea typeface="+mj-ea"/>
                <a:cs typeface="+mj-cs"/>
              </a:rPr>
              <a:t>ANNOTATION GUIDELINE:</a:t>
            </a:r>
            <a:br>
              <a:rPr lang="en-US" b="1" kern="1200" dirty="0">
                <a:solidFill>
                  <a:srgbClr val="FFFFFF"/>
                </a:solidFill>
                <a:latin typeface="+mj-lt"/>
                <a:ea typeface="+mj-ea"/>
                <a:cs typeface="+mj-cs"/>
              </a:rPr>
            </a:br>
            <a:r>
              <a:rPr lang="en-US" b="1" kern="1200" dirty="0">
                <a:solidFill>
                  <a:srgbClr val="FFFFFF"/>
                </a:solidFill>
                <a:latin typeface="+mj-lt"/>
                <a:ea typeface="+mj-ea"/>
                <a:cs typeface="+mj-cs"/>
              </a:rPr>
              <a:t>PSEUDOCODE</a:t>
            </a:r>
          </a:p>
        </p:txBody>
      </p:sp>
      <p:pic>
        <p:nvPicPr>
          <p:cNvPr id="5" name="Content Placeholder 4">
            <a:extLst>
              <a:ext uri="{FF2B5EF4-FFF2-40B4-BE49-F238E27FC236}">
                <a16:creationId xmlns:a16="http://schemas.microsoft.com/office/drawing/2014/main" id="{B074B427-4874-D679-9635-D72F97193FCC}"/>
              </a:ext>
            </a:extLst>
          </p:cNvPr>
          <p:cNvPicPr>
            <a:picLocks noGrp="1" noChangeAspect="1"/>
          </p:cNvPicPr>
          <p:nvPr>
            <p:ph idx="1"/>
          </p:nvPr>
        </p:nvPicPr>
        <p:blipFill>
          <a:blip r:embed="rId2"/>
          <a:stretch>
            <a:fillRect/>
          </a:stretch>
        </p:blipFill>
        <p:spPr>
          <a:xfrm>
            <a:off x="6129733" y="492573"/>
            <a:ext cx="4822285" cy="5880796"/>
          </a:xfrm>
          <a:prstGeom prst="rect">
            <a:avLst/>
          </a:prstGeom>
        </p:spPr>
      </p:pic>
      <p:sp>
        <p:nvSpPr>
          <p:cNvPr id="3" name="Date Placeholder 2">
            <a:extLst>
              <a:ext uri="{FF2B5EF4-FFF2-40B4-BE49-F238E27FC236}">
                <a16:creationId xmlns:a16="http://schemas.microsoft.com/office/drawing/2014/main" id="{F6EC0094-3BF0-09CE-62BF-02E66FF89C22}"/>
              </a:ext>
            </a:extLst>
          </p:cNvPr>
          <p:cNvSpPr>
            <a:spLocks noGrp="1"/>
          </p:cNvSpPr>
          <p:nvPr>
            <p:ph type="dt" sz="half" idx="10"/>
          </p:nvPr>
        </p:nvSpPr>
        <p:spPr/>
        <p:txBody>
          <a:bodyPr/>
          <a:lstStyle/>
          <a:p>
            <a:fld id="{20945899-74AD-4CB7-B9C0-6EFE2AE85D6F}" type="datetime1">
              <a:rPr lang="en-US" smtClean="0"/>
              <a:t>7/25/2025</a:t>
            </a:fld>
            <a:endParaRPr lang="en-US"/>
          </a:p>
        </p:txBody>
      </p:sp>
      <p:sp>
        <p:nvSpPr>
          <p:cNvPr id="4" name="Slide Number Placeholder 3">
            <a:extLst>
              <a:ext uri="{FF2B5EF4-FFF2-40B4-BE49-F238E27FC236}">
                <a16:creationId xmlns:a16="http://schemas.microsoft.com/office/drawing/2014/main" id="{357CD4B5-D5E5-8809-4EA2-7C2662F8A542}"/>
              </a:ext>
            </a:extLst>
          </p:cNvPr>
          <p:cNvSpPr>
            <a:spLocks noGrp="1"/>
          </p:cNvSpPr>
          <p:nvPr>
            <p:ph type="sldNum" sz="quarter" idx="12"/>
          </p:nvPr>
        </p:nvSpPr>
        <p:spPr/>
        <p:txBody>
          <a:bodyPr/>
          <a:lstStyle/>
          <a:p>
            <a:fld id="{F66C9141-23B4-4FD3-80FD-4E1CB454F295}" type="slidenum">
              <a:rPr lang="en-US" smtClean="0"/>
              <a:t>15</a:t>
            </a:fld>
            <a:endParaRPr lang="en-US"/>
          </a:p>
        </p:txBody>
      </p:sp>
    </p:spTree>
    <p:extLst>
      <p:ext uri="{BB962C8B-B14F-4D97-AF65-F5344CB8AC3E}">
        <p14:creationId xmlns:p14="http://schemas.microsoft.com/office/powerpoint/2010/main" val="2874647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048A37E-A3F0-713A-E774-1BD9F3574625}"/>
              </a:ext>
            </a:extLst>
          </p:cNvPr>
          <p:cNvPicPr>
            <a:picLocks noChangeAspect="1"/>
          </p:cNvPicPr>
          <p:nvPr/>
        </p:nvPicPr>
        <p:blipFill>
          <a:blip r:embed="rId2"/>
          <a:stretch>
            <a:fillRect/>
          </a:stretch>
        </p:blipFill>
        <p:spPr>
          <a:xfrm>
            <a:off x="5992682" y="1864129"/>
            <a:ext cx="3978102" cy="4075570"/>
          </a:xfrm>
          <a:prstGeom prst="rect">
            <a:avLst/>
          </a:prstGeom>
        </p:spPr>
      </p:pic>
      <p:pic>
        <p:nvPicPr>
          <p:cNvPr id="9" name="Picture 8">
            <a:extLst>
              <a:ext uri="{FF2B5EF4-FFF2-40B4-BE49-F238E27FC236}">
                <a16:creationId xmlns:a16="http://schemas.microsoft.com/office/drawing/2014/main" id="{55641319-2C7D-169D-88A8-686DDAB9EF6B}"/>
              </a:ext>
            </a:extLst>
          </p:cNvPr>
          <p:cNvPicPr>
            <a:picLocks noChangeAspect="1"/>
          </p:cNvPicPr>
          <p:nvPr/>
        </p:nvPicPr>
        <p:blipFill>
          <a:blip r:embed="rId3"/>
          <a:stretch>
            <a:fillRect/>
          </a:stretch>
        </p:blipFill>
        <p:spPr>
          <a:xfrm>
            <a:off x="672226" y="1598923"/>
            <a:ext cx="4340838" cy="4340776"/>
          </a:xfrm>
          <a:prstGeom prst="rect">
            <a:avLst/>
          </a:prstGeom>
        </p:spPr>
      </p:pic>
      <p:sp>
        <p:nvSpPr>
          <p:cNvPr id="13" name="TextBox 12">
            <a:extLst>
              <a:ext uri="{FF2B5EF4-FFF2-40B4-BE49-F238E27FC236}">
                <a16:creationId xmlns:a16="http://schemas.microsoft.com/office/drawing/2014/main" id="{C2C080CB-FE95-13C8-2E07-E29EC47A5DCF}"/>
              </a:ext>
            </a:extLst>
          </p:cNvPr>
          <p:cNvSpPr txBox="1"/>
          <p:nvPr/>
        </p:nvSpPr>
        <p:spPr>
          <a:xfrm>
            <a:off x="2182091" y="1229591"/>
            <a:ext cx="2029274" cy="523220"/>
          </a:xfrm>
          <a:prstGeom prst="rect">
            <a:avLst/>
          </a:prstGeom>
          <a:noFill/>
        </p:spPr>
        <p:txBody>
          <a:bodyPr wrap="square" rtlCol="0">
            <a:spAutoFit/>
          </a:bodyPr>
          <a:lstStyle/>
          <a:p>
            <a:r>
              <a:rPr lang="en-US" sz="2800" b="1" dirty="0"/>
              <a:t>Sarcasm</a:t>
            </a:r>
          </a:p>
        </p:txBody>
      </p:sp>
      <p:sp>
        <p:nvSpPr>
          <p:cNvPr id="15" name="TextBox 14">
            <a:extLst>
              <a:ext uri="{FF2B5EF4-FFF2-40B4-BE49-F238E27FC236}">
                <a16:creationId xmlns:a16="http://schemas.microsoft.com/office/drawing/2014/main" id="{DC901F0C-970F-BFA0-9243-73AB352FC4AF}"/>
              </a:ext>
            </a:extLst>
          </p:cNvPr>
          <p:cNvSpPr txBox="1"/>
          <p:nvPr/>
        </p:nvSpPr>
        <p:spPr>
          <a:xfrm>
            <a:off x="6605154" y="1132609"/>
            <a:ext cx="3216749" cy="523220"/>
          </a:xfrm>
          <a:prstGeom prst="rect">
            <a:avLst/>
          </a:prstGeom>
          <a:noFill/>
        </p:spPr>
        <p:txBody>
          <a:bodyPr wrap="square" rtlCol="0">
            <a:spAutoFit/>
          </a:bodyPr>
          <a:lstStyle/>
          <a:p>
            <a:r>
              <a:rPr lang="en-US" sz="2800" b="1" dirty="0"/>
              <a:t>Mix-type Emotions</a:t>
            </a:r>
          </a:p>
        </p:txBody>
      </p:sp>
      <p:sp>
        <p:nvSpPr>
          <p:cNvPr id="2" name="Date Placeholder 1">
            <a:extLst>
              <a:ext uri="{FF2B5EF4-FFF2-40B4-BE49-F238E27FC236}">
                <a16:creationId xmlns:a16="http://schemas.microsoft.com/office/drawing/2014/main" id="{3080A1F0-CE02-F6A8-5F41-3648732C7511}"/>
              </a:ext>
            </a:extLst>
          </p:cNvPr>
          <p:cNvSpPr>
            <a:spLocks noGrp="1"/>
          </p:cNvSpPr>
          <p:nvPr>
            <p:ph type="dt" sz="half" idx="10"/>
          </p:nvPr>
        </p:nvSpPr>
        <p:spPr/>
        <p:txBody>
          <a:bodyPr/>
          <a:lstStyle/>
          <a:p>
            <a:fld id="{CE8552B4-7F8C-4681-9406-184B6A9FBBE6}" type="datetime1">
              <a:rPr lang="en-US" smtClean="0"/>
              <a:t>7/25/2025</a:t>
            </a:fld>
            <a:endParaRPr lang="en-US"/>
          </a:p>
        </p:txBody>
      </p:sp>
      <p:sp>
        <p:nvSpPr>
          <p:cNvPr id="3" name="Slide Number Placeholder 2">
            <a:extLst>
              <a:ext uri="{FF2B5EF4-FFF2-40B4-BE49-F238E27FC236}">
                <a16:creationId xmlns:a16="http://schemas.microsoft.com/office/drawing/2014/main" id="{5E8C3CF2-1E2A-55D0-4126-50764C1EF922}"/>
              </a:ext>
            </a:extLst>
          </p:cNvPr>
          <p:cNvSpPr>
            <a:spLocks noGrp="1"/>
          </p:cNvSpPr>
          <p:nvPr>
            <p:ph type="sldNum" sz="quarter" idx="12"/>
          </p:nvPr>
        </p:nvSpPr>
        <p:spPr/>
        <p:txBody>
          <a:bodyPr/>
          <a:lstStyle/>
          <a:p>
            <a:fld id="{F66C9141-23B4-4FD3-80FD-4E1CB454F295}" type="slidenum">
              <a:rPr lang="en-US" smtClean="0"/>
              <a:t>16</a:t>
            </a:fld>
            <a:endParaRPr lang="en-US"/>
          </a:p>
        </p:txBody>
      </p:sp>
    </p:spTree>
    <p:extLst>
      <p:ext uri="{BB962C8B-B14F-4D97-AF65-F5344CB8AC3E}">
        <p14:creationId xmlns:p14="http://schemas.microsoft.com/office/powerpoint/2010/main" val="2050133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2FF0460-0BD4-7105-A84A-894B1C9309FF}"/>
              </a:ext>
            </a:extLst>
          </p:cNvPr>
          <p:cNvSpPr>
            <a:spLocks noGrp="1"/>
          </p:cNvSpPr>
          <p:nvPr>
            <p:ph type="title"/>
          </p:nvPr>
        </p:nvSpPr>
        <p:spPr>
          <a:xfrm>
            <a:off x="6657715" y="467271"/>
            <a:ext cx="4195674" cy="2052522"/>
          </a:xfrm>
        </p:spPr>
        <p:txBody>
          <a:bodyPr anchor="b">
            <a:normAutofit/>
          </a:bodyPr>
          <a:lstStyle/>
          <a:p>
            <a:r>
              <a:rPr lang="en-US" sz="5600" b="1" dirty="0"/>
              <a:t>AGREEMENT ASSESMENT</a:t>
            </a:r>
          </a:p>
        </p:txBody>
      </p:sp>
      <p:sp>
        <p:nvSpPr>
          <p:cNvPr id="25" name="Oval 24">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5614C7C0-FA1D-4105-8345-1DF76F9870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2753" y="703679"/>
            <a:ext cx="753718" cy="1016562"/>
            <a:chOff x="422753" y="703679"/>
            <a:chExt cx="753718" cy="1016562"/>
          </a:xfrm>
        </p:grpSpPr>
        <p:sp>
          <p:nvSpPr>
            <p:cNvPr id="1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27"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grpSp>
      <p:pic>
        <p:nvPicPr>
          <p:cNvPr id="7" name="Graphic 6" descr="Handshake">
            <a:extLst>
              <a:ext uri="{FF2B5EF4-FFF2-40B4-BE49-F238E27FC236}">
                <a16:creationId xmlns:a16="http://schemas.microsoft.com/office/drawing/2014/main" id="{0F8599B8-A464-DFE5-509E-1313410A2BD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7770" y="1448957"/>
            <a:ext cx="3952579" cy="3952579"/>
          </a:xfrm>
          <a:prstGeom prst="rect">
            <a:avLst/>
          </a:prstGeom>
        </p:spPr>
      </p:pic>
      <p:sp>
        <p:nvSpPr>
          <p:cNvPr id="3" name="Content Placeholder 2">
            <a:extLst>
              <a:ext uri="{FF2B5EF4-FFF2-40B4-BE49-F238E27FC236}">
                <a16:creationId xmlns:a16="http://schemas.microsoft.com/office/drawing/2014/main" id="{9910E5AC-D163-469A-6DD3-4879973131ED}"/>
              </a:ext>
            </a:extLst>
          </p:cNvPr>
          <p:cNvSpPr>
            <a:spLocks noGrp="1"/>
          </p:cNvSpPr>
          <p:nvPr>
            <p:ph idx="1"/>
          </p:nvPr>
        </p:nvSpPr>
        <p:spPr>
          <a:xfrm>
            <a:off x="6224155" y="2665962"/>
            <a:ext cx="5070760" cy="3238728"/>
          </a:xfrm>
        </p:spPr>
        <p:txBody>
          <a:bodyPr anchor="t">
            <a:normAutofit/>
          </a:bodyPr>
          <a:lstStyle/>
          <a:p>
            <a:endParaRPr lang="en-US" sz="2000" b="0" i="0" u="none" strike="noStrike" baseline="0" dirty="0">
              <a:solidFill>
                <a:schemeClr val="tx1">
                  <a:alpha val="80000"/>
                </a:schemeClr>
              </a:solidFill>
              <a:latin typeface="NimbusRomNo9L-Regu"/>
            </a:endParaRPr>
          </a:p>
          <a:p>
            <a:r>
              <a:rPr lang="en-US" sz="2000" b="0" i="0" u="none" strike="noStrike" baseline="0" dirty="0">
                <a:solidFill>
                  <a:schemeClr val="tx1">
                    <a:alpha val="80000"/>
                  </a:schemeClr>
                </a:solidFill>
                <a:latin typeface="NimbusRomNo9L-Regu"/>
              </a:rPr>
              <a:t>The general agreement score: </a:t>
            </a:r>
            <a:r>
              <a:rPr lang="en-US" sz="2000" dirty="0">
                <a:solidFill>
                  <a:schemeClr val="tx1">
                    <a:alpha val="80000"/>
                  </a:schemeClr>
                </a:solidFill>
                <a:latin typeface="NimbusRomNo9L-Regu"/>
              </a:rPr>
              <a:t>74.01</a:t>
            </a:r>
            <a:r>
              <a:rPr lang="en-US" sz="2000" b="0" i="0" u="none" strike="noStrike" baseline="0" dirty="0">
                <a:solidFill>
                  <a:schemeClr val="tx1">
                    <a:alpha val="80000"/>
                  </a:schemeClr>
                </a:solidFill>
                <a:latin typeface="NimbusRomNo9L-Regu"/>
              </a:rPr>
              <a:t>%</a:t>
            </a:r>
          </a:p>
          <a:p>
            <a:r>
              <a:rPr lang="en-US" sz="2000" dirty="0">
                <a:solidFill>
                  <a:schemeClr val="tx1">
                    <a:alpha val="80000"/>
                  </a:schemeClr>
                </a:solidFill>
                <a:latin typeface="NimbusRomNo9L-Regu"/>
              </a:rPr>
              <a:t>Fleiss’ Kappa score: 59.4%</a:t>
            </a:r>
          </a:p>
          <a:p>
            <a:endParaRPr lang="en-US" sz="2000" dirty="0">
              <a:solidFill>
                <a:schemeClr val="tx1">
                  <a:alpha val="80000"/>
                </a:schemeClr>
              </a:solidFill>
              <a:latin typeface="NimbusRomNo9L-Regu"/>
            </a:endParaRPr>
          </a:p>
          <a:p>
            <a:endParaRPr lang="en-US" sz="2000" dirty="0">
              <a:solidFill>
                <a:schemeClr val="tx1">
                  <a:alpha val="80000"/>
                </a:schemeClr>
              </a:solidFill>
            </a:endParaRPr>
          </a:p>
        </p:txBody>
      </p:sp>
      <p:sp>
        <p:nvSpPr>
          <p:cNvPr id="2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29" name="Straight Connector 28">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215FC430-6199-1B92-A322-3AF67CF8BC45}"/>
              </a:ext>
            </a:extLst>
          </p:cNvPr>
          <p:cNvSpPr>
            <a:spLocks noGrp="1"/>
          </p:cNvSpPr>
          <p:nvPr>
            <p:ph type="dt" sz="half" idx="10"/>
          </p:nvPr>
        </p:nvSpPr>
        <p:spPr/>
        <p:txBody>
          <a:bodyPr/>
          <a:lstStyle/>
          <a:p>
            <a:fld id="{5BC9D85C-5356-4F62-8A75-3A9BB3972AB4}" type="datetime1">
              <a:rPr lang="en-US" smtClean="0"/>
              <a:t>7/25/2025</a:t>
            </a:fld>
            <a:endParaRPr lang="en-US"/>
          </a:p>
        </p:txBody>
      </p:sp>
      <p:sp>
        <p:nvSpPr>
          <p:cNvPr id="5" name="Slide Number Placeholder 4">
            <a:extLst>
              <a:ext uri="{FF2B5EF4-FFF2-40B4-BE49-F238E27FC236}">
                <a16:creationId xmlns:a16="http://schemas.microsoft.com/office/drawing/2014/main" id="{BFD1FED1-3F83-28FA-7457-3E48B766D92C}"/>
              </a:ext>
            </a:extLst>
          </p:cNvPr>
          <p:cNvSpPr>
            <a:spLocks noGrp="1"/>
          </p:cNvSpPr>
          <p:nvPr>
            <p:ph type="sldNum" sz="quarter" idx="12"/>
          </p:nvPr>
        </p:nvSpPr>
        <p:spPr/>
        <p:txBody>
          <a:bodyPr/>
          <a:lstStyle/>
          <a:p>
            <a:fld id="{F66C9141-23B4-4FD3-80FD-4E1CB454F295}" type="slidenum">
              <a:rPr lang="en-US" smtClean="0"/>
              <a:t>17</a:t>
            </a:fld>
            <a:endParaRPr lang="en-US"/>
          </a:p>
        </p:txBody>
      </p:sp>
    </p:spTree>
    <p:extLst>
      <p:ext uri="{BB962C8B-B14F-4D97-AF65-F5344CB8AC3E}">
        <p14:creationId xmlns:p14="http://schemas.microsoft.com/office/powerpoint/2010/main" val="2430402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6F061F1-E699-4F30-CC4B-E96624119660}"/>
              </a:ext>
            </a:extLst>
          </p:cNvPr>
          <p:cNvPicPr>
            <a:picLocks noChangeAspect="1"/>
          </p:cNvPicPr>
          <p:nvPr/>
        </p:nvPicPr>
        <p:blipFill>
          <a:blip r:embed="rId2"/>
          <a:srcRect t="28685" b="13623"/>
          <a:stretch/>
        </p:blipFill>
        <p:spPr>
          <a:xfrm>
            <a:off x="3" y="10"/>
            <a:ext cx="12191997" cy="6857988"/>
          </a:xfrm>
          <a:prstGeom prst="rect">
            <a:avLst/>
          </a:prstGeom>
        </p:spPr>
      </p:pic>
      <p:sp>
        <p:nvSpPr>
          <p:cNvPr id="9" name="Rectangle 8">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35031" y="2213145"/>
            <a:ext cx="6864098" cy="2425614"/>
          </a:xfrm>
          <a:prstGeom prst="rect">
            <a:avLst/>
          </a:prstGeom>
          <a:gradFill>
            <a:gsLst>
              <a:gs pos="0">
                <a:schemeClr val="accent5">
                  <a:lumMod val="60000"/>
                  <a:lumOff val="40000"/>
                </a:schemeClr>
              </a:gs>
              <a:gs pos="43000">
                <a:schemeClr val="accent2">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162550" y="0"/>
            <a:ext cx="7048678" cy="6858000"/>
          </a:xfrm>
          <a:prstGeom prst="rect">
            <a:avLst/>
          </a:prstGeom>
          <a:gradFill flip="none" rotWithShape="1">
            <a:gsLst>
              <a:gs pos="19000">
                <a:srgbClr val="000000">
                  <a:alpha val="59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286455" y="-60677"/>
            <a:ext cx="6864096" cy="6985449"/>
          </a:xfrm>
          <a:prstGeom prst="rect">
            <a:avLst/>
          </a:prstGeom>
          <a:gradFill flip="none" rotWithShape="1">
            <a:gsLst>
              <a:gs pos="0">
                <a:schemeClr val="accent5"/>
              </a:gs>
              <a:gs pos="64000">
                <a:schemeClr val="accent2">
                  <a:alpha val="0"/>
                </a:schemeClr>
              </a:gs>
            </a:gsLst>
            <a:lin ang="7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01EB5855-8EB7-1AE5-9030-5D0AA3C1A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695591" y="-647892"/>
            <a:ext cx="2839273" cy="12192001"/>
          </a:xfrm>
          <a:prstGeom prst="rect">
            <a:avLst/>
          </a:prstGeom>
          <a:gradFill>
            <a:gsLst>
              <a:gs pos="0">
                <a:schemeClr val="accent2"/>
              </a:gs>
              <a:gs pos="53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F8140B-90B3-3EEE-87AF-5ABA6B68526B}"/>
              </a:ext>
            </a:extLst>
          </p:cNvPr>
          <p:cNvSpPr>
            <a:spLocks noGrp="1"/>
          </p:cNvSpPr>
          <p:nvPr>
            <p:ph type="title"/>
          </p:nvPr>
        </p:nvSpPr>
        <p:spPr>
          <a:xfrm>
            <a:off x="7731468" y="2138209"/>
            <a:ext cx="3712820" cy="2839273"/>
          </a:xfrm>
        </p:spPr>
        <p:txBody>
          <a:bodyPr vert="horz" lIns="91440" tIns="45720" rIns="91440" bIns="45720" rtlCol="0" anchor="b">
            <a:normAutofit/>
          </a:bodyPr>
          <a:lstStyle/>
          <a:p>
            <a:r>
              <a:rPr lang="en-US" sz="3600" b="1" dirty="0">
                <a:solidFill>
                  <a:srgbClr val="FFFFFF"/>
                </a:solidFill>
              </a:rPr>
              <a:t>METHODOLOGY</a:t>
            </a:r>
          </a:p>
        </p:txBody>
      </p:sp>
      <p:sp>
        <p:nvSpPr>
          <p:cNvPr id="3" name="Date Placeholder 2">
            <a:extLst>
              <a:ext uri="{FF2B5EF4-FFF2-40B4-BE49-F238E27FC236}">
                <a16:creationId xmlns:a16="http://schemas.microsoft.com/office/drawing/2014/main" id="{288E00ED-DF76-F4C8-AFB3-CCB9EA4DB003}"/>
              </a:ext>
            </a:extLst>
          </p:cNvPr>
          <p:cNvSpPr>
            <a:spLocks noGrp="1"/>
          </p:cNvSpPr>
          <p:nvPr>
            <p:ph type="dt" sz="half" idx="10"/>
          </p:nvPr>
        </p:nvSpPr>
        <p:spPr/>
        <p:txBody>
          <a:bodyPr/>
          <a:lstStyle/>
          <a:p>
            <a:fld id="{84705DE0-F9DD-462C-B082-80A1C8C645CE}" type="datetime1">
              <a:rPr lang="en-US" smtClean="0"/>
              <a:t>7/25/2025</a:t>
            </a:fld>
            <a:endParaRPr lang="en-US"/>
          </a:p>
        </p:txBody>
      </p:sp>
      <p:sp>
        <p:nvSpPr>
          <p:cNvPr id="4" name="Slide Number Placeholder 3">
            <a:extLst>
              <a:ext uri="{FF2B5EF4-FFF2-40B4-BE49-F238E27FC236}">
                <a16:creationId xmlns:a16="http://schemas.microsoft.com/office/drawing/2014/main" id="{E1DCF3D9-17E6-E148-C905-6849738FECAB}"/>
              </a:ext>
            </a:extLst>
          </p:cNvPr>
          <p:cNvSpPr>
            <a:spLocks noGrp="1"/>
          </p:cNvSpPr>
          <p:nvPr>
            <p:ph type="sldNum" sz="quarter" idx="12"/>
          </p:nvPr>
        </p:nvSpPr>
        <p:spPr/>
        <p:txBody>
          <a:bodyPr/>
          <a:lstStyle/>
          <a:p>
            <a:fld id="{F66C9141-23B4-4FD3-80FD-4E1CB454F295}" type="slidenum">
              <a:rPr lang="en-US" smtClean="0"/>
              <a:t>18</a:t>
            </a:fld>
            <a:endParaRPr lang="en-US"/>
          </a:p>
        </p:txBody>
      </p:sp>
    </p:spTree>
    <p:extLst>
      <p:ext uri="{BB962C8B-B14F-4D97-AF65-F5344CB8AC3E}">
        <p14:creationId xmlns:p14="http://schemas.microsoft.com/office/powerpoint/2010/main" val="1561349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ngled shot of pen on a graph">
            <a:extLst>
              <a:ext uri="{FF2B5EF4-FFF2-40B4-BE49-F238E27FC236}">
                <a16:creationId xmlns:a16="http://schemas.microsoft.com/office/drawing/2014/main" id="{CC0D5550-9E4F-2889-77E8-B81906713A8A}"/>
              </a:ext>
            </a:extLst>
          </p:cNvPr>
          <p:cNvPicPr>
            <a:picLocks noChangeAspect="1"/>
          </p:cNvPicPr>
          <p:nvPr/>
        </p:nvPicPr>
        <p:blipFill>
          <a:blip r:embed="rId2"/>
          <a:srcRect r="5882" b="-1"/>
          <a:stretch/>
        </p:blipFill>
        <p:spPr>
          <a:xfrm>
            <a:off x="2522356" y="10"/>
            <a:ext cx="9669642" cy="6857990"/>
          </a:xfrm>
          <a:prstGeom prst="rect">
            <a:avLst/>
          </a:prstGeom>
        </p:spPr>
      </p:pic>
      <p:sp>
        <p:nvSpPr>
          <p:cNvPr id="21" name="Rectangle 2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F5FE88-DB8A-5098-2401-455E60F4739D}"/>
              </a:ext>
            </a:extLst>
          </p:cNvPr>
          <p:cNvSpPr>
            <a:spLocks noGrp="1"/>
          </p:cNvSpPr>
          <p:nvPr>
            <p:ph type="title"/>
          </p:nvPr>
        </p:nvSpPr>
        <p:spPr>
          <a:xfrm>
            <a:off x="838200" y="365125"/>
            <a:ext cx="3822189" cy="1899912"/>
          </a:xfrm>
        </p:spPr>
        <p:txBody>
          <a:bodyPr>
            <a:normAutofit/>
          </a:bodyPr>
          <a:lstStyle/>
          <a:p>
            <a:r>
              <a:rPr lang="en-US" sz="4000" b="1" dirty="0">
                <a:latin typeface="NimbusRomNo9L-Regu"/>
              </a:rPr>
              <a:t>R</a:t>
            </a:r>
            <a:r>
              <a:rPr lang="en-US" sz="4000" b="1" i="0" u="none" strike="noStrike" baseline="0" dirty="0">
                <a:latin typeface="NimbusRomNo9L-Regu"/>
              </a:rPr>
              <a:t>esearch </a:t>
            </a:r>
            <a:r>
              <a:rPr lang="en-US" sz="4000" b="1" dirty="0">
                <a:latin typeface="NimbusRomNo9L-Regu"/>
              </a:rPr>
              <a:t>O</a:t>
            </a:r>
            <a:r>
              <a:rPr lang="en-US" sz="4000" b="1" i="0" u="none" strike="noStrike" baseline="0" dirty="0">
                <a:latin typeface="NimbusRomNo9L-Regu"/>
              </a:rPr>
              <a:t>bjectives</a:t>
            </a:r>
            <a:endParaRPr lang="en-US" sz="4000" b="1" dirty="0"/>
          </a:p>
        </p:txBody>
      </p:sp>
      <p:sp>
        <p:nvSpPr>
          <p:cNvPr id="3" name="Content Placeholder 2">
            <a:extLst>
              <a:ext uri="{FF2B5EF4-FFF2-40B4-BE49-F238E27FC236}">
                <a16:creationId xmlns:a16="http://schemas.microsoft.com/office/drawing/2014/main" id="{41AF6888-11E9-FE8E-BC00-D8501CDA235A}"/>
              </a:ext>
            </a:extLst>
          </p:cNvPr>
          <p:cNvSpPr>
            <a:spLocks noGrp="1"/>
          </p:cNvSpPr>
          <p:nvPr>
            <p:ph idx="1"/>
          </p:nvPr>
        </p:nvSpPr>
        <p:spPr>
          <a:xfrm>
            <a:off x="838200" y="2434201"/>
            <a:ext cx="3822189" cy="3742762"/>
          </a:xfrm>
        </p:spPr>
        <p:txBody>
          <a:bodyPr>
            <a:normAutofit lnSpcReduction="10000"/>
          </a:bodyPr>
          <a:lstStyle/>
          <a:p>
            <a:pPr marL="0" indent="0">
              <a:buNone/>
            </a:pPr>
            <a:r>
              <a:rPr lang="en-US" sz="1900" b="0" i="0" u="none" strike="noStrike" baseline="0" dirty="0" err="1">
                <a:latin typeface="NimbusRomNo9L-Regu"/>
              </a:rPr>
              <a:t>i</a:t>
            </a:r>
            <a:r>
              <a:rPr lang="en-US" sz="1900" b="0" i="0" u="none" strike="noStrike" baseline="0" dirty="0">
                <a:latin typeface="NimbusRomNo9L-Regu"/>
              </a:rPr>
              <a:t>) To improve the success rates of sentiment analysis by transitioning from the Non-Contextual Model, which serves as the baseline, to the Contextual Model, utilizing the Couple Dialogue data.</a:t>
            </a:r>
          </a:p>
          <a:p>
            <a:endParaRPr lang="en-US" sz="1900" b="0" i="0" u="none" strike="noStrike" baseline="0" dirty="0">
              <a:latin typeface="NimbusRomNo9L-Regu"/>
            </a:endParaRPr>
          </a:p>
          <a:p>
            <a:endParaRPr lang="en-US" sz="1900" dirty="0">
              <a:latin typeface="NimbusRomNo9L-Regu"/>
            </a:endParaRPr>
          </a:p>
          <a:p>
            <a:pPr marL="0" indent="0">
              <a:buNone/>
            </a:pPr>
            <a:r>
              <a:rPr lang="en-US" sz="1900" b="0" i="0" u="none" strike="noStrike" baseline="0" dirty="0">
                <a:latin typeface="NimbusRomNo9L-Regu"/>
              </a:rPr>
              <a:t>ii) To enhance the success rates of sentiment analysis by applying additional preprocessing and morphological analysis for the Non-Contextual Model.</a:t>
            </a:r>
            <a:endParaRPr lang="en-US" sz="1900" dirty="0"/>
          </a:p>
        </p:txBody>
      </p:sp>
      <p:sp>
        <p:nvSpPr>
          <p:cNvPr id="4" name="Date Placeholder 3">
            <a:extLst>
              <a:ext uri="{FF2B5EF4-FFF2-40B4-BE49-F238E27FC236}">
                <a16:creationId xmlns:a16="http://schemas.microsoft.com/office/drawing/2014/main" id="{DA8663AB-8153-85FB-90F2-52CFD329C008}"/>
              </a:ext>
            </a:extLst>
          </p:cNvPr>
          <p:cNvSpPr>
            <a:spLocks noGrp="1"/>
          </p:cNvSpPr>
          <p:nvPr>
            <p:ph type="dt" sz="half" idx="10"/>
          </p:nvPr>
        </p:nvSpPr>
        <p:spPr/>
        <p:txBody>
          <a:bodyPr/>
          <a:lstStyle/>
          <a:p>
            <a:fld id="{11979417-1222-498C-8636-588DACE14F2A}" type="datetime1">
              <a:rPr lang="en-US" smtClean="0"/>
              <a:t>7/25/2025</a:t>
            </a:fld>
            <a:endParaRPr lang="en-US" dirty="0"/>
          </a:p>
        </p:txBody>
      </p:sp>
      <p:sp>
        <p:nvSpPr>
          <p:cNvPr id="6" name="Slide Number Placeholder 5">
            <a:extLst>
              <a:ext uri="{FF2B5EF4-FFF2-40B4-BE49-F238E27FC236}">
                <a16:creationId xmlns:a16="http://schemas.microsoft.com/office/drawing/2014/main" id="{A4A22737-13AC-062C-7112-A71AF9AA118F}"/>
              </a:ext>
            </a:extLst>
          </p:cNvPr>
          <p:cNvSpPr>
            <a:spLocks noGrp="1"/>
          </p:cNvSpPr>
          <p:nvPr>
            <p:ph type="sldNum" sz="quarter" idx="12"/>
          </p:nvPr>
        </p:nvSpPr>
        <p:spPr/>
        <p:txBody>
          <a:bodyPr/>
          <a:lstStyle/>
          <a:p>
            <a:fld id="{F66C9141-23B4-4FD3-80FD-4E1CB454F295}" type="slidenum">
              <a:rPr lang="en-US" smtClean="0"/>
              <a:t>19</a:t>
            </a:fld>
            <a:endParaRPr lang="en-US"/>
          </a:p>
        </p:txBody>
      </p:sp>
    </p:spTree>
    <p:extLst>
      <p:ext uri="{BB962C8B-B14F-4D97-AF65-F5344CB8AC3E}">
        <p14:creationId xmlns:p14="http://schemas.microsoft.com/office/powerpoint/2010/main" val="2944911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26A84AF-6F58-471A-BF1F-10D8C0351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91726C-9530-0522-DDBD-94FE4AD2FC04}"/>
              </a:ext>
            </a:extLst>
          </p:cNvPr>
          <p:cNvSpPr>
            <a:spLocks noGrp="1"/>
          </p:cNvSpPr>
          <p:nvPr>
            <p:ph type="title"/>
          </p:nvPr>
        </p:nvSpPr>
        <p:spPr>
          <a:xfrm>
            <a:off x="838200" y="728662"/>
            <a:ext cx="3785513" cy="3728853"/>
          </a:xfrm>
          <a:noFill/>
        </p:spPr>
        <p:txBody>
          <a:bodyPr vert="horz" lIns="91440" tIns="45720" rIns="91440" bIns="45720" rtlCol="0" anchor="b">
            <a:normAutofit/>
          </a:bodyPr>
          <a:lstStyle/>
          <a:p>
            <a:r>
              <a:rPr lang="en-US" sz="5200" b="1" i="0" u="none" strike="noStrike" baseline="0" dirty="0"/>
              <a:t>Non-Contextual Sentiment Detection Architecture</a:t>
            </a:r>
            <a:endParaRPr lang="en-US" sz="5200" b="1" dirty="0"/>
          </a:p>
        </p:txBody>
      </p:sp>
      <p:pic>
        <p:nvPicPr>
          <p:cNvPr id="13" name="Content Placeholder 12" descr="A diagram of a company">
            <a:extLst>
              <a:ext uri="{FF2B5EF4-FFF2-40B4-BE49-F238E27FC236}">
                <a16:creationId xmlns:a16="http://schemas.microsoft.com/office/drawing/2014/main" id="{8EC5E0D6-E4E9-328A-F493-6A43E3820C1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461" r="6" b="6"/>
          <a:stretch/>
        </p:blipFill>
        <p:spPr>
          <a:xfrm>
            <a:off x="5009505" y="10"/>
            <a:ext cx="7182495" cy="6857990"/>
          </a:xfrm>
          <a:prstGeom prst="rect">
            <a:avLst/>
          </a:prstGeom>
        </p:spPr>
      </p:pic>
      <p:sp>
        <p:nvSpPr>
          <p:cNvPr id="3" name="Date Placeholder 2">
            <a:extLst>
              <a:ext uri="{FF2B5EF4-FFF2-40B4-BE49-F238E27FC236}">
                <a16:creationId xmlns:a16="http://schemas.microsoft.com/office/drawing/2014/main" id="{2A033508-4319-F780-5420-D4AEC8F57622}"/>
              </a:ext>
            </a:extLst>
          </p:cNvPr>
          <p:cNvSpPr>
            <a:spLocks noGrp="1"/>
          </p:cNvSpPr>
          <p:nvPr>
            <p:ph type="dt" sz="half" idx="10"/>
          </p:nvPr>
        </p:nvSpPr>
        <p:spPr/>
        <p:txBody>
          <a:bodyPr/>
          <a:lstStyle/>
          <a:p>
            <a:fld id="{86D2874A-4EC2-4C3D-81D4-145127EFEA78}" type="datetime1">
              <a:rPr lang="en-US" smtClean="0"/>
              <a:t>7/25/2025</a:t>
            </a:fld>
            <a:endParaRPr lang="en-US"/>
          </a:p>
        </p:txBody>
      </p:sp>
      <p:sp>
        <p:nvSpPr>
          <p:cNvPr id="4" name="Slide Number Placeholder 3">
            <a:extLst>
              <a:ext uri="{FF2B5EF4-FFF2-40B4-BE49-F238E27FC236}">
                <a16:creationId xmlns:a16="http://schemas.microsoft.com/office/drawing/2014/main" id="{6A16E2EB-94D1-B9C8-FB08-D1EB1BA8EFA7}"/>
              </a:ext>
            </a:extLst>
          </p:cNvPr>
          <p:cNvSpPr>
            <a:spLocks noGrp="1"/>
          </p:cNvSpPr>
          <p:nvPr>
            <p:ph type="sldNum" sz="quarter" idx="12"/>
          </p:nvPr>
        </p:nvSpPr>
        <p:spPr/>
        <p:txBody>
          <a:bodyPr/>
          <a:lstStyle/>
          <a:p>
            <a:fld id="{F66C9141-23B4-4FD3-80FD-4E1CB454F295}" type="slidenum">
              <a:rPr lang="en-US" smtClean="0"/>
              <a:t>20</a:t>
            </a:fld>
            <a:endParaRPr lang="en-US"/>
          </a:p>
        </p:txBody>
      </p:sp>
    </p:spTree>
    <p:extLst>
      <p:ext uri="{BB962C8B-B14F-4D97-AF65-F5344CB8AC3E}">
        <p14:creationId xmlns:p14="http://schemas.microsoft.com/office/powerpoint/2010/main" val="862484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5202EA-122F-B703-9DDD-318F114C3F2D}"/>
              </a:ext>
            </a:extLst>
          </p:cNvPr>
          <p:cNvSpPr>
            <a:spLocks noGrp="1"/>
          </p:cNvSpPr>
          <p:nvPr>
            <p:ph type="title"/>
          </p:nvPr>
        </p:nvSpPr>
        <p:spPr>
          <a:xfrm>
            <a:off x="761800" y="762001"/>
            <a:ext cx="5334197" cy="1708242"/>
          </a:xfrm>
        </p:spPr>
        <p:txBody>
          <a:bodyPr anchor="ctr">
            <a:normAutofit/>
          </a:bodyPr>
          <a:lstStyle/>
          <a:p>
            <a:r>
              <a:rPr lang="en-US" sz="4000" b="1" dirty="0"/>
              <a:t>Morphological Parsing in Turkish</a:t>
            </a:r>
          </a:p>
        </p:txBody>
      </p:sp>
      <p:sp>
        <p:nvSpPr>
          <p:cNvPr id="4" name="Rectangle 1">
            <a:extLst>
              <a:ext uri="{FF2B5EF4-FFF2-40B4-BE49-F238E27FC236}">
                <a16:creationId xmlns:a16="http://schemas.microsoft.com/office/drawing/2014/main" id="{7E3523AF-246E-79FE-7EB4-4409DA6B8E49}"/>
              </a:ext>
            </a:extLst>
          </p:cNvPr>
          <p:cNvSpPr>
            <a:spLocks noGrp="1" noChangeArrowheads="1"/>
          </p:cNvSpPr>
          <p:nvPr>
            <p:ph idx="1"/>
          </p:nvPr>
        </p:nvSpPr>
        <p:spPr bwMode="auto">
          <a:xfrm>
            <a:off x="761800" y="2202874"/>
            <a:ext cx="5334197" cy="403720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300" b="0" i="0" u="none" strike="noStrike" cap="none" normalizeH="0" baseline="0" dirty="0">
                <a:ln>
                  <a:noFill/>
                </a:ln>
                <a:effectLst/>
                <a:latin typeface="Arial" panose="020B0604020202020204" pitchFamily="34" charset="0"/>
              </a:rPr>
              <a:t>Turkish has a rich morphological structure, which significantly impacts sentiment classification tasks.</a:t>
            </a:r>
          </a:p>
          <a:p>
            <a:pPr marL="0" marR="0" lvl="0" indent="0" defTabSz="914400" rtl="0" eaLnBrk="0" fontAlgn="base" latinLnBrk="0" hangingPunct="0">
              <a:spcBef>
                <a:spcPct val="0"/>
              </a:spcBef>
              <a:spcAft>
                <a:spcPts val="600"/>
              </a:spcAft>
              <a:buClrTx/>
              <a:buSzTx/>
              <a:buFontTx/>
              <a:buChar char="•"/>
              <a:tabLst/>
            </a:pPr>
            <a:r>
              <a:rPr kumimoji="0" lang="en-US" altLang="en-US" sz="1300" b="1" i="0" u="none" strike="noStrike" cap="none" normalizeH="0" baseline="0" dirty="0">
                <a:ln>
                  <a:noFill/>
                </a:ln>
                <a:effectLst/>
                <a:latin typeface="Arial" panose="020B0604020202020204" pitchFamily="34" charset="0"/>
              </a:rPr>
              <a:t>Tools Used:</a:t>
            </a:r>
            <a:endParaRPr kumimoji="0" lang="en-US" altLang="en-US" sz="1300" b="0" i="0" u="none" strike="noStrike" cap="none" normalizeH="0" baseline="0" dirty="0">
              <a:ln>
                <a:noFill/>
              </a:ln>
              <a:effectLst/>
              <a:latin typeface="Arial" panose="020B0604020202020204" pitchFamily="34" charset="0"/>
            </a:endParaRPr>
          </a:p>
          <a:p>
            <a:pPr marL="457200" lvl="1" indent="0" eaLnBrk="0" fontAlgn="base" hangingPunct="0">
              <a:spcBef>
                <a:spcPct val="0"/>
              </a:spcBef>
              <a:spcAft>
                <a:spcPts val="600"/>
              </a:spcAft>
              <a:buFontTx/>
              <a:buChar char="•"/>
            </a:pPr>
            <a:r>
              <a:rPr kumimoji="0" lang="en-US" altLang="en-US" sz="1300" b="1" i="0" u="none" strike="noStrike" cap="none" normalizeH="0" baseline="0" dirty="0" err="1">
                <a:ln>
                  <a:noFill/>
                </a:ln>
                <a:effectLst/>
                <a:latin typeface="Arial" panose="020B0604020202020204" pitchFamily="34" charset="0"/>
              </a:rPr>
              <a:t>Dilbaz</a:t>
            </a:r>
            <a:r>
              <a:rPr kumimoji="0" lang="en-US" altLang="en-US" sz="1300" b="1" i="0" u="none" strike="noStrike" cap="none" normalizeH="0" baseline="0" dirty="0">
                <a:ln>
                  <a:noFill/>
                </a:ln>
                <a:effectLst/>
                <a:latin typeface="Arial" panose="020B0604020202020204" pitchFamily="34" charset="0"/>
              </a:rPr>
              <a:t>:</a:t>
            </a:r>
            <a:r>
              <a:rPr kumimoji="0" lang="en-US" altLang="en-US" sz="1300" b="0" i="0" u="none" strike="noStrike" cap="none" normalizeH="0" baseline="0" dirty="0">
                <a:ln>
                  <a:noFill/>
                </a:ln>
                <a:effectLst/>
                <a:latin typeface="Arial" panose="020B0604020202020204" pitchFamily="34" charset="0"/>
              </a:rPr>
              <a:t> A morphological analyzer used for word and sentence-level analysis.</a:t>
            </a:r>
          </a:p>
          <a:p>
            <a:pPr marL="457200" lvl="1" indent="0" eaLnBrk="0" fontAlgn="base" hangingPunct="0">
              <a:spcBef>
                <a:spcPct val="0"/>
              </a:spcBef>
              <a:spcAft>
                <a:spcPts val="600"/>
              </a:spcAft>
              <a:buFontTx/>
              <a:buChar char="•"/>
            </a:pPr>
            <a:r>
              <a:rPr kumimoji="0" lang="en-US" altLang="en-US" sz="1300" b="1" i="0" u="none" strike="noStrike" cap="none" normalizeH="0" baseline="0" dirty="0">
                <a:ln>
                  <a:noFill/>
                </a:ln>
                <a:effectLst/>
                <a:latin typeface="Arial" panose="020B0604020202020204" pitchFamily="34" charset="0"/>
              </a:rPr>
              <a:t>Turkish </a:t>
            </a:r>
            <a:r>
              <a:rPr kumimoji="0" lang="en-US" altLang="en-US" sz="1300" b="1" i="0" u="none" strike="noStrike" cap="none" normalizeH="0" baseline="0" dirty="0" err="1">
                <a:ln>
                  <a:noFill/>
                </a:ln>
                <a:effectLst/>
                <a:latin typeface="Arial" panose="020B0604020202020204" pitchFamily="34" charset="0"/>
              </a:rPr>
              <a:t>SpellChecker</a:t>
            </a:r>
            <a:r>
              <a:rPr kumimoji="0" lang="en-US" altLang="en-US" sz="1300" b="1" i="0" u="none" strike="noStrike" cap="none" normalizeH="0" baseline="0" dirty="0">
                <a:ln>
                  <a:noFill/>
                </a:ln>
                <a:effectLst/>
                <a:latin typeface="Arial" panose="020B0604020202020204" pitchFamily="34" charset="0"/>
              </a:rPr>
              <a:t>:</a:t>
            </a:r>
            <a:r>
              <a:rPr kumimoji="0" lang="en-US" altLang="en-US" sz="1300" b="0" i="0" u="none" strike="noStrike" cap="none" normalizeH="0" baseline="0" dirty="0">
                <a:ln>
                  <a:noFill/>
                </a:ln>
                <a:effectLst/>
                <a:latin typeface="Arial" panose="020B0604020202020204" pitchFamily="34" charset="0"/>
              </a:rPr>
              <a:t> Corrected misspellings in unrecognizable words.</a:t>
            </a:r>
          </a:p>
          <a:p>
            <a:pPr marL="457200" lvl="1" indent="0" eaLnBrk="0" fontAlgn="base" hangingPunct="0">
              <a:spcBef>
                <a:spcPct val="0"/>
              </a:spcBef>
              <a:spcAft>
                <a:spcPts val="600"/>
              </a:spcAft>
              <a:buNone/>
            </a:pPr>
            <a:endParaRPr kumimoji="0" lang="en-US" altLang="en-US" sz="13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300" b="1" i="0" u="none" strike="noStrike" cap="none" normalizeH="0" baseline="0" dirty="0">
                <a:ln>
                  <a:noFill/>
                </a:ln>
                <a:effectLst/>
                <a:latin typeface="Arial" panose="020B0604020202020204" pitchFamily="34" charset="0"/>
              </a:rPr>
              <a:t>Key Morphemes Analyzed:</a:t>
            </a:r>
            <a:endParaRPr kumimoji="0" lang="en-US" altLang="en-US" sz="1300" b="0" i="0" u="none" strike="noStrike" cap="none" normalizeH="0" baseline="0" dirty="0">
              <a:ln>
                <a:noFill/>
              </a:ln>
              <a:effectLst/>
              <a:latin typeface="Arial" panose="020B0604020202020204" pitchFamily="34" charset="0"/>
            </a:endParaRPr>
          </a:p>
          <a:p>
            <a:pPr marL="457200" lvl="1" indent="0" eaLnBrk="0" fontAlgn="base" hangingPunct="0">
              <a:spcBef>
                <a:spcPct val="0"/>
              </a:spcBef>
              <a:spcAft>
                <a:spcPts val="600"/>
              </a:spcAft>
              <a:buFontTx/>
              <a:buChar char="•"/>
            </a:pPr>
            <a:r>
              <a:rPr kumimoji="0" lang="en-US" altLang="en-US" sz="1300" b="1" i="0" u="none" strike="noStrike" cap="none" normalizeH="0" baseline="0" dirty="0">
                <a:ln>
                  <a:noFill/>
                </a:ln>
                <a:effectLst/>
                <a:latin typeface="Arial" panose="020B0604020202020204" pitchFamily="34" charset="0"/>
              </a:rPr>
              <a:t>Negation:</a:t>
            </a:r>
            <a:r>
              <a:rPr kumimoji="0" lang="en-US" altLang="en-US" sz="1300" b="0" i="0" u="none" strike="noStrike" cap="none" normalizeH="0" baseline="0" dirty="0">
                <a:ln>
                  <a:noFill/>
                </a:ln>
                <a:effectLst/>
                <a:latin typeface="Arial" panose="020B0604020202020204" pitchFamily="34" charset="0"/>
              </a:rPr>
              <a:t> Identified using verbal and word morphemes like "ma/me" and "siz."</a:t>
            </a:r>
          </a:p>
          <a:p>
            <a:pPr marL="457200" lvl="1" indent="0" eaLnBrk="0" fontAlgn="base" hangingPunct="0">
              <a:spcBef>
                <a:spcPct val="0"/>
              </a:spcBef>
              <a:spcAft>
                <a:spcPts val="600"/>
              </a:spcAft>
              <a:buFontTx/>
              <a:buChar char="•"/>
            </a:pPr>
            <a:r>
              <a:rPr kumimoji="0" lang="en-US" altLang="en-US" sz="1300" b="1" i="0" u="none" strike="noStrike" cap="none" normalizeH="0" baseline="0" dirty="0">
                <a:ln>
                  <a:noFill/>
                </a:ln>
                <a:effectLst/>
                <a:latin typeface="Arial" panose="020B0604020202020204" pitchFamily="34" charset="0"/>
              </a:rPr>
              <a:t>Pity:</a:t>
            </a:r>
            <a:r>
              <a:rPr kumimoji="0" lang="en-US" altLang="en-US" sz="1300" b="0" i="0" u="none" strike="noStrike" cap="none" normalizeH="0" baseline="0" dirty="0">
                <a:ln>
                  <a:noFill/>
                </a:ln>
                <a:effectLst/>
                <a:latin typeface="Arial" panose="020B0604020202020204" pitchFamily="34" charset="0"/>
              </a:rPr>
              <a:t> Detected using the diminutive suffix "-</a:t>
            </a:r>
            <a:r>
              <a:rPr kumimoji="0" lang="en-US" altLang="en-US" sz="1300" b="0" i="0" u="none" strike="noStrike" cap="none" normalizeH="0" baseline="0" dirty="0" err="1">
                <a:ln>
                  <a:noFill/>
                </a:ln>
                <a:effectLst/>
                <a:latin typeface="Arial" panose="020B0604020202020204" pitchFamily="34" charset="0"/>
              </a:rPr>
              <a:t>cagız</a:t>
            </a:r>
            <a:r>
              <a:rPr kumimoji="0" lang="en-US" altLang="en-US" sz="1300" b="0" i="0" u="none" strike="noStrike" cap="none" normalizeH="0" baseline="0" dirty="0">
                <a:ln>
                  <a:noFill/>
                </a:ln>
                <a:effectLst/>
                <a:latin typeface="Arial" panose="020B0604020202020204" pitchFamily="34" charset="0"/>
              </a:rPr>
              <a:t>" (e.g., "</a:t>
            </a:r>
            <a:r>
              <a:rPr kumimoji="0" lang="en-US" altLang="en-US" sz="1300" b="0" i="0" u="none" strike="noStrike" cap="none" normalizeH="0" baseline="0" dirty="0" err="1">
                <a:ln>
                  <a:noFill/>
                </a:ln>
                <a:effectLst/>
                <a:latin typeface="Arial" panose="020B0604020202020204" pitchFamily="34" charset="0"/>
              </a:rPr>
              <a:t>çocukcagız</a:t>
            </a:r>
            <a:r>
              <a:rPr kumimoji="0" lang="en-US" altLang="en-US" sz="1300" b="0" i="0" u="none" strike="noStrike" cap="none" normalizeH="0" baseline="0" dirty="0">
                <a:ln>
                  <a:noFill/>
                </a:ln>
                <a:effectLst/>
                <a:latin typeface="Arial" panose="020B0604020202020204" pitchFamily="34" charset="0"/>
              </a:rPr>
              <a:t>" - poor child).</a:t>
            </a:r>
          </a:p>
          <a:p>
            <a:pPr marL="457200" lvl="1" indent="0" eaLnBrk="0" fontAlgn="base" hangingPunct="0">
              <a:spcBef>
                <a:spcPct val="0"/>
              </a:spcBef>
              <a:spcAft>
                <a:spcPts val="600"/>
              </a:spcAft>
              <a:buFontTx/>
              <a:buChar char="•"/>
            </a:pPr>
            <a:r>
              <a:rPr kumimoji="0" lang="en-US" altLang="en-US" sz="1300" b="1" i="0" u="none" strike="noStrike" cap="none" normalizeH="0" baseline="0" dirty="0">
                <a:ln>
                  <a:noFill/>
                </a:ln>
                <a:effectLst/>
                <a:latin typeface="Arial" panose="020B0604020202020204" pitchFamily="34" charset="0"/>
              </a:rPr>
              <a:t>Wishing:</a:t>
            </a:r>
            <a:r>
              <a:rPr kumimoji="0" lang="en-US" altLang="en-US" sz="1300" b="0" i="0" u="none" strike="noStrike" cap="none" normalizeH="0" baseline="0" dirty="0">
                <a:ln>
                  <a:noFill/>
                </a:ln>
                <a:effectLst/>
                <a:latin typeface="Arial" panose="020B0604020202020204" pitchFamily="34" charset="0"/>
              </a:rPr>
              <a:t> Identified using the conditional form (e.g., "</a:t>
            </a:r>
            <a:r>
              <a:rPr kumimoji="0" lang="en-US" altLang="en-US" sz="1300" b="0" i="0" u="none" strike="noStrike" cap="none" normalizeH="0" baseline="0" dirty="0" err="1">
                <a:ln>
                  <a:noFill/>
                </a:ln>
                <a:effectLst/>
                <a:latin typeface="Arial" panose="020B0604020202020204" pitchFamily="34" charset="0"/>
              </a:rPr>
              <a:t>keşke</a:t>
            </a:r>
            <a:r>
              <a:rPr kumimoji="0" lang="en-US" altLang="en-US" sz="1300" b="0" i="0" u="none" strike="noStrike" cap="none" normalizeH="0" baseline="0" dirty="0">
                <a:ln>
                  <a:noFill/>
                </a:ln>
                <a:effectLst/>
                <a:latin typeface="Arial" panose="020B0604020202020204" pitchFamily="34" charset="0"/>
              </a:rPr>
              <a:t> </a:t>
            </a:r>
            <a:r>
              <a:rPr kumimoji="0" lang="en-US" altLang="en-US" sz="1300" b="0" i="0" u="none" strike="noStrike" cap="none" normalizeH="0" baseline="0" dirty="0" err="1">
                <a:ln>
                  <a:noFill/>
                </a:ln>
                <a:effectLst/>
                <a:latin typeface="Arial" panose="020B0604020202020204" pitchFamily="34" charset="0"/>
              </a:rPr>
              <a:t>görse</a:t>
            </a:r>
            <a:r>
              <a:rPr kumimoji="0" lang="en-US" altLang="en-US" sz="1300" b="0" i="0" u="none" strike="noStrike" cap="none" normalizeH="0" baseline="0" dirty="0">
                <a:ln>
                  <a:noFill/>
                </a:ln>
                <a:effectLst/>
                <a:latin typeface="Arial" panose="020B0604020202020204" pitchFamily="34" charset="0"/>
              </a:rPr>
              <a:t>" - I wish he/she saw).</a:t>
            </a:r>
          </a:p>
          <a:p>
            <a:pPr marL="0" marR="0" lvl="0" indent="0" defTabSz="914400" rtl="0" eaLnBrk="0" fontAlgn="base" latinLnBrk="0" hangingPunct="0">
              <a:spcBef>
                <a:spcPct val="0"/>
              </a:spcBef>
              <a:spcAft>
                <a:spcPts val="600"/>
              </a:spcAft>
              <a:buClrTx/>
              <a:buSzTx/>
              <a:buFontTx/>
              <a:buNone/>
              <a:tabLst/>
            </a:pPr>
            <a:endParaRPr kumimoji="0" lang="en-US" altLang="en-US" sz="1300" b="0" i="0" u="none" strike="noStrike" cap="none" normalizeH="0" baseline="0" dirty="0">
              <a:ln>
                <a:noFill/>
              </a:ln>
              <a:effectLst/>
              <a:latin typeface="Arial" panose="020B0604020202020204" pitchFamily="34" charset="0"/>
            </a:endParaRPr>
          </a:p>
        </p:txBody>
      </p:sp>
      <p:pic>
        <p:nvPicPr>
          <p:cNvPr id="15" name="Picture 14" descr="Colourful maths learning objects">
            <a:extLst>
              <a:ext uri="{FF2B5EF4-FFF2-40B4-BE49-F238E27FC236}">
                <a16:creationId xmlns:a16="http://schemas.microsoft.com/office/drawing/2014/main" id="{521DD611-53B5-BC4E-4926-0B548D109395}"/>
              </a:ext>
            </a:extLst>
          </p:cNvPr>
          <p:cNvPicPr>
            <a:picLocks noChangeAspect="1"/>
          </p:cNvPicPr>
          <p:nvPr/>
        </p:nvPicPr>
        <p:blipFill>
          <a:blip r:embed="rId2"/>
          <a:srcRect l="21508" r="26655"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3" name="Date Placeholder 2">
            <a:extLst>
              <a:ext uri="{FF2B5EF4-FFF2-40B4-BE49-F238E27FC236}">
                <a16:creationId xmlns:a16="http://schemas.microsoft.com/office/drawing/2014/main" id="{D824502F-FD52-DB46-5584-68867CB5729B}"/>
              </a:ext>
            </a:extLst>
          </p:cNvPr>
          <p:cNvSpPr>
            <a:spLocks noGrp="1"/>
          </p:cNvSpPr>
          <p:nvPr>
            <p:ph type="dt" sz="half" idx="10"/>
          </p:nvPr>
        </p:nvSpPr>
        <p:spPr/>
        <p:txBody>
          <a:bodyPr/>
          <a:lstStyle/>
          <a:p>
            <a:fld id="{6EC2CD97-26B5-4204-B164-5CBF2B6856DA}" type="datetime1">
              <a:rPr lang="en-US" smtClean="0"/>
              <a:t>7/25/2025</a:t>
            </a:fld>
            <a:endParaRPr lang="en-US"/>
          </a:p>
        </p:txBody>
      </p:sp>
      <p:sp>
        <p:nvSpPr>
          <p:cNvPr id="5" name="Slide Number Placeholder 4">
            <a:extLst>
              <a:ext uri="{FF2B5EF4-FFF2-40B4-BE49-F238E27FC236}">
                <a16:creationId xmlns:a16="http://schemas.microsoft.com/office/drawing/2014/main" id="{264197AC-633F-5658-0D01-48017328193E}"/>
              </a:ext>
            </a:extLst>
          </p:cNvPr>
          <p:cNvSpPr>
            <a:spLocks noGrp="1"/>
          </p:cNvSpPr>
          <p:nvPr>
            <p:ph type="sldNum" sz="quarter" idx="12"/>
          </p:nvPr>
        </p:nvSpPr>
        <p:spPr/>
        <p:txBody>
          <a:bodyPr/>
          <a:lstStyle/>
          <a:p>
            <a:fld id="{F66C9141-23B4-4FD3-80FD-4E1CB454F295}" type="slidenum">
              <a:rPr lang="en-US" smtClean="0"/>
              <a:t>21</a:t>
            </a:fld>
            <a:endParaRPr lang="en-US"/>
          </a:p>
        </p:txBody>
      </p:sp>
    </p:spTree>
    <p:extLst>
      <p:ext uri="{BB962C8B-B14F-4D97-AF65-F5344CB8AC3E}">
        <p14:creationId xmlns:p14="http://schemas.microsoft.com/office/powerpoint/2010/main" val="226913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63E023-6AAC-2625-4DD2-9E9FC03C3231}"/>
              </a:ext>
            </a:extLst>
          </p:cNvPr>
          <p:cNvSpPr>
            <a:spLocks noGrp="1"/>
          </p:cNvSpPr>
          <p:nvPr>
            <p:ph type="title"/>
          </p:nvPr>
        </p:nvSpPr>
        <p:spPr>
          <a:xfrm>
            <a:off x="4553733" y="548464"/>
            <a:ext cx="6798541" cy="1675623"/>
          </a:xfrm>
        </p:spPr>
        <p:txBody>
          <a:bodyPr anchor="b">
            <a:normAutofit/>
          </a:bodyPr>
          <a:lstStyle/>
          <a:p>
            <a:r>
              <a:rPr lang="en-US" sz="4000" b="1" dirty="0"/>
              <a:t>Preprocessing Modules</a:t>
            </a:r>
          </a:p>
        </p:txBody>
      </p:sp>
      <p:pic>
        <p:nvPicPr>
          <p:cNvPr id="6" name="Picture 5">
            <a:extLst>
              <a:ext uri="{FF2B5EF4-FFF2-40B4-BE49-F238E27FC236}">
                <a16:creationId xmlns:a16="http://schemas.microsoft.com/office/drawing/2014/main" id="{887CA01F-5165-DC45-4A21-2B1FB22C28A2}"/>
              </a:ext>
            </a:extLst>
          </p:cNvPr>
          <p:cNvPicPr>
            <a:picLocks noChangeAspect="1"/>
          </p:cNvPicPr>
          <p:nvPr/>
        </p:nvPicPr>
        <p:blipFill>
          <a:blip r:embed="rId2"/>
          <a:srcRect l="34194" r="23431"/>
          <a:stretch/>
        </p:blipFill>
        <p:spPr>
          <a:xfrm>
            <a:off x="1" y="10"/>
            <a:ext cx="4196496" cy="6857990"/>
          </a:xfrm>
          <a:prstGeom prst="rect">
            <a:avLst/>
          </a:prstGeom>
          <a:effectLst/>
        </p:spPr>
      </p:pic>
      <p:graphicFrame>
        <p:nvGraphicFramePr>
          <p:cNvPr id="5" name="Content Placeholder 2">
            <a:extLst>
              <a:ext uri="{FF2B5EF4-FFF2-40B4-BE49-F238E27FC236}">
                <a16:creationId xmlns:a16="http://schemas.microsoft.com/office/drawing/2014/main" id="{20E152AB-E277-BA48-9FDE-771261014547}"/>
              </a:ext>
            </a:extLst>
          </p:cNvPr>
          <p:cNvGraphicFramePr>
            <a:graphicFrameLocks noGrp="1"/>
          </p:cNvGraphicFramePr>
          <p:nvPr>
            <p:ph idx="1"/>
            <p:extLst>
              <p:ext uri="{D42A27DB-BD31-4B8C-83A1-F6EECF244321}">
                <p14:modId xmlns:p14="http://schemas.microsoft.com/office/powerpoint/2010/main" val="714613005"/>
              </p:ext>
            </p:extLst>
          </p:nvPr>
        </p:nvGraphicFramePr>
        <p:xfrm>
          <a:off x="4553734" y="2409830"/>
          <a:ext cx="6798539" cy="37052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Date Placeholder 2">
            <a:extLst>
              <a:ext uri="{FF2B5EF4-FFF2-40B4-BE49-F238E27FC236}">
                <a16:creationId xmlns:a16="http://schemas.microsoft.com/office/drawing/2014/main" id="{3EE57689-F85D-63DD-0D40-32D36EA22781}"/>
              </a:ext>
            </a:extLst>
          </p:cNvPr>
          <p:cNvSpPr>
            <a:spLocks noGrp="1"/>
          </p:cNvSpPr>
          <p:nvPr>
            <p:ph type="dt" sz="half" idx="10"/>
          </p:nvPr>
        </p:nvSpPr>
        <p:spPr/>
        <p:txBody>
          <a:bodyPr/>
          <a:lstStyle/>
          <a:p>
            <a:fld id="{03AAC4F6-BF96-4ABB-9153-DECFB794EEDE}" type="datetime1">
              <a:rPr lang="en-US" smtClean="0"/>
              <a:t>7/25/2025</a:t>
            </a:fld>
            <a:endParaRPr lang="en-US"/>
          </a:p>
        </p:txBody>
      </p:sp>
      <p:sp>
        <p:nvSpPr>
          <p:cNvPr id="4" name="Slide Number Placeholder 3">
            <a:extLst>
              <a:ext uri="{FF2B5EF4-FFF2-40B4-BE49-F238E27FC236}">
                <a16:creationId xmlns:a16="http://schemas.microsoft.com/office/drawing/2014/main" id="{5D48D60D-97F1-AAD2-14CD-AD25C4EC51F3}"/>
              </a:ext>
            </a:extLst>
          </p:cNvPr>
          <p:cNvSpPr>
            <a:spLocks noGrp="1"/>
          </p:cNvSpPr>
          <p:nvPr>
            <p:ph type="sldNum" sz="quarter" idx="12"/>
          </p:nvPr>
        </p:nvSpPr>
        <p:spPr/>
        <p:txBody>
          <a:bodyPr/>
          <a:lstStyle/>
          <a:p>
            <a:fld id="{F66C9141-23B4-4FD3-80FD-4E1CB454F295}" type="slidenum">
              <a:rPr lang="en-US" smtClean="0"/>
              <a:t>22</a:t>
            </a:fld>
            <a:endParaRPr lang="en-US"/>
          </a:p>
        </p:txBody>
      </p:sp>
    </p:spTree>
    <p:extLst>
      <p:ext uri="{BB962C8B-B14F-4D97-AF65-F5344CB8AC3E}">
        <p14:creationId xmlns:p14="http://schemas.microsoft.com/office/powerpoint/2010/main" val="1206140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EB7A2-FBDE-10DE-AFFE-0B467DA63763}"/>
              </a:ext>
            </a:extLst>
          </p:cNvPr>
          <p:cNvSpPr>
            <a:spLocks noGrp="1"/>
          </p:cNvSpPr>
          <p:nvPr>
            <p:ph type="title"/>
          </p:nvPr>
        </p:nvSpPr>
        <p:spPr/>
        <p:txBody>
          <a:bodyPr/>
          <a:lstStyle/>
          <a:p>
            <a:r>
              <a:rPr lang="en-US" b="1" dirty="0"/>
              <a:t>The Non-Contextual Classifier</a:t>
            </a:r>
          </a:p>
        </p:txBody>
      </p:sp>
      <p:sp>
        <p:nvSpPr>
          <p:cNvPr id="3" name="Content Placeholder 2">
            <a:extLst>
              <a:ext uri="{FF2B5EF4-FFF2-40B4-BE49-F238E27FC236}">
                <a16:creationId xmlns:a16="http://schemas.microsoft.com/office/drawing/2014/main" id="{CFC21335-5C17-13D6-680F-9B98F9DC4ECB}"/>
              </a:ext>
            </a:extLst>
          </p:cNvPr>
          <p:cNvSpPr>
            <a:spLocks noGrp="1"/>
          </p:cNvSpPr>
          <p:nvPr>
            <p:ph idx="1"/>
          </p:nvPr>
        </p:nvSpPr>
        <p:spPr/>
        <p:txBody>
          <a:bodyPr>
            <a:normAutofit fontScale="92500" lnSpcReduction="10000"/>
          </a:bodyPr>
          <a:lstStyle/>
          <a:p>
            <a:r>
              <a:rPr lang="en-US" sz="1800" b="1" dirty="0"/>
              <a:t>Conventional Classification Algorithms</a:t>
            </a:r>
            <a:endParaRPr lang="en-US" sz="1800" dirty="0"/>
          </a:p>
          <a:p>
            <a:pPr lvl="1"/>
            <a:r>
              <a:rPr lang="en-US" sz="1800" b="1" dirty="0"/>
              <a:t>Algorithms Used:</a:t>
            </a:r>
            <a:endParaRPr lang="en-US" sz="1800" dirty="0"/>
          </a:p>
          <a:p>
            <a:pPr marL="1200150" lvl="2" indent="-285750"/>
            <a:r>
              <a:rPr lang="en-US" sz="1800" dirty="0"/>
              <a:t>Decision Tree</a:t>
            </a:r>
          </a:p>
          <a:p>
            <a:pPr marL="1200150" lvl="2" indent="-285750"/>
            <a:r>
              <a:rPr lang="en-US" sz="1800" dirty="0"/>
              <a:t>Random Forest</a:t>
            </a:r>
          </a:p>
          <a:p>
            <a:pPr marL="1200150" lvl="2" indent="-285750"/>
            <a:r>
              <a:rPr lang="en-US" sz="1800" dirty="0"/>
              <a:t>Gradient Boosting</a:t>
            </a:r>
          </a:p>
          <a:p>
            <a:pPr marL="1200150" lvl="2" indent="-285750"/>
            <a:r>
              <a:rPr lang="en-US" sz="1800" dirty="0" err="1"/>
              <a:t>XGBoost</a:t>
            </a:r>
            <a:endParaRPr lang="en-US" sz="1800" dirty="0"/>
          </a:p>
          <a:p>
            <a:pPr marL="1200150" lvl="2" indent="-285750"/>
            <a:r>
              <a:rPr lang="en-US" sz="1800" dirty="0"/>
              <a:t>Support Vector Machine (SVM)</a:t>
            </a:r>
          </a:p>
          <a:p>
            <a:pPr marL="1200150" lvl="2" indent="-285750"/>
            <a:r>
              <a:rPr lang="en-US" sz="1800" dirty="0"/>
              <a:t>Multi-Layer Perceptron</a:t>
            </a:r>
          </a:p>
          <a:p>
            <a:pPr lvl="1"/>
            <a:r>
              <a:rPr lang="en-US" sz="1800" b="1" dirty="0"/>
              <a:t>Implementation:</a:t>
            </a:r>
            <a:r>
              <a:rPr lang="en-US" sz="1800" dirty="0"/>
              <a:t> Scikit-Learn library.</a:t>
            </a:r>
          </a:p>
          <a:p>
            <a:pPr lvl="1"/>
            <a:r>
              <a:rPr lang="en-US" sz="1800" b="1" dirty="0"/>
              <a:t>Input:</a:t>
            </a:r>
            <a:r>
              <a:rPr lang="en-US" sz="1800" dirty="0"/>
              <a:t> </a:t>
            </a:r>
            <a:r>
              <a:rPr lang="en-US" sz="1800" b="1" dirty="0"/>
              <a:t>Preprocessing Modules</a:t>
            </a:r>
          </a:p>
          <a:p>
            <a:pPr lvl="2"/>
            <a:r>
              <a:rPr lang="en-US" sz="1800" dirty="0"/>
              <a:t>Detailed preprocessing applied on the root form</a:t>
            </a:r>
          </a:p>
          <a:p>
            <a:pPr lvl="2"/>
            <a:r>
              <a:rPr lang="en-US" sz="1800" dirty="0"/>
              <a:t>Partial preprocessing applied on the root form</a:t>
            </a:r>
          </a:p>
          <a:p>
            <a:pPr lvl="2"/>
            <a:r>
              <a:rPr lang="en-US" sz="1800" dirty="0"/>
              <a:t>Partial preprocessing applied on the surface form</a:t>
            </a:r>
          </a:p>
          <a:p>
            <a:pPr lvl="1"/>
            <a:endParaRPr lang="en-US" sz="1800" dirty="0"/>
          </a:p>
          <a:p>
            <a:pPr lvl="1"/>
            <a:r>
              <a:rPr lang="en-US" sz="1800" b="1" dirty="0"/>
              <a:t>Data Forms:</a:t>
            </a:r>
            <a:r>
              <a:rPr lang="en-US" sz="1800" dirty="0"/>
              <a:t> Generated from </a:t>
            </a:r>
            <a:r>
              <a:rPr lang="en-US" sz="1800" dirty="0" err="1"/>
              <a:t>BoW</a:t>
            </a:r>
            <a:r>
              <a:rPr lang="en-US" sz="1800" dirty="0"/>
              <a:t>, TF-IDF, Word2Vec, and </a:t>
            </a:r>
            <a:r>
              <a:rPr lang="en-US" sz="1800" dirty="0" err="1"/>
              <a:t>GloVe</a:t>
            </a:r>
            <a:r>
              <a:rPr lang="en-US" sz="1800" dirty="0"/>
              <a:t>, BERT models.</a:t>
            </a:r>
          </a:p>
          <a:p>
            <a:pPr marL="0" indent="0">
              <a:buNone/>
            </a:pPr>
            <a:endParaRPr lang="en-US" sz="1800" dirty="0"/>
          </a:p>
        </p:txBody>
      </p:sp>
      <p:sp>
        <p:nvSpPr>
          <p:cNvPr id="4" name="Date Placeholder 3">
            <a:extLst>
              <a:ext uri="{FF2B5EF4-FFF2-40B4-BE49-F238E27FC236}">
                <a16:creationId xmlns:a16="http://schemas.microsoft.com/office/drawing/2014/main" id="{75A51298-F139-0A3F-6E1F-CFFC32F730E2}"/>
              </a:ext>
            </a:extLst>
          </p:cNvPr>
          <p:cNvSpPr>
            <a:spLocks noGrp="1"/>
          </p:cNvSpPr>
          <p:nvPr>
            <p:ph type="dt" sz="half" idx="10"/>
          </p:nvPr>
        </p:nvSpPr>
        <p:spPr/>
        <p:txBody>
          <a:bodyPr/>
          <a:lstStyle/>
          <a:p>
            <a:fld id="{B7E45403-AB4A-464C-959B-A156B50E83FF}" type="datetime1">
              <a:rPr lang="en-US" smtClean="0"/>
              <a:t>7/25/2025</a:t>
            </a:fld>
            <a:endParaRPr lang="en-US"/>
          </a:p>
        </p:txBody>
      </p:sp>
      <p:sp>
        <p:nvSpPr>
          <p:cNvPr id="5" name="Slide Number Placeholder 4">
            <a:extLst>
              <a:ext uri="{FF2B5EF4-FFF2-40B4-BE49-F238E27FC236}">
                <a16:creationId xmlns:a16="http://schemas.microsoft.com/office/drawing/2014/main" id="{30C88FF6-06DD-1A6C-894A-C48666DE9567}"/>
              </a:ext>
            </a:extLst>
          </p:cNvPr>
          <p:cNvSpPr>
            <a:spLocks noGrp="1"/>
          </p:cNvSpPr>
          <p:nvPr>
            <p:ph type="sldNum" sz="quarter" idx="12"/>
          </p:nvPr>
        </p:nvSpPr>
        <p:spPr/>
        <p:txBody>
          <a:bodyPr/>
          <a:lstStyle/>
          <a:p>
            <a:fld id="{F66C9141-23B4-4FD3-80FD-4E1CB454F295}" type="slidenum">
              <a:rPr lang="en-US" smtClean="0"/>
              <a:t>23</a:t>
            </a:fld>
            <a:endParaRPr lang="en-US"/>
          </a:p>
        </p:txBody>
      </p:sp>
    </p:spTree>
    <p:extLst>
      <p:ext uri="{BB962C8B-B14F-4D97-AF65-F5344CB8AC3E}">
        <p14:creationId xmlns:p14="http://schemas.microsoft.com/office/powerpoint/2010/main" val="3694731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Cubes connected with a red line">
            <a:extLst>
              <a:ext uri="{FF2B5EF4-FFF2-40B4-BE49-F238E27FC236}">
                <a16:creationId xmlns:a16="http://schemas.microsoft.com/office/drawing/2014/main" id="{4DA6CE67-EF13-DBD8-227C-1A5F883124FC}"/>
              </a:ext>
            </a:extLst>
          </p:cNvPr>
          <p:cNvPicPr>
            <a:picLocks noChangeAspect="1"/>
          </p:cNvPicPr>
          <p:nvPr/>
        </p:nvPicPr>
        <p:blipFill>
          <a:blip r:embed="rId2"/>
          <a:srcRect l="34636" r="23206" b="-1"/>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a:extLst>
              <a:ext uri="{FF2B5EF4-FFF2-40B4-BE49-F238E27FC236}">
                <a16:creationId xmlns:a16="http://schemas.microsoft.com/office/drawing/2014/main" id="{886B1538-BD74-8F23-3694-BCC30F074507}"/>
              </a:ext>
            </a:extLst>
          </p:cNvPr>
          <p:cNvSpPr>
            <a:spLocks noGrp="1"/>
          </p:cNvSpPr>
          <p:nvPr>
            <p:ph idx="1"/>
          </p:nvPr>
        </p:nvSpPr>
        <p:spPr>
          <a:xfrm>
            <a:off x="4572001" y="1662545"/>
            <a:ext cx="6781800" cy="4440143"/>
          </a:xfrm>
        </p:spPr>
        <p:txBody>
          <a:bodyPr anchor="t">
            <a:normAutofit/>
          </a:bodyPr>
          <a:lstStyle/>
          <a:p>
            <a:pPr marL="0" indent="0">
              <a:buNone/>
            </a:pPr>
            <a:r>
              <a:rPr lang="en-US" sz="2000" b="1" dirty="0"/>
              <a:t>Deep Learning Model:</a:t>
            </a:r>
            <a:endParaRPr lang="en-US" sz="2000" dirty="0"/>
          </a:p>
          <a:p>
            <a:pPr>
              <a:buFont typeface="Arial" panose="020B0604020202020204" pitchFamily="34" charset="0"/>
              <a:buChar char="•"/>
            </a:pPr>
            <a:r>
              <a:rPr lang="en-US" sz="2000" b="1" dirty="0"/>
              <a:t>Architecture:</a:t>
            </a:r>
            <a:r>
              <a:rPr lang="en-US" sz="2000" dirty="0"/>
              <a:t> Developed using Keras.</a:t>
            </a:r>
          </a:p>
          <a:p>
            <a:pPr>
              <a:buFont typeface="Arial" panose="020B0604020202020204" pitchFamily="34" charset="0"/>
              <a:buChar char="•"/>
            </a:pPr>
            <a:r>
              <a:rPr lang="en-US" sz="2000" b="1" dirty="0"/>
              <a:t>Inputs:</a:t>
            </a:r>
            <a:endParaRPr lang="en-US" sz="2000" dirty="0"/>
          </a:p>
          <a:p>
            <a:pPr marL="742950" lvl="1" indent="-285750">
              <a:buFont typeface="Arial" panose="020B0604020202020204" pitchFamily="34" charset="0"/>
              <a:buChar char="•"/>
            </a:pPr>
            <a:r>
              <a:rPr lang="en-US" sz="2000" dirty="0"/>
              <a:t>Pre-trained </a:t>
            </a:r>
            <a:r>
              <a:rPr lang="en-US" sz="2000" dirty="0" err="1"/>
              <a:t>GloVe</a:t>
            </a:r>
            <a:r>
              <a:rPr lang="en-US" sz="2000" dirty="0"/>
              <a:t> embeddings</a:t>
            </a:r>
          </a:p>
          <a:p>
            <a:pPr marL="742950" lvl="1" indent="-285750">
              <a:buFont typeface="Arial" panose="020B0604020202020204" pitchFamily="34" charset="0"/>
              <a:buChar char="•"/>
            </a:pPr>
            <a:r>
              <a:rPr lang="en-US" sz="2000" dirty="0"/>
              <a:t>Pre-trained Turkish BERT embeddings</a:t>
            </a:r>
          </a:p>
          <a:p>
            <a:pPr>
              <a:buFont typeface="Arial" panose="020B0604020202020204" pitchFamily="34" charset="0"/>
              <a:buChar char="•"/>
            </a:pPr>
            <a:r>
              <a:rPr lang="en-US" sz="2000" b="1" dirty="0"/>
              <a:t>BERT Layer:</a:t>
            </a:r>
            <a:r>
              <a:rPr lang="en-US" sz="2000" dirty="0"/>
              <a:t> Created using Keras, with embeddings from TF-Hub.</a:t>
            </a:r>
          </a:p>
          <a:p>
            <a:pPr>
              <a:buFont typeface="Arial" panose="020B0604020202020204" pitchFamily="34" charset="0"/>
              <a:buChar char="•"/>
            </a:pPr>
            <a:r>
              <a:rPr lang="en-US" sz="2000" b="1" dirty="0"/>
              <a:t>Model Structure:</a:t>
            </a:r>
            <a:r>
              <a:rPr lang="en-US" sz="2000" dirty="0"/>
              <a:t> Includes GlobalMaxPooling1D, Dense, and Dropout layers.</a:t>
            </a:r>
          </a:p>
          <a:p>
            <a:endParaRPr lang="en-US" sz="2000" dirty="0"/>
          </a:p>
        </p:txBody>
      </p:sp>
      <p:sp>
        <p:nvSpPr>
          <p:cNvPr id="2" name="Date Placeholder 1">
            <a:extLst>
              <a:ext uri="{FF2B5EF4-FFF2-40B4-BE49-F238E27FC236}">
                <a16:creationId xmlns:a16="http://schemas.microsoft.com/office/drawing/2014/main" id="{2BCC4773-0B42-AC63-7B38-02817B8D6ECB}"/>
              </a:ext>
            </a:extLst>
          </p:cNvPr>
          <p:cNvSpPr>
            <a:spLocks noGrp="1"/>
          </p:cNvSpPr>
          <p:nvPr>
            <p:ph type="dt" sz="half" idx="10"/>
          </p:nvPr>
        </p:nvSpPr>
        <p:spPr/>
        <p:txBody>
          <a:bodyPr/>
          <a:lstStyle/>
          <a:p>
            <a:fld id="{4148DF27-2F9B-4658-894B-97054ADD8843}" type="datetime1">
              <a:rPr lang="en-US" smtClean="0"/>
              <a:t>7/25/2025</a:t>
            </a:fld>
            <a:endParaRPr lang="en-US"/>
          </a:p>
        </p:txBody>
      </p:sp>
      <p:sp>
        <p:nvSpPr>
          <p:cNvPr id="4" name="Slide Number Placeholder 3">
            <a:extLst>
              <a:ext uri="{FF2B5EF4-FFF2-40B4-BE49-F238E27FC236}">
                <a16:creationId xmlns:a16="http://schemas.microsoft.com/office/drawing/2014/main" id="{94C2B42E-6037-B82C-73E8-C228983021CD}"/>
              </a:ext>
            </a:extLst>
          </p:cNvPr>
          <p:cNvSpPr>
            <a:spLocks noGrp="1"/>
          </p:cNvSpPr>
          <p:nvPr>
            <p:ph type="sldNum" sz="quarter" idx="12"/>
          </p:nvPr>
        </p:nvSpPr>
        <p:spPr/>
        <p:txBody>
          <a:bodyPr/>
          <a:lstStyle/>
          <a:p>
            <a:fld id="{F66C9141-23B4-4FD3-80FD-4E1CB454F295}" type="slidenum">
              <a:rPr lang="en-US" smtClean="0"/>
              <a:t>24</a:t>
            </a:fld>
            <a:endParaRPr lang="en-US"/>
          </a:p>
        </p:txBody>
      </p:sp>
    </p:spTree>
    <p:extLst>
      <p:ext uri="{BB962C8B-B14F-4D97-AF65-F5344CB8AC3E}">
        <p14:creationId xmlns:p14="http://schemas.microsoft.com/office/powerpoint/2010/main" val="2047890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80A04B-B222-D169-D739-0A14664ABEAC}"/>
              </a:ext>
            </a:extLst>
          </p:cNvPr>
          <p:cNvPicPr>
            <a:picLocks noChangeAspect="1"/>
          </p:cNvPicPr>
          <p:nvPr/>
        </p:nvPicPr>
        <p:blipFill rotWithShape="1">
          <a:blip r:embed="rId2"/>
          <a:srcRect l="9690" r="6756" b="1"/>
          <a:stretch/>
        </p:blipFill>
        <p:spPr>
          <a:xfrm>
            <a:off x="872857" y="379268"/>
            <a:ext cx="11139050" cy="6265717"/>
          </a:xfrm>
          <a:prstGeom prst="rect">
            <a:avLst/>
          </a:prstGeom>
        </p:spPr>
      </p:pic>
      <p:sp>
        <p:nvSpPr>
          <p:cNvPr id="2" name="Date Placeholder 1">
            <a:extLst>
              <a:ext uri="{FF2B5EF4-FFF2-40B4-BE49-F238E27FC236}">
                <a16:creationId xmlns:a16="http://schemas.microsoft.com/office/drawing/2014/main" id="{6CAEDB7F-D2F1-5054-38D1-9FD0F9006C5A}"/>
              </a:ext>
            </a:extLst>
          </p:cNvPr>
          <p:cNvSpPr>
            <a:spLocks noGrp="1"/>
          </p:cNvSpPr>
          <p:nvPr>
            <p:ph type="dt" sz="half" idx="10"/>
          </p:nvPr>
        </p:nvSpPr>
        <p:spPr/>
        <p:txBody>
          <a:bodyPr/>
          <a:lstStyle/>
          <a:p>
            <a:fld id="{AF9106A5-84B3-4B0A-A63F-94EECE701345}" type="datetime1">
              <a:rPr lang="en-US" smtClean="0"/>
              <a:t>7/25/2025</a:t>
            </a:fld>
            <a:endParaRPr lang="en-US"/>
          </a:p>
        </p:txBody>
      </p:sp>
      <p:sp>
        <p:nvSpPr>
          <p:cNvPr id="3" name="Slide Number Placeholder 2">
            <a:extLst>
              <a:ext uri="{FF2B5EF4-FFF2-40B4-BE49-F238E27FC236}">
                <a16:creationId xmlns:a16="http://schemas.microsoft.com/office/drawing/2014/main" id="{9E777C96-E52B-0875-3BFF-E91804F33722}"/>
              </a:ext>
            </a:extLst>
          </p:cNvPr>
          <p:cNvSpPr>
            <a:spLocks noGrp="1"/>
          </p:cNvSpPr>
          <p:nvPr>
            <p:ph type="sldNum" sz="quarter" idx="12"/>
          </p:nvPr>
        </p:nvSpPr>
        <p:spPr/>
        <p:txBody>
          <a:bodyPr/>
          <a:lstStyle/>
          <a:p>
            <a:fld id="{F66C9141-23B4-4FD3-80FD-4E1CB454F295}" type="slidenum">
              <a:rPr lang="en-US" smtClean="0"/>
              <a:t>25</a:t>
            </a:fld>
            <a:endParaRPr lang="en-US"/>
          </a:p>
        </p:txBody>
      </p:sp>
    </p:spTree>
    <p:extLst>
      <p:ext uri="{BB962C8B-B14F-4D97-AF65-F5344CB8AC3E}">
        <p14:creationId xmlns:p14="http://schemas.microsoft.com/office/powerpoint/2010/main" val="729205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Flowchart: Document 26">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932B7D-A133-C905-2063-21DC1AFE064F}"/>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600" b="1" i="0" u="none" strike="noStrike" kern="1200" baseline="0">
                <a:solidFill>
                  <a:srgbClr val="FFFFFF"/>
                </a:solidFill>
                <a:latin typeface="+mj-lt"/>
                <a:ea typeface="+mj-ea"/>
                <a:cs typeface="+mj-cs"/>
              </a:rPr>
              <a:t>Contextual Sentiment Detection Architecture</a:t>
            </a:r>
            <a:endParaRPr lang="en-US" sz="3600" b="1" kern="1200" dirty="0">
              <a:solidFill>
                <a:srgbClr val="FFFFFF"/>
              </a:solidFill>
              <a:latin typeface="+mj-lt"/>
              <a:ea typeface="+mj-ea"/>
              <a:cs typeface="+mj-cs"/>
            </a:endParaRPr>
          </a:p>
        </p:txBody>
      </p:sp>
      <p:pic>
        <p:nvPicPr>
          <p:cNvPr id="22" name="Content Placeholder 21" descr="A diagram of a company">
            <a:extLst>
              <a:ext uri="{FF2B5EF4-FFF2-40B4-BE49-F238E27FC236}">
                <a16:creationId xmlns:a16="http://schemas.microsoft.com/office/drawing/2014/main" id="{3B278801-18FB-6819-559A-5109AD6A60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86225" y="261257"/>
            <a:ext cx="7267575" cy="6215743"/>
          </a:xfrm>
          <a:prstGeom prst="rect">
            <a:avLst/>
          </a:prstGeom>
        </p:spPr>
      </p:pic>
      <p:sp>
        <p:nvSpPr>
          <p:cNvPr id="3" name="Date Placeholder 2">
            <a:extLst>
              <a:ext uri="{FF2B5EF4-FFF2-40B4-BE49-F238E27FC236}">
                <a16:creationId xmlns:a16="http://schemas.microsoft.com/office/drawing/2014/main" id="{DA705751-987D-3992-0F75-810ABEBA6764}"/>
              </a:ext>
            </a:extLst>
          </p:cNvPr>
          <p:cNvSpPr>
            <a:spLocks noGrp="1"/>
          </p:cNvSpPr>
          <p:nvPr>
            <p:ph type="dt" sz="half" idx="10"/>
          </p:nvPr>
        </p:nvSpPr>
        <p:spPr/>
        <p:txBody>
          <a:bodyPr/>
          <a:lstStyle/>
          <a:p>
            <a:fld id="{DCC32D05-F32D-40A2-8EA0-E1A6094165A2}" type="datetime1">
              <a:rPr lang="en-US" smtClean="0"/>
              <a:t>7/25/2025</a:t>
            </a:fld>
            <a:endParaRPr lang="en-US"/>
          </a:p>
        </p:txBody>
      </p:sp>
      <p:sp>
        <p:nvSpPr>
          <p:cNvPr id="4" name="Slide Number Placeholder 3">
            <a:extLst>
              <a:ext uri="{FF2B5EF4-FFF2-40B4-BE49-F238E27FC236}">
                <a16:creationId xmlns:a16="http://schemas.microsoft.com/office/drawing/2014/main" id="{435BEA54-ABEF-15C9-1422-318C8A6FA9E5}"/>
              </a:ext>
            </a:extLst>
          </p:cNvPr>
          <p:cNvSpPr>
            <a:spLocks noGrp="1"/>
          </p:cNvSpPr>
          <p:nvPr>
            <p:ph type="sldNum" sz="quarter" idx="12"/>
          </p:nvPr>
        </p:nvSpPr>
        <p:spPr/>
        <p:txBody>
          <a:bodyPr/>
          <a:lstStyle/>
          <a:p>
            <a:fld id="{F66C9141-23B4-4FD3-80FD-4E1CB454F295}" type="slidenum">
              <a:rPr lang="en-US" smtClean="0"/>
              <a:t>26</a:t>
            </a:fld>
            <a:endParaRPr lang="en-US"/>
          </a:p>
        </p:txBody>
      </p:sp>
    </p:spTree>
    <p:extLst>
      <p:ext uri="{BB962C8B-B14F-4D97-AF65-F5344CB8AC3E}">
        <p14:creationId xmlns:p14="http://schemas.microsoft.com/office/powerpoint/2010/main" val="19095395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C0281-F7FE-9F94-9E82-C65BFC01CE73}"/>
              </a:ext>
            </a:extLst>
          </p:cNvPr>
          <p:cNvSpPr>
            <a:spLocks noGrp="1"/>
          </p:cNvSpPr>
          <p:nvPr>
            <p:ph type="title"/>
          </p:nvPr>
        </p:nvSpPr>
        <p:spPr>
          <a:xfrm>
            <a:off x="1024129" y="585216"/>
            <a:ext cx="4431792" cy="1499616"/>
          </a:xfrm>
        </p:spPr>
        <p:txBody>
          <a:bodyPr>
            <a:normAutofit/>
          </a:bodyPr>
          <a:lstStyle/>
          <a:p>
            <a:r>
              <a:rPr lang="en-US" b="1"/>
              <a:t>PROMPT-BASED MODELING</a:t>
            </a:r>
            <a:endParaRPr lang="en-US" b="1" dirty="0"/>
          </a:p>
        </p:txBody>
      </p:sp>
      <p:sp>
        <p:nvSpPr>
          <p:cNvPr id="14" name="Content Placeholder 8">
            <a:extLst>
              <a:ext uri="{FF2B5EF4-FFF2-40B4-BE49-F238E27FC236}">
                <a16:creationId xmlns:a16="http://schemas.microsoft.com/office/drawing/2014/main" id="{B36A49AD-4E3F-E5A9-7CE5-B48E5FBBCB4D}"/>
              </a:ext>
            </a:extLst>
          </p:cNvPr>
          <p:cNvSpPr>
            <a:spLocks noGrp="1"/>
          </p:cNvSpPr>
          <p:nvPr>
            <p:ph idx="1"/>
          </p:nvPr>
        </p:nvSpPr>
        <p:spPr>
          <a:xfrm>
            <a:off x="1024128" y="2286000"/>
            <a:ext cx="4429615" cy="3931920"/>
          </a:xfrm>
        </p:spPr>
        <p:txBody>
          <a:bodyPr>
            <a:normAutofit/>
          </a:bodyPr>
          <a:lstStyle/>
          <a:p>
            <a:pPr lvl="1">
              <a:buFont typeface="Arial" panose="020B0604020202020204" pitchFamily="34" charset="0"/>
              <a:buChar char="•"/>
            </a:pPr>
            <a:r>
              <a:rPr lang="en-US" sz="1600" b="0" i="0" u="none" strike="noStrike" baseline="0" dirty="0"/>
              <a:t>GPT-4</a:t>
            </a:r>
          </a:p>
          <a:p>
            <a:pPr lvl="1">
              <a:buFont typeface="Arial" panose="020B0604020202020204" pitchFamily="34" charset="0"/>
              <a:buChar char="•"/>
            </a:pPr>
            <a:endParaRPr lang="en-US" sz="1600" b="0" i="0" u="none" strike="noStrike" baseline="0" dirty="0"/>
          </a:p>
          <a:p>
            <a:pPr lvl="1">
              <a:buFont typeface="Arial" panose="020B0604020202020204" pitchFamily="34" charset="0"/>
              <a:buChar char="•"/>
            </a:pPr>
            <a:r>
              <a:rPr lang="en-US" sz="1600" b="0" i="0" u="none" strike="noStrike" baseline="0" dirty="0"/>
              <a:t>Llama 2: </a:t>
            </a:r>
            <a:r>
              <a:rPr lang="en-US" sz="1600" b="0" i="0" u="none" strike="noStrike" baseline="0" dirty="0" err="1"/>
              <a:t>Trendyol</a:t>
            </a:r>
            <a:r>
              <a:rPr lang="en-US" sz="1600" b="0" i="0" u="none" strike="noStrike" baseline="0" dirty="0"/>
              <a:t> LLM Model</a:t>
            </a:r>
          </a:p>
          <a:p>
            <a:pPr lvl="1">
              <a:buFont typeface="Arial" panose="020B0604020202020204" pitchFamily="34" charset="0"/>
              <a:buChar char="•"/>
            </a:pPr>
            <a:endParaRPr lang="en-US" sz="1600" b="0" i="0" u="none" strike="noStrike" baseline="0" dirty="0"/>
          </a:p>
          <a:p>
            <a:pPr lvl="1">
              <a:buFont typeface="Arial" panose="020B0604020202020204" pitchFamily="34" charset="0"/>
              <a:buChar char="•"/>
            </a:pPr>
            <a:r>
              <a:rPr lang="en-US" sz="1600" dirty="0"/>
              <a:t>(</a:t>
            </a:r>
            <a:r>
              <a:rPr lang="en-US" sz="1600" b="0" i="0" u="none" strike="noStrike" baseline="0" dirty="0">
                <a:hlinkClick r:id="rId3"/>
              </a:rPr>
              <a:t>https://huggingface.co/Trendyol/Trendyol-LLM-7b-chat-v0.1</a:t>
            </a:r>
            <a:r>
              <a:rPr lang="en-US" sz="1600" dirty="0"/>
              <a:t>)</a:t>
            </a:r>
          </a:p>
          <a:p>
            <a:pPr marL="457200" lvl="1" indent="0">
              <a:buNone/>
            </a:pPr>
            <a:endParaRPr lang="en-US" sz="1600" dirty="0"/>
          </a:p>
          <a:p>
            <a:pPr lvl="1">
              <a:buFont typeface="Arial" panose="020B0604020202020204" pitchFamily="34" charset="0"/>
              <a:buChar char="•"/>
            </a:pPr>
            <a:r>
              <a:rPr lang="en-US" sz="1600" b="0" i="0" u="none" strike="noStrike" baseline="0" dirty="0" err="1"/>
              <a:t>Trendyol</a:t>
            </a:r>
            <a:r>
              <a:rPr lang="en-US" sz="1600" b="0" i="0" u="none" strike="noStrike" baseline="0" dirty="0"/>
              <a:t> LLM Model is a generative model based on the Llama-2 7B architecture, fine-tuned on 180,000 instruction sets, primarily in English and Turkish.</a:t>
            </a:r>
          </a:p>
          <a:p>
            <a:pPr lvl="1">
              <a:buFont typeface="Arial" panose="020B0604020202020204" pitchFamily="34" charset="0"/>
              <a:buChar char="•"/>
            </a:pPr>
            <a:r>
              <a:rPr lang="en-US" sz="1600" dirty="0"/>
              <a:t>Prompt engineering is essential in AI applications</a:t>
            </a:r>
            <a:endParaRPr lang="en-US" sz="1600" b="1" dirty="0"/>
          </a:p>
        </p:txBody>
      </p:sp>
      <p:pic>
        <p:nvPicPr>
          <p:cNvPr id="5" name="Content Placeholder 4">
            <a:extLst>
              <a:ext uri="{FF2B5EF4-FFF2-40B4-BE49-F238E27FC236}">
                <a16:creationId xmlns:a16="http://schemas.microsoft.com/office/drawing/2014/main" id="{15984DF5-545B-A44D-B513-79922B979A42}"/>
              </a:ext>
            </a:extLst>
          </p:cNvPr>
          <p:cNvPicPr>
            <a:picLocks noChangeAspect="1"/>
          </p:cNvPicPr>
          <p:nvPr/>
        </p:nvPicPr>
        <p:blipFill>
          <a:blip r:embed="rId4"/>
          <a:stretch>
            <a:fillRect/>
          </a:stretch>
        </p:blipFill>
        <p:spPr>
          <a:xfrm>
            <a:off x="5453744" y="883227"/>
            <a:ext cx="5673525" cy="5232114"/>
          </a:xfrm>
          <a:prstGeom prst="rect">
            <a:avLst/>
          </a:prstGeom>
        </p:spPr>
      </p:pic>
      <p:sp>
        <p:nvSpPr>
          <p:cNvPr id="3" name="TextBox 2">
            <a:extLst>
              <a:ext uri="{FF2B5EF4-FFF2-40B4-BE49-F238E27FC236}">
                <a16:creationId xmlns:a16="http://schemas.microsoft.com/office/drawing/2014/main" id="{2548C09A-C496-DD2E-8ECF-1B42A2D22F7E}"/>
              </a:ext>
            </a:extLst>
          </p:cNvPr>
          <p:cNvSpPr txBox="1"/>
          <p:nvPr/>
        </p:nvSpPr>
        <p:spPr>
          <a:xfrm>
            <a:off x="5538355" y="238991"/>
            <a:ext cx="3439390" cy="369332"/>
          </a:xfrm>
          <a:prstGeom prst="rect">
            <a:avLst/>
          </a:prstGeom>
          <a:noFill/>
        </p:spPr>
        <p:txBody>
          <a:bodyPr wrap="square" rtlCol="0">
            <a:spAutoFit/>
          </a:bodyPr>
          <a:lstStyle/>
          <a:p>
            <a:r>
              <a:rPr lang="en-US" sz="1800" b="1" i="0" u="none" strike="noStrike" baseline="0">
                <a:latin typeface="NimbusRomNo9L-Medi"/>
              </a:rPr>
              <a:t>Instruction-based Prompting</a:t>
            </a:r>
            <a:endParaRPr lang="en-US" sz="1800" b="1" i="0" u="none" strike="noStrike" baseline="0" dirty="0">
              <a:latin typeface="NimbusRomNo9L-Medi"/>
            </a:endParaRPr>
          </a:p>
        </p:txBody>
      </p:sp>
      <p:sp>
        <p:nvSpPr>
          <p:cNvPr id="4" name="Date Placeholder 3">
            <a:extLst>
              <a:ext uri="{FF2B5EF4-FFF2-40B4-BE49-F238E27FC236}">
                <a16:creationId xmlns:a16="http://schemas.microsoft.com/office/drawing/2014/main" id="{89DF3B8E-27FE-1EA1-BE26-CAB4CD8F9B0E}"/>
              </a:ext>
            </a:extLst>
          </p:cNvPr>
          <p:cNvSpPr>
            <a:spLocks noGrp="1"/>
          </p:cNvSpPr>
          <p:nvPr>
            <p:ph type="dt" sz="half" idx="10"/>
          </p:nvPr>
        </p:nvSpPr>
        <p:spPr/>
        <p:txBody>
          <a:bodyPr/>
          <a:lstStyle/>
          <a:p>
            <a:fld id="{D4447D3D-217A-4149-9E33-CB0DCAD4BC25}" type="datetime1">
              <a:rPr lang="en-US" smtClean="0"/>
              <a:t>7/25/2025</a:t>
            </a:fld>
            <a:endParaRPr lang="en-US"/>
          </a:p>
        </p:txBody>
      </p:sp>
      <p:sp>
        <p:nvSpPr>
          <p:cNvPr id="6" name="Slide Number Placeholder 5">
            <a:extLst>
              <a:ext uri="{FF2B5EF4-FFF2-40B4-BE49-F238E27FC236}">
                <a16:creationId xmlns:a16="http://schemas.microsoft.com/office/drawing/2014/main" id="{6E8392B7-44AD-3454-5262-DA6FC2B741B6}"/>
              </a:ext>
            </a:extLst>
          </p:cNvPr>
          <p:cNvSpPr>
            <a:spLocks noGrp="1"/>
          </p:cNvSpPr>
          <p:nvPr>
            <p:ph type="sldNum" sz="quarter" idx="12"/>
          </p:nvPr>
        </p:nvSpPr>
        <p:spPr/>
        <p:txBody>
          <a:bodyPr/>
          <a:lstStyle/>
          <a:p>
            <a:fld id="{F66C9141-23B4-4FD3-80FD-4E1CB454F295}" type="slidenum">
              <a:rPr lang="en-US" smtClean="0"/>
              <a:t>27</a:t>
            </a:fld>
            <a:endParaRPr lang="en-US" dirty="0"/>
          </a:p>
        </p:txBody>
      </p:sp>
    </p:spTree>
    <p:extLst>
      <p:ext uri="{BB962C8B-B14F-4D97-AF65-F5344CB8AC3E}">
        <p14:creationId xmlns:p14="http://schemas.microsoft.com/office/powerpoint/2010/main" val="40578856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114ED94A-C85D-4CD3-4205-438D21CE6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217" y="-1"/>
            <a:ext cx="5213267" cy="6883030"/>
            <a:chOff x="-19217" y="-1"/>
            <a:chExt cx="5213267" cy="6883030"/>
          </a:xfrm>
        </p:grpSpPr>
        <p:sp>
          <p:nvSpPr>
            <p:cNvPr id="20" name="Rectangle 19">
              <a:extLst>
                <a:ext uri="{FF2B5EF4-FFF2-40B4-BE49-F238E27FC236}">
                  <a16:creationId xmlns:a16="http://schemas.microsoft.com/office/drawing/2014/main" id="{E642BDB2-BF67-1D53-1C70-0B41D709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06" y="0"/>
              <a:ext cx="5204956" cy="688302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8E0D8CE-5DBF-B664-EB48-C29BF8AB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217" y="1731909"/>
              <a:ext cx="5204963"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2" name="Rectangle 21">
              <a:extLst>
                <a:ext uri="{FF2B5EF4-FFF2-40B4-BE49-F238E27FC236}">
                  <a16:creationId xmlns:a16="http://schemas.microsoft.com/office/drawing/2014/main" id="{DFD140CE-7DE2-C88F-5EAE-F45EB69E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10" y="6723"/>
              <a:ext cx="3834567"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57E87E3-413F-10EF-63D8-6016E986C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4601" y="833689"/>
              <a:ext cx="6872341" cy="5204961"/>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itle 4">
            <a:extLst>
              <a:ext uri="{FF2B5EF4-FFF2-40B4-BE49-F238E27FC236}">
                <a16:creationId xmlns:a16="http://schemas.microsoft.com/office/drawing/2014/main" id="{C7452F6B-DC63-1A3D-D747-9B374265ED52}"/>
              </a:ext>
            </a:extLst>
          </p:cNvPr>
          <p:cNvSpPr>
            <a:spLocks noGrp="1"/>
          </p:cNvSpPr>
          <p:nvPr>
            <p:ph type="title"/>
          </p:nvPr>
        </p:nvSpPr>
        <p:spPr>
          <a:xfrm>
            <a:off x="755484" y="739835"/>
            <a:ext cx="3702580" cy="1616203"/>
          </a:xfrm>
        </p:spPr>
        <p:txBody>
          <a:bodyPr anchor="b">
            <a:normAutofit/>
          </a:bodyPr>
          <a:lstStyle/>
          <a:p>
            <a:r>
              <a:rPr lang="en-US" sz="3600" b="1" dirty="0">
                <a:solidFill>
                  <a:srgbClr val="FFFFFF"/>
                </a:solidFill>
              </a:rPr>
              <a:t>Few-shot Prompting</a:t>
            </a:r>
          </a:p>
        </p:txBody>
      </p:sp>
      <p:sp>
        <p:nvSpPr>
          <p:cNvPr id="14" name="Content Placeholder 8">
            <a:extLst>
              <a:ext uri="{FF2B5EF4-FFF2-40B4-BE49-F238E27FC236}">
                <a16:creationId xmlns:a16="http://schemas.microsoft.com/office/drawing/2014/main" id="{B36A49AD-4E3F-E5A9-7CE5-B48E5FBBCB4D}"/>
              </a:ext>
            </a:extLst>
          </p:cNvPr>
          <p:cNvSpPr>
            <a:spLocks noGrp="1"/>
          </p:cNvSpPr>
          <p:nvPr>
            <p:ph idx="1"/>
          </p:nvPr>
        </p:nvSpPr>
        <p:spPr>
          <a:xfrm>
            <a:off x="755484" y="3429000"/>
            <a:ext cx="3702579" cy="2554939"/>
          </a:xfrm>
        </p:spPr>
        <p:txBody>
          <a:bodyPr>
            <a:normAutofit/>
          </a:bodyPr>
          <a:lstStyle/>
          <a:p>
            <a:r>
              <a:rPr lang="en-US" sz="2000" b="1" i="0" u="none" strike="noStrike" baseline="0" dirty="0">
                <a:solidFill>
                  <a:srgbClr val="FFFFFF"/>
                </a:solidFill>
                <a:latin typeface="NimbusRomNo9L-Medi"/>
              </a:rPr>
              <a:t>Few-shot Prompting</a:t>
            </a:r>
          </a:p>
          <a:p>
            <a:pPr lvl="1">
              <a:buFont typeface="Arial" panose="020B0604020202020204" pitchFamily="34" charset="0"/>
              <a:buChar char="•"/>
            </a:pPr>
            <a:r>
              <a:rPr lang="en-US" sz="2000" b="0" i="0" u="none" strike="noStrike" baseline="0" dirty="0">
                <a:solidFill>
                  <a:srgbClr val="FFFFFF"/>
                </a:solidFill>
                <a:latin typeface="NimbusRomNo9L-Regu"/>
              </a:rPr>
              <a:t>Llama 2</a:t>
            </a:r>
            <a:endParaRPr lang="en-US" sz="2000" b="1" dirty="0">
              <a:solidFill>
                <a:srgbClr val="FFFFFF"/>
              </a:solidFill>
            </a:endParaRPr>
          </a:p>
        </p:txBody>
      </p:sp>
      <p:pic>
        <p:nvPicPr>
          <p:cNvPr id="4" name="Picture 3">
            <a:extLst>
              <a:ext uri="{FF2B5EF4-FFF2-40B4-BE49-F238E27FC236}">
                <a16:creationId xmlns:a16="http://schemas.microsoft.com/office/drawing/2014/main" id="{7F765FD6-8F82-44FA-8C2A-088B03DA97CB}"/>
              </a:ext>
            </a:extLst>
          </p:cNvPr>
          <p:cNvPicPr>
            <a:picLocks noChangeAspect="1"/>
          </p:cNvPicPr>
          <p:nvPr/>
        </p:nvPicPr>
        <p:blipFill rotWithShape="1">
          <a:blip r:embed="rId2"/>
          <a:srcRect t="6167" r="2" b="2847"/>
          <a:stretch/>
        </p:blipFill>
        <p:spPr>
          <a:xfrm>
            <a:off x="6026432" y="939515"/>
            <a:ext cx="5168335" cy="5283771"/>
          </a:xfrm>
          <a:prstGeom prst="rect">
            <a:avLst/>
          </a:prstGeom>
        </p:spPr>
      </p:pic>
      <p:sp>
        <p:nvSpPr>
          <p:cNvPr id="2" name="Date Placeholder 1">
            <a:extLst>
              <a:ext uri="{FF2B5EF4-FFF2-40B4-BE49-F238E27FC236}">
                <a16:creationId xmlns:a16="http://schemas.microsoft.com/office/drawing/2014/main" id="{DE06BBCF-4A51-F49F-0930-E4A8E508E6E2}"/>
              </a:ext>
            </a:extLst>
          </p:cNvPr>
          <p:cNvSpPr>
            <a:spLocks noGrp="1"/>
          </p:cNvSpPr>
          <p:nvPr>
            <p:ph type="dt" sz="half" idx="10"/>
          </p:nvPr>
        </p:nvSpPr>
        <p:spPr/>
        <p:txBody>
          <a:bodyPr/>
          <a:lstStyle/>
          <a:p>
            <a:fld id="{20FCD623-070B-47E8-AC35-3405AB85F591}" type="datetime1">
              <a:rPr lang="en-US" smtClean="0"/>
              <a:t>7/25/2025</a:t>
            </a:fld>
            <a:endParaRPr lang="en-US"/>
          </a:p>
        </p:txBody>
      </p:sp>
      <p:sp>
        <p:nvSpPr>
          <p:cNvPr id="3" name="Slide Number Placeholder 2">
            <a:extLst>
              <a:ext uri="{FF2B5EF4-FFF2-40B4-BE49-F238E27FC236}">
                <a16:creationId xmlns:a16="http://schemas.microsoft.com/office/drawing/2014/main" id="{D874844C-5358-D6D0-7577-FF0543A51DB0}"/>
              </a:ext>
            </a:extLst>
          </p:cNvPr>
          <p:cNvSpPr>
            <a:spLocks noGrp="1"/>
          </p:cNvSpPr>
          <p:nvPr>
            <p:ph type="sldNum" sz="quarter" idx="12"/>
          </p:nvPr>
        </p:nvSpPr>
        <p:spPr/>
        <p:txBody>
          <a:bodyPr/>
          <a:lstStyle/>
          <a:p>
            <a:fld id="{F66C9141-23B4-4FD3-80FD-4E1CB454F295}" type="slidenum">
              <a:rPr lang="en-US" smtClean="0"/>
              <a:t>28</a:t>
            </a:fld>
            <a:endParaRPr lang="en-US"/>
          </a:p>
        </p:txBody>
      </p:sp>
    </p:spTree>
    <p:extLst>
      <p:ext uri="{BB962C8B-B14F-4D97-AF65-F5344CB8AC3E}">
        <p14:creationId xmlns:p14="http://schemas.microsoft.com/office/powerpoint/2010/main" val="3800605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866CD2-445D-F246-8727-EB82EA6E1DB7}"/>
              </a:ext>
            </a:extLst>
          </p:cNvPr>
          <p:cNvSpPr>
            <a:spLocks noGrp="1"/>
          </p:cNvSpPr>
          <p:nvPr>
            <p:ph type="title"/>
          </p:nvPr>
        </p:nvSpPr>
        <p:spPr>
          <a:xfrm>
            <a:off x="6803409" y="762001"/>
            <a:ext cx="4156512" cy="1708244"/>
          </a:xfrm>
        </p:spPr>
        <p:txBody>
          <a:bodyPr anchor="ctr">
            <a:normAutofit/>
          </a:bodyPr>
          <a:lstStyle/>
          <a:p>
            <a:r>
              <a:rPr lang="en-US" sz="4000" b="1" dirty="0"/>
              <a:t>FINE-TUNING</a:t>
            </a:r>
          </a:p>
        </p:txBody>
      </p:sp>
      <p:pic>
        <p:nvPicPr>
          <p:cNvPr id="5" name="Picture 4" descr="Large skydiving group mid-air">
            <a:extLst>
              <a:ext uri="{FF2B5EF4-FFF2-40B4-BE49-F238E27FC236}">
                <a16:creationId xmlns:a16="http://schemas.microsoft.com/office/drawing/2014/main" id="{D3D9ABB3-37DB-F131-2F40-4785F938AFC8}"/>
              </a:ext>
            </a:extLst>
          </p:cNvPr>
          <p:cNvPicPr>
            <a:picLocks noChangeAspect="1"/>
          </p:cNvPicPr>
          <p:nvPr/>
        </p:nvPicPr>
        <p:blipFill>
          <a:blip r:embed="rId2"/>
          <a:srcRect l="21028" r="19861"/>
          <a:stretch/>
        </p:blipFill>
        <p:spPr>
          <a:xfrm>
            <a:off x="-1" y="-2"/>
            <a:ext cx="6096001" cy="6858002"/>
          </a:xfrm>
          <a:prstGeom prst="rect">
            <a:avLst/>
          </a:prstGeom>
        </p:spPr>
      </p:pic>
      <p:sp>
        <p:nvSpPr>
          <p:cNvPr id="3" name="Content Placeholder 2">
            <a:extLst>
              <a:ext uri="{FF2B5EF4-FFF2-40B4-BE49-F238E27FC236}">
                <a16:creationId xmlns:a16="http://schemas.microsoft.com/office/drawing/2014/main" id="{8CAF162C-65BC-D7EE-F681-F2CEDAEF146E}"/>
              </a:ext>
            </a:extLst>
          </p:cNvPr>
          <p:cNvSpPr>
            <a:spLocks noGrp="1"/>
          </p:cNvSpPr>
          <p:nvPr>
            <p:ph idx="1"/>
          </p:nvPr>
        </p:nvSpPr>
        <p:spPr>
          <a:xfrm>
            <a:off x="6803409" y="2067791"/>
            <a:ext cx="4156512" cy="4172289"/>
          </a:xfrm>
        </p:spPr>
        <p:txBody>
          <a:bodyPr anchor="ctr">
            <a:normAutofit/>
          </a:bodyPr>
          <a:lstStyle/>
          <a:p>
            <a:pPr>
              <a:buFont typeface="Arial" panose="020B0604020202020204" pitchFamily="34" charset="0"/>
              <a:buChar char="•"/>
            </a:pPr>
            <a:r>
              <a:rPr lang="en-US" sz="2000" i="1" dirty="0"/>
              <a:t>Fine-Tuning:</a:t>
            </a:r>
            <a:r>
              <a:rPr lang="en-US" sz="2000" dirty="0"/>
              <a:t> </a:t>
            </a:r>
          </a:p>
          <a:p>
            <a:pPr lvl="1"/>
            <a:r>
              <a:rPr lang="en-US" sz="2000" dirty="0"/>
              <a:t>Purpose: Adapting pre-trained models to specific tasks, enhancing performance with small datasets.</a:t>
            </a:r>
            <a:endParaRPr lang="en-US" sz="2000" b="0" i="0" u="none" strike="noStrike" baseline="0" dirty="0"/>
          </a:p>
          <a:p>
            <a:pPr>
              <a:buFont typeface="Arial" panose="020B0604020202020204" pitchFamily="34" charset="0"/>
              <a:buChar char="•"/>
            </a:pPr>
            <a:r>
              <a:rPr lang="en-US" sz="2000" b="0" i="0" u="none" strike="noStrike" baseline="0" dirty="0"/>
              <a:t>Fine-tuning with GPT-3.5 Turbo</a:t>
            </a:r>
          </a:p>
          <a:p>
            <a:pPr>
              <a:buFont typeface="Arial" panose="020B0604020202020204" pitchFamily="34" charset="0"/>
              <a:buChar char="•"/>
            </a:pPr>
            <a:r>
              <a:rPr lang="en-US" sz="2000" b="0" i="0" u="none" strike="noStrike" baseline="0" dirty="0"/>
              <a:t>Fine-tuning with  Llama-2</a:t>
            </a:r>
            <a:endParaRPr lang="en-US" sz="2000" dirty="0"/>
          </a:p>
          <a:p>
            <a:pPr>
              <a:buFont typeface="Arial" panose="020B0604020202020204" pitchFamily="34" charset="0"/>
              <a:buChar char="•"/>
            </a:pPr>
            <a:r>
              <a:rPr lang="en-US" sz="2000" b="0" i="0" u="none" strike="noStrike" baseline="0" dirty="0"/>
              <a:t>Fine-tuning with Pre-Trained Turkish BERT</a:t>
            </a:r>
            <a:endParaRPr lang="en-US" sz="2000" dirty="0"/>
          </a:p>
        </p:txBody>
      </p:sp>
      <p:sp>
        <p:nvSpPr>
          <p:cNvPr id="4" name="Date Placeholder 3">
            <a:extLst>
              <a:ext uri="{FF2B5EF4-FFF2-40B4-BE49-F238E27FC236}">
                <a16:creationId xmlns:a16="http://schemas.microsoft.com/office/drawing/2014/main" id="{A430BFEF-79A1-849E-597A-EF517E93BBB6}"/>
              </a:ext>
            </a:extLst>
          </p:cNvPr>
          <p:cNvSpPr>
            <a:spLocks noGrp="1"/>
          </p:cNvSpPr>
          <p:nvPr>
            <p:ph type="dt" sz="half" idx="10"/>
          </p:nvPr>
        </p:nvSpPr>
        <p:spPr/>
        <p:txBody>
          <a:bodyPr/>
          <a:lstStyle/>
          <a:p>
            <a:fld id="{4BCD89A5-BB87-4BDB-823F-9A3D3A2B6AFF}" type="datetime1">
              <a:rPr lang="en-US" smtClean="0"/>
              <a:t>7/25/2025</a:t>
            </a:fld>
            <a:endParaRPr lang="en-US"/>
          </a:p>
        </p:txBody>
      </p:sp>
      <p:sp>
        <p:nvSpPr>
          <p:cNvPr id="6" name="Slide Number Placeholder 5">
            <a:extLst>
              <a:ext uri="{FF2B5EF4-FFF2-40B4-BE49-F238E27FC236}">
                <a16:creationId xmlns:a16="http://schemas.microsoft.com/office/drawing/2014/main" id="{359ECBA7-98A3-52F9-316D-1F75CC3B5563}"/>
              </a:ext>
            </a:extLst>
          </p:cNvPr>
          <p:cNvSpPr>
            <a:spLocks noGrp="1"/>
          </p:cNvSpPr>
          <p:nvPr>
            <p:ph type="sldNum" sz="quarter" idx="12"/>
          </p:nvPr>
        </p:nvSpPr>
        <p:spPr/>
        <p:txBody>
          <a:bodyPr/>
          <a:lstStyle/>
          <a:p>
            <a:fld id="{F66C9141-23B4-4FD3-80FD-4E1CB454F295}" type="slidenum">
              <a:rPr lang="en-US" smtClean="0"/>
              <a:t>29</a:t>
            </a:fld>
            <a:endParaRPr lang="en-US"/>
          </a:p>
        </p:txBody>
      </p:sp>
    </p:spTree>
    <p:extLst>
      <p:ext uri="{BB962C8B-B14F-4D97-AF65-F5344CB8AC3E}">
        <p14:creationId xmlns:p14="http://schemas.microsoft.com/office/powerpoint/2010/main" val="2673513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E5320-E2B3-AC89-9864-3F4FEE8DE59D}"/>
              </a:ext>
            </a:extLst>
          </p:cNvPr>
          <p:cNvSpPr>
            <a:spLocks noGrp="1"/>
          </p:cNvSpPr>
          <p:nvPr>
            <p:ph type="title"/>
          </p:nvPr>
        </p:nvSpPr>
        <p:spPr>
          <a:xfrm>
            <a:off x="838200" y="681037"/>
            <a:ext cx="10515600" cy="1009651"/>
          </a:xfrm>
        </p:spPr>
        <p:txBody>
          <a:bodyPr>
            <a:normAutofit fontScale="90000"/>
          </a:bodyPr>
          <a:lstStyle/>
          <a:p>
            <a:br>
              <a:rPr lang="en-US" b="1" dirty="0"/>
            </a:br>
            <a:r>
              <a:rPr lang="en-US" b="1" dirty="0"/>
              <a:t>Fine-Tuning with GPT-3.5 Turbo: </a:t>
            </a:r>
            <a:r>
              <a:rPr kumimoji="0" lang="en-US" altLang="en-US" sz="4400" b="1" i="0" u="none" strike="noStrike" cap="none" normalizeH="0" baseline="0" dirty="0">
                <a:ln>
                  <a:noFill/>
                </a:ln>
                <a:solidFill>
                  <a:schemeClr val="tx1"/>
                </a:solidFill>
                <a:effectLst/>
              </a:rPr>
              <a:t>Data Format</a:t>
            </a:r>
            <a:br>
              <a:rPr kumimoji="0" lang="en-US" altLang="en-US" sz="4400" b="1" i="0" u="none" strike="noStrike" cap="none" normalizeH="0" baseline="0" dirty="0">
                <a:ln>
                  <a:noFill/>
                </a:ln>
                <a:solidFill>
                  <a:schemeClr val="tx1"/>
                </a:solidFill>
                <a:effectLst/>
                <a:latin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3EB38D2C-B1A7-DAD5-8739-3EBB5E8E2E34}"/>
              </a:ext>
            </a:extLst>
          </p:cNvPr>
          <p:cNvSpPr>
            <a:spLocks noGrp="1"/>
          </p:cNvSpPr>
          <p:nvPr>
            <p:ph idx="1"/>
          </p:nvPr>
        </p:nvSpPr>
        <p:spPr/>
        <p:txBody>
          <a:bodyPr/>
          <a:lstStyle/>
          <a:p>
            <a:endParaRPr lang="en-US"/>
          </a:p>
        </p:txBody>
      </p:sp>
      <p:graphicFrame>
        <p:nvGraphicFramePr>
          <p:cNvPr id="7" name="Table 6">
            <a:extLst>
              <a:ext uri="{FF2B5EF4-FFF2-40B4-BE49-F238E27FC236}">
                <a16:creationId xmlns:a16="http://schemas.microsoft.com/office/drawing/2014/main" id="{5ACD31F9-D818-B77A-E365-D85A74B9226F}"/>
              </a:ext>
            </a:extLst>
          </p:cNvPr>
          <p:cNvGraphicFramePr>
            <a:graphicFrameLocks noGrp="1"/>
          </p:cNvGraphicFramePr>
          <p:nvPr>
            <p:extLst>
              <p:ext uri="{D42A27DB-BD31-4B8C-83A1-F6EECF244321}">
                <p14:modId xmlns:p14="http://schemas.microsoft.com/office/powerpoint/2010/main" val="2297785664"/>
              </p:ext>
            </p:extLst>
          </p:nvPr>
        </p:nvGraphicFramePr>
        <p:xfrm>
          <a:off x="838200" y="1825624"/>
          <a:ext cx="10515600" cy="4351338"/>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315349897"/>
                    </a:ext>
                  </a:extLst>
                </a:gridCol>
                <a:gridCol w="5257800">
                  <a:extLst>
                    <a:ext uri="{9D8B030D-6E8A-4147-A177-3AD203B41FA5}">
                      <a16:colId xmlns:a16="http://schemas.microsoft.com/office/drawing/2014/main" val="1213084562"/>
                    </a:ext>
                  </a:extLst>
                </a:gridCol>
              </a:tblGrid>
              <a:tr h="4351338">
                <a:tc>
                  <a:txBody>
                    <a:bodyPr/>
                    <a:lstStyle/>
                    <a:p>
                      <a:r>
                        <a:rPr lang="en-US" dirty="0"/>
                        <a:t>Turkish Version </a:t>
                      </a:r>
                    </a:p>
                    <a:p>
                      <a:r>
                        <a:rPr lang="en-US" dirty="0"/>
                        <a:t>"system": {"content": "Son </a:t>
                      </a:r>
                      <a:r>
                        <a:rPr lang="en-US" dirty="0" err="1"/>
                        <a:t>konuşmanın</a:t>
                      </a:r>
                      <a:r>
                        <a:rPr lang="en-US" dirty="0"/>
                        <a:t> </a:t>
                      </a:r>
                      <a:r>
                        <a:rPr lang="en-US" dirty="0" err="1"/>
                        <a:t>duygusal</a:t>
                      </a:r>
                      <a:r>
                        <a:rPr lang="en-US" dirty="0"/>
                        <a:t> </a:t>
                      </a:r>
                      <a:r>
                        <a:rPr lang="en-US" dirty="0" err="1"/>
                        <a:t>tonunu</a:t>
                      </a:r>
                      <a:r>
                        <a:rPr lang="en-US" dirty="0"/>
                        <a:t> sadece “</a:t>
                      </a:r>
                      <a:r>
                        <a:rPr lang="en-US" dirty="0" err="1"/>
                        <a:t>pozitif</a:t>
                      </a:r>
                      <a:r>
                        <a:rPr lang="en-US" dirty="0"/>
                        <a:t>”, “</a:t>
                      </a:r>
                      <a:r>
                        <a:rPr lang="en-US" dirty="0" err="1"/>
                        <a:t>negatif</a:t>
                      </a:r>
                      <a:r>
                        <a:rPr lang="en-US" dirty="0"/>
                        <a:t>”, </a:t>
                      </a:r>
                      <a:r>
                        <a:rPr lang="en-US" dirty="0" err="1"/>
                        <a:t>ya</a:t>
                      </a:r>
                      <a:r>
                        <a:rPr lang="en-US" dirty="0"/>
                        <a:t> da “</a:t>
                      </a:r>
                      <a:r>
                        <a:rPr lang="en-US" dirty="0" err="1"/>
                        <a:t>nötr</a:t>
                      </a:r>
                      <a:r>
                        <a:rPr lang="en-US" dirty="0"/>
                        <a:t>” </a:t>
                      </a:r>
                      <a:r>
                        <a:rPr lang="en-US" dirty="0" err="1"/>
                        <a:t>olarak</a:t>
                      </a:r>
                      <a:r>
                        <a:rPr lang="en-US" dirty="0"/>
                        <a:t> </a:t>
                      </a:r>
                      <a:r>
                        <a:rPr lang="en-US" dirty="0" err="1"/>
                        <a:t>değerlendir</a:t>
                      </a:r>
                      <a:r>
                        <a:rPr lang="en-US" dirty="0"/>
                        <a:t>. </a:t>
                      </a:r>
                      <a:r>
                        <a:rPr lang="en-US" dirty="0" err="1"/>
                        <a:t>Cevabın</a:t>
                      </a:r>
                      <a:r>
                        <a:rPr lang="en-US" dirty="0"/>
                        <a:t> </a:t>
                      </a:r>
                      <a:r>
                        <a:rPr lang="en-US" dirty="0" err="1"/>
                        <a:t>tek</a:t>
                      </a:r>
                      <a:r>
                        <a:rPr lang="en-US" dirty="0"/>
                        <a:t> </a:t>
                      </a:r>
                      <a:r>
                        <a:rPr lang="en-US" dirty="0" err="1"/>
                        <a:t>bir</a:t>
                      </a:r>
                      <a:r>
                        <a:rPr lang="en-US" dirty="0"/>
                        <a:t> </a:t>
                      </a:r>
                      <a:r>
                        <a:rPr lang="en-US" dirty="0" err="1"/>
                        <a:t>kelime</a:t>
                      </a:r>
                      <a:r>
                        <a:rPr lang="en-US" dirty="0"/>
                        <a:t> olmasına dikkat et. </a:t>
                      </a:r>
                      <a:r>
                        <a:rPr lang="en-US" dirty="0" err="1"/>
                        <a:t>Konuşmacı</a:t>
                      </a:r>
                      <a:r>
                        <a:rPr lang="en-US" dirty="0"/>
                        <a:t> </a:t>
                      </a:r>
                      <a:r>
                        <a:rPr lang="en-US" dirty="0" err="1"/>
                        <a:t>cinsiyeti</a:t>
                      </a:r>
                      <a:r>
                        <a:rPr lang="en-US" dirty="0"/>
                        <a:t> </a:t>
                      </a:r>
                      <a:r>
                        <a:rPr lang="en-US" dirty="0" err="1"/>
                        <a:t>ve</a:t>
                      </a:r>
                      <a:r>
                        <a:rPr lang="en-US" dirty="0"/>
                        <a:t> diyalog </a:t>
                      </a:r>
                      <a:r>
                        <a:rPr lang="en-US" dirty="0" err="1"/>
                        <a:t>dinamiklerinin</a:t>
                      </a:r>
                      <a:r>
                        <a:rPr lang="en-US" dirty="0"/>
                        <a:t> </a:t>
                      </a:r>
                      <a:r>
                        <a:rPr lang="en-US" dirty="0" err="1"/>
                        <a:t>önemini</a:t>
                      </a:r>
                      <a:r>
                        <a:rPr lang="en-US" dirty="0"/>
                        <a:t> </a:t>
                      </a:r>
                      <a:r>
                        <a:rPr lang="en-US" dirty="0" err="1"/>
                        <a:t>göz</a:t>
                      </a:r>
                      <a:r>
                        <a:rPr lang="en-US" dirty="0"/>
                        <a:t> </a:t>
                      </a:r>
                      <a:r>
                        <a:rPr lang="en-US" dirty="0" err="1"/>
                        <a:t>önünde</a:t>
                      </a:r>
                      <a:r>
                        <a:rPr lang="en-US" dirty="0"/>
                        <a:t> </a:t>
                      </a:r>
                      <a:r>
                        <a:rPr lang="en-US" dirty="0" err="1"/>
                        <a:t>bulundur</a:t>
                      </a:r>
                      <a:r>
                        <a:rPr lang="en-US" dirty="0"/>
                        <a:t>."},</a:t>
                      </a:r>
                    </a:p>
                    <a:p>
                      <a:endParaRPr lang="en-US" dirty="0"/>
                    </a:p>
                    <a:p>
                      <a:r>
                        <a:rPr lang="en-US" dirty="0"/>
                        <a:t>"user": {"content": "[</a:t>
                      </a:r>
                      <a:r>
                        <a:rPr lang="en-US" dirty="0" err="1"/>
                        <a:t>Kadın</a:t>
                      </a:r>
                      <a:r>
                        <a:rPr lang="en-US" dirty="0"/>
                        <a:t>: </a:t>
                      </a:r>
                      <a:r>
                        <a:rPr lang="en-US" dirty="0" err="1"/>
                        <a:t>Gerçekten</a:t>
                      </a:r>
                      <a:r>
                        <a:rPr lang="en-US" dirty="0"/>
                        <a:t> </a:t>
                      </a:r>
                      <a:r>
                        <a:rPr lang="en-US" dirty="0" err="1"/>
                        <a:t>sinirliyim</a:t>
                      </a:r>
                      <a:r>
                        <a:rPr lang="en-US" dirty="0"/>
                        <a:t>, </a:t>
                      </a:r>
                      <a:r>
                        <a:rPr lang="en-US" dirty="0" err="1"/>
                        <a:t>sen</a:t>
                      </a:r>
                      <a:r>
                        <a:rPr lang="en-US" dirty="0"/>
                        <a:t> </a:t>
                      </a:r>
                      <a:r>
                        <a:rPr lang="en-US" dirty="0" err="1"/>
                        <a:t>başlayabilirsin</a:t>
                      </a:r>
                      <a:r>
                        <a:rPr lang="en-US" dirty="0"/>
                        <a:t>.] [Erkek: Ne </a:t>
                      </a:r>
                      <a:r>
                        <a:rPr lang="en-US" dirty="0" err="1"/>
                        <a:t>başlayacağım</a:t>
                      </a:r>
                      <a:r>
                        <a:rPr lang="en-US" dirty="0"/>
                        <a:t>?] [</a:t>
                      </a:r>
                      <a:r>
                        <a:rPr lang="en-US" dirty="0" err="1"/>
                        <a:t>Kadın</a:t>
                      </a:r>
                      <a:r>
                        <a:rPr lang="en-US" dirty="0"/>
                        <a:t>: </a:t>
                      </a:r>
                      <a:r>
                        <a:rPr lang="en-US" dirty="0" err="1"/>
                        <a:t>Hıh</a:t>
                      </a:r>
                      <a:r>
                        <a:rPr lang="en-US" dirty="0"/>
                        <a:t>!] [Erkek: Hani ne </a:t>
                      </a:r>
                      <a:r>
                        <a:rPr lang="en-US" dirty="0" err="1"/>
                        <a:t>sinirleniyorsun</a:t>
                      </a:r>
                      <a:r>
                        <a:rPr lang="en-US" dirty="0"/>
                        <a:t>?] [</a:t>
                      </a:r>
                      <a:r>
                        <a:rPr lang="en-US" dirty="0" err="1"/>
                        <a:t>Kadın</a:t>
                      </a:r>
                      <a:r>
                        <a:rPr lang="en-US" dirty="0"/>
                        <a:t>: </a:t>
                      </a:r>
                      <a:r>
                        <a:rPr lang="en-US" dirty="0" err="1"/>
                        <a:t>Arkadaşlar</a:t>
                      </a:r>
                      <a:r>
                        <a:rPr lang="en-US" dirty="0"/>
                        <a:t> </a:t>
                      </a:r>
                      <a:r>
                        <a:rPr lang="en-US" dirty="0" err="1"/>
                        <a:t>konusuna</a:t>
                      </a:r>
                      <a:r>
                        <a:rPr lang="en-US" dirty="0"/>
                        <a:t> </a:t>
                      </a:r>
                      <a:r>
                        <a:rPr lang="en-US" dirty="0" err="1"/>
                        <a:t>sen</a:t>
                      </a:r>
                      <a:r>
                        <a:rPr lang="en-US" dirty="0"/>
                        <a:t> </a:t>
                      </a:r>
                      <a:r>
                        <a:rPr lang="en-US" dirty="0" err="1"/>
                        <a:t>direkt</a:t>
                      </a:r>
                      <a:r>
                        <a:rPr lang="en-US" dirty="0"/>
                        <a:t> </a:t>
                      </a:r>
                      <a:r>
                        <a:rPr lang="en-US" dirty="0" err="1"/>
                        <a:t>başlayabilirsin</a:t>
                      </a:r>
                      <a:r>
                        <a:rPr lang="en-US" dirty="0"/>
                        <a:t> </a:t>
                      </a:r>
                      <a:r>
                        <a:rPr lang="en-US" dirty="0" err="1"/>
                        <a:t>bence</a:t>
                      </a:r>
                      <a:r>
                        <a:rPr lang="en-US" dirty="0"/>
                        <a:t>.]"}, </a:t>
                      </a:r>
                    </a:p>
                    <a:p>
                      <a:endParaRPr lang="en-US" dirty="0"/>
                    </a:p>
                    <a:p>
                      <a:r>
                        <a:rPr lang="en-US" dirty="0"/>
                        <a:t>"assistant": {"content": "</a:t>
                      </a:r>
                      <a:r>
                        <a:rPr lang="en-US" dirty="0" err="1"/>
                        <a:t>negatif</a:t>
                      </a:r>
                      <a:r>
                        <a:rPr lang="en-US" dirty="0"/>
                        <a:t>"}</a:t>
                      </a:r>
                    </a:p>
                  </a:txBody>
                  <a:tcPr/>
                </a:tc>
                <a:tc>
                  <a:txBody>
                    <a:bodyPr/>
                    <a:lstStyle/>
                    <a:p>
                      <a:r>
                        <a:rPr lang="en-US" dirty="0"/>
                        <a:t>English Version </a:t>
                      </a:r>
                    </a:p>
                    <a:p>
                      <a:r>
                        <a:rPr lang="en-US" dirty="0"/>
                        <a:t>"system": {"content": "Evaluate the emotional tone of the last conversation as “positive”, “negative”, or “neutral”. Ensure your response is a single word. Consider the importance of speaker gender and the dynamics of the dialogue."}, </a:t>
                      </a:r>
                    </a:p>
                    <a:p>
                      <a:endParaRPr lang="en-US" dirty="0"/>
                    </a:p>
                    <a:p>
                      <a:r>
                        <a:rPr lang="en-US" dirty="0"/>
                        <a:t>"user": {"content": "[Female: I’m really annoyed, you can start.] [Male: Start what?] [Female: Hmph!] [Male: What are you annoyed about?] [Female: I think you should start talking about friends directly.]"}, </a:t>
                      </a:r>
                    </a:p>
                    <a:p>
                      <a:endParaRPr lang="en-US" dirty="0"/>
                    </a:p>
                    <a:p>
                      <a:r>
                        <a:rPr lang="en-US" dirty="0"/>
                        <a:t>"assistant": {"content": "negative"}</a:t>
                      </a:r>
                    </a:p>
                  </a:txBody>
                  <a:tcPr/>
                </a:tc>
                <a:extLst>
                  <a:ext uri="{0D108BD9-81ED-4DB2-BD59-A6C34878D82A}">
                    <a16:rowId xmlns:a16="http://schemas.microsoft.com/office/drawing/2014/main" val="2994187713"/>
                  </a:ext>
                </a:extLst>
              </a:tr>
            </a:tbl>
          </a:graphicData>
        </a:graphic>
      </p:graphicFrame>
      <p:sp>
        <p:nvSpPr>
          <p:cNvPr id="4" name="Date Placeholder 3">
            <a:extLst>
              <a:ext uri="{FF2B5EF4-FFF2-40B4-BE49-F238E27FC236}">
                <a16:creationId xmlns:a16="http://schemas.microsoft.com/office/drawing/2014/main" id="{9FF12D77-9776-05F4-8C37-7976D11486B2}"/>
              </a:ext>
            </a:extLst>
          </p:cNvPr>
          <p:cNvSpPr>
            <a:spLocks noGrp="1"/>
          </p:cNvSpPr>
          <p:nvPr>
            <p:ph type="dt" sz="half" idx="10"/>
          </p:nvPr>
        </p:nvSpPr>
        <p:spPr/>
        <p:txBody>
          <a:bodyPr/>
          <a:lstStyle/>
          <a:p>
            <a:fld id="{4AB75D08-0D4C-4252-8C6B-FB2D71AC1C5A}" type="datetime1">
              <a:rPr lang="en-US" smtClean="0"/>
              <a:t>7/25/2025</a:t>
            </a:fld>
            <a:endParaRPr lang="en-US"/>
          </a:p>
        </p:txBody>
      </p:sp>
      <p:sp>
        <p:nvSpPr>
          <p:cNvPr id="5" name="Slide Number Placeholder 4">
            <a:extLst>
              <a:ext uri="{FF2B5EF4-FFF2-40B4-BE49-F238E27FC236}">
                <a16:creationId xmlns:a16="http://schemas.microsoft.com/office/drawing/2014/main" id="{2E92FCB4-D23D-DCF6-4EE0-C041D113C3D4}"/>
              </a:ext>
            </a:extLst>
          </p:cNvPr>
          <p:cNvSpPr>
            <a:spLocks noGrp="1"/>
          </p:cNvSpPr>
          <p:nvPr>
            <p:ph type="sldNum" sz="quarter" idx="12"/>
          </p:nvPr>
        </p:nvSpPr>
        <p:spPr/>
        <p:txBody>
          <a:bodyPr/>
          <a:lstStyle/>
          <a:p>
            <a:fld id="{F66C9141-23B4-4FD3-80FD-4E1CB454F295}" type="slidenum">
              <a:rPr lang="en-US" smtClean="0"/>
              <a:t>30</a:t>
            </a:fld>
            <a:endParaRPr lang="en-US"/>
          </a:p>
        </p:txBody>
      </p:sp>
    </p:spTree>
    <p:extLst>
      <p:ext uri="{BB962C8B-B14F-4D97-AF65-F5344CB8AC3E}">
        <p14:creationId xmlns:p14="http://schemas.microsoft.com/office/powerpoint/2010/main" val="14422155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A4509-D530-F5E0-89B1-8F0CE9445DDF}"/>
              </a:ext>
            </a:extLst>
          </p:cNvPr>
          <p:cNvSpPr>
            <a:spLocks noGrp="1"/>
          </p:cNvSpPr>
          <p:nvPr>
            <p:ph type="title"/>
          </p:nvPr>
        </p:nvSpPr>
        <p:spPr>
          <a:xfrm>
            <a:off x="838200" y="365126"/>
            <a:ext cx="10515600" cy="549274"/>
          </a:xfrm>
        </p:spPr>
        <p:txBody>
          <a:bodyPr>
            <a:normAutofit fontScale="90000"/>
          </a:bodyPr>
          <a:lstStyle/>
          <a:p>
            <a:r>
              <a:rPr lang="en-US" b="1" dirty="0"/>
              <a:t>Fine-Tuning with GPT-3.5 Turbo</a:t>
            </a:r>
          </a:p>
        </p:txBody>
      </p:sp>
      <p:sp>
        <p:nvSpPr>
          <p:cNvPr id="4" name="Rectangle 1">
            <a:extLst>
              <a:ext uri="{FF2B5EF4-FFF2-40B4-BE49-F238E27FC236}">
                <a16:creationId xmlns:a16="http://schemas.microsoft.com/office/drawing/2014/main" id="{BAAE1FC2-2C35-A2E3-91B3-61047AA57FE0}"/>
              </a:ext>
            </a:extLst>
          </p:cNvPr>
          <p:cNvSpPr>
            <a:spLocks noGrp="1" noChangeArrowheads="1"/>
          </p:cNvSpPr>
          <p:nvPr>
            <p:ph idx="1"/>
          </p:nvPr>
        </p:nvSpPr>
        <p:spPr bwMode="auto">
          <a:xfrm>
            <a:off x="838200" y="1122289"/>
            <a:ext cx="9761006"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600" b="1" i="0" u="none" strike="noStrike" cap="none" normalizeH="0" baseline="0" dirty="0">
                <a:ln>
                  <a:noFill/>
                </a:ln>
                <a:solidFill>
                  <a:schemeClr val="tx1"/>
                </a:solidFill>
                <a:effectLst/>
                <a:latin typeface="Arial" panose="020B0604020202020204" pitchFamily="34" charset="0"/>
              </a:rPr>
              <a:t>Training Strategy</a:t>
            </a:r>
          </a:p>
          <a:p>
            <a:pPr marL="0" indent="0" eaLnBrk="0" fontAlgn="base" hangingPunct="0">
              <a:lnSpc>
                <a:spcPct val="100000"/>
              </a:lnSpc>
              <a:spcBef>
                <a:spcPct val="0"/>
              </a:spcBef>
              <a:spcAft>
                <a:spcPct val="0"/>
              </a:spcAft>
              <a:buNone/>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Focus:</a:t>
            </a:r>
            <a:r>
              <a:rPr kumimoji="0" lang="en-US" altLang="en-US" sz="1600" b="0" i="0" u="none" strike="noStrike" cap="none" normalizeH="0" baseline="0" dirty="0">
                <a:ln>
                  <a:noFill/>
                </a:ln>
                <a:solidFill>
                  <a:schemeClr val="tx1"/>
                </a:solidFill>
                <a:effectLst/>
                <a:latin typeface="Arial" panose="020B0604020202020204" pitchFamily="34" charset="0"/>
              </a:rPr>
              <a:t> The model learns sentiment from the final utterance based on dialogue context and speaker states.</a:t>
            </a:r>
          </a:p>
          <a:p>
            <a:pPr marL="457200" lvl="1" indent="0" eaLnBrk="0" fontAlgn="base" hangingPunct="0">
              <a:lnSpc>
                <a:spcPct val="100000"/>
              </a:lnSpc>
              <a:spcBef>
                <a:spcPct val="0"/>
              </a:spcBef>
              <a:spcAft>
                <a:spcPct val="0"/>
              </a:spcAft>
              <a:buNone/>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Validation:</a:t>
            </a:r>
            <a:r>
              <a:rPr kumimoji="0" lang="en-US" altLang="en-US" sz="1600" b="0" i="0" u="none" strike="noStrike" cap="none" normalizeH="0" baseline="0" dirty="0">
                <a:ln>
                  <a:noFill/>
                </a:ln>
                <a:solidFill>
                  <a:schemeClr val="tx1"/>
                </a:solidFill>
                <a:effectLst/>
                <a:latin typeface="Arial" panose="020B0604020202020204" pitchFamily="34" charset="0"/>
              </a:rPr>
              <a:t> Monitored to prevent overfitting, using OpenAI's default parameters.</a:t>
            </a:r>
          </a:p>
          <a:p>
            <a:pPr marL="457200" lvl="1" indent="0" eaLnBrk="0" fontAlgn="base" hangingPunct="0">
              <a:lnSpc>
                <a:spcPct val="100000"/>
              </a:lnSpc>
              <a:spcBef>
                <a:spcPct val="0"/>
              </a:spcBef>
              <a:spcAft>
                <a:spcPct val="0"/>
              </a:spcAft>
              <a:buNone/>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Scale:</a:t>
            </a:r>
            <a:r>
              <a:rPr kumimoji="0" lang="en-US" altLang="en-US" sz="1600" b="0" i="0" u="none" strike="noStrike" cap="none" normalizeH="0" baseline="0" dirty="0">
                <a:ln>
                  <a:noFill/>
                </a:ln>
                <a:solidFill>
                  <a:schemeClr val="tx1"/>
                </a:solidFill>
                <a:effectLst/>
                <a:latin typeface="Arial" panose="020B0604020202020204" pitchFamily="34" charset="0"/>
              </a:rPr>
              <a:t> Processed 6.7 million tokens in 47 minutes.</a:t>
            </a:r>
          </a:p>
          <a:p>
            <a:pPr marL="457200" lvl="1" indent="0" eaLnBrk="0" fontAlgn="base" hangingPunct="0">
              <a:lnSpc>
                <a:spcPct val="100000"/>
              </a:lnSpc>
              <a:spcBef>
                <a:spcPct val="0"/>
              </a:spcBef>
              <a:spcAft>
                <a:spcPct val="0"/>
              </a:spcAft>
              <a:buNone/>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600" b="1" i="0" u="none" strike="noStrike" cap="none" normalizeH="0" baseline="0" dirty="0">
                <a:ln>
                  <a:noFill/>
                </a:ln>
                <a:solidFill>
                  <a:schemeClr val="tx1"/>
                </a:solidFill>
                <a:effectLst/>
                <a:latin typeface="Arial" panose="020B0604020202020204" pitchFamily="34" charset="0"/>
              </a:rPr>
              <a:t>Outcome</a:t>
            </a:r>
          </a:p>
          <a:p>
            <a:pPr marL="0" indent="0" eaLnBrk="0" fontAlgn="base" hangingPunct="0">
              <a:lnSpc>
                <a:spcPct val="100000"/>
              </a:lnSpc>
              <a:spcBef>
                <a:spcPct val="0"/>
              </a:spcBef>
              <a:spcAft>
                <a:spcPct val="0"/>
              </a:spcAft>
              <a:buNone/>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Result:</a:t>
            </a:r>
            <a:r>
              <a:rPr kumimoji="0" lang="en-US" altLang="en-US" sz="1600" b="0" i="0" u="none" strike="noStrike" cap="none" normalizeH="0" baseline="0" dirty="0">
                <a:ln>
                  <a:noFill/>
                </a:ln>
                <a:solidFill>
                  <a:schemeClr val="tx1"/>
                </a:solidFill>
                <a:effectLst/>
                <a:latin typeface="Arial" panose="020B0604020202020204" pitchFamily="34" charset="0"/>
              </a:rPr>
              <a:t> Demonstrates GPT-3.5 Turbo's strong capabilities in conversational sentiment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3" name="Date Placeholder 2">
            <a:extLst>
              <a:ext uri="{FF2B5EF4-FFF2-40B4-BE49-F238E27FC236}">
                <a16:creationId xmlns:a16="http://schemas.microsoft.com/office/drawing/2014/main" id="{1758DF91-2CB1-BC09-D7CB-80DC64E65190}"/>
              </a:ext>
            </a:extLst>
          </p:cNvPr>
          <p:cNvSpPr>
            <a:spLocks noGrp="1"/>
          </p:cNvSpPr>
          <p:nvPr>
            <p:ph type="dt" sz="half" idx="10"/>
          </p:nvPr>
        </p:nvSpPr>
        <p:spPr/>
        <p:txBody>
          <a:bodyPr/>
          <a:lstStyle/>
          <a:p>
            <a:fld id="{088A7171-C343-4079-84B2-FA3CDC69BBE2}" type="datetime1">
              <a:rPr lang="en-US" smtClean="0"/>
              <a:t>7/25/2025</a:t>
            </a:fld>
            <a:endParaRPr lang="en-US"/>
          </a:p>
        </p:txBody>
      </p:sp>
      <p:sp>
        <p:nvSpPr>
          <p:cNvPr id="5" name="Slide Number Placeholder 4">
            <a:extLst>
              <a:ext uri="{FF2B5EF4-FFF2-40B4-BE49-F238E27FC236}">
                <a16:creationId xmlns:a16="http://schemas.microsoft.com/office/drawing/2014/main" id="{6EE433D0-7234-5729-151A-89EB21E3530B}"/>
              </a:ext>
            </a:extLst>
          </p:cNvPr>
          <p:cNvSpPr>
            <a:spLocks noGrp="1"/>
          </p:cNvSpPr>
          <p:nvPr>
            <p:ph type="sldNum" sz="quarter" idx="12"/>
          </p:nvPr>
        </p:nvSpPr>
        <p:spPr/>
        <p:txBody>
          <a:bodyPr/>
          <a:lstStyle/>
          <a:p>
            <a:fld id="{F66C9141-23B4-4FD3-80FD-4E1CB454F295}" type="slidenum">
              <a:rPr lang="en-US" smtClean="0"/>
              <a:t>31</a:t>
            </a:fld>
            <a:endParaRPr lang="en-US"/>
          </a:p>
        </p:txBody>
      </p:sp>
    </p:spTree>
    <p:extLst>
      <p:ext uri="{BB962C8B-B14F-4D97-AF65-F5344CB8AC3E}">
        <p14:creationId xmlns:p14="http://schemas.microsoft.com/office/powerpoint/2010/main" val="30868602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75179-DD9D-1F83-9DF0-D0E9612E5A4C}"/>
              </a:ext>
            </a:extLst>
          </p:cNvPr>
          <p:cNvSpPr>
            <a:spLocks noGrp="1"/>
          </p:cNvSpPr>
          <p:nvPr>
            <p:ph type="title"/>
          </p:nvPr>
        </p:nvSpPr>
        <p:spPr>
          <a:xfrm>
            <a:off x="1024128" y="585216"/>
            <a:ext cx="9501863" cy="775221"/>
          </a:xfrm>
        </p:spPr>
        <p:txBody>
          <a:bodyPr>
            <a:normAutofit/>
          </a:bodyPr>
          <a:lstStyle/>
          <a:p>
            <a:r>
              <a:rPr lang="en-US" b="0" i="0" u="none" strike="noStrike" baseline="0" dirty="0">
                <a:latin typeface="NimbusSanL-Regu"/>
              </a:rPr>
              <a:t>Fine-tuning with LLAMA 2</a:t>
            </a:r>
            <a:endParaRPr lang="en-US" dirty="0"/>
          </a:p>
        </p:txBody>
      </p:sp>
      <p:sp>
        <p:nvSpPr>
          <p:cNvPr id="3" name="Content Placeholder 2">
            <a:extLst>
              <a:ext uri="{FF2B5EF4-FFF2-40B4-BE49-F238E27FC236}">
                <a16:creationId xmlns:a16="http://schemas.microsoft.com/office/drawing/2014/main" id="{A7936C20-5F0D-DF3E-493E-D83FB8E34A55}"/>
              </a:ext>
            </a:extLst>
          </p:cNvPr>
          <p:cNvSpPr>
            <a:spLocks noGrp="1"/>
          </p:cNvSpPr>
          <p:nvPr>
            <p:ph idx="1"/>
          </p:nvPr>
        </p:nvSpPr>
        <p:spPr>
          <a:xfrm>
            <a:off x="8021490" y="585216"/>
            <a:ext cx="3527043" cy="5586984"/>
          </a:xfrm>
        </p:spPr>
        <p:txBody>
          <a:bodyPr anchor="ctr">
            <a:normAutofit/>
          </a:bodyPr>
          <a:lstStyle/>
          <a:p>
            <a:pPr>
              <a:buFont typeface="Arial" panose="020B0604020202020204" pitchFamily="34" charset="0"/>
              <a:buChar char="•"/>
            </a:pPr>
            <a:r>
              <a:rPr lang="en-US" sz="2000" b="0" i="0" u="none" strike="noStrike" baseline="0">
                <a:solidFill>
                  <a:srgbClr val="FFFFFF"/>
                </a:solidFill>
                <a:latin typeface="NimbusRomNo9L-Regu"/>
              </a:rPr>
              <a:t>Parameter- Efficient Fine-Tuning (PEFT)</a:t>
            </a:r>
          </a:p>
          <a:p>
            <a:pPr>
              <a:buFont typeface="Arial" panose="020B0604020202020204" pitchFamily="34" charset="0"/>
              <a:buChar char="•"/>
            </a:pPr>
            <a:r>
              <a:rPr lang="en-US" sz="2000">
                <a:solidFill>
                  <a:srgbClr val="FFFFFF"/>
                </a:solidFill>
                <a:latin typeface="NimbusRomNo9L-Regu"/>
              </a:rPr>
              <a:t>I</a:t>
            </a:r>
            <a:r>
              <a:rPr lang="en-US" sz="2000" b="0" i="0" u="none" strike="noStrike" baseline="0">
                <a:solidFill>
                  <a:srgbClr val="FFFFFF"/>
                </a:solidFill>
                <a:latin typeface="NimbusRomNo9L-Regu"/>
              </a:rPr>
              <a:t>mplemented 4-bit quantization (24 GB Memory limit)</a:t>
            </a:r>
          </a:p>
          <a:p>
            <a:pPr>
              <a:buFont typeface="Arial" panose="020B0604020202020204" pitchFamily="34" charset="0"/>
              <a:buChar char="•"/>
            </a:pPr>
            <a:endParaRPr lang="en-US" sz="2000">
              <a:solidFill>
                <a:srgbClr val="FFFFFF"/>
              </a:solidFill>
            </a:endParaRPr>
          </a:p>
        </p:txBody>
      </p:sp>
      <p:sp>
        <p:nvSpPr>
          <p:cNvPr id="6" name="TextBox 5">
            <a:extLst>
              <a:ext uri="{FF2B5EF4-FFF2-40B4-BE49-F238E27FC236}">
                <a16:creationId xmlns:a16="http://schemas.microsoft.com/office/drawing/2014/main" id="{6F2E73E0-2BE3-FBBF-40E9-84E806E42CF0}"/>
              </a:ext>
            </a:extLst>
          </p:cNvPr>
          <p:cNvSpPr txBox="1"/>
          <p:nvPr/>
        </p:nvSpPr>
        <p:spPr>
          <a:xfrm>
            <a:off x="1319645" y="1527245"/>
            <a:ext cx="10058400" cy="4401205"/>
          </a:xfrm>
          <a:prstGeom prst="rect">
            <a:avLst/>
          </a:prstGeom>
          <a:noFill/>
        </p:spPr>
        <p:txBody>
          <a:bodyPr wrap="square">
            <a:spAutoFit/>
          </a:bodyPr>
          <a:lstStyle/>
          <a:p>
            <a:pPr>
              <a:buFont typeface="Arial" panose="020B0604020202020204" pitchFamily="34" charset="0"/>
              <a:buChar char="•"/>
            </a:pPr>
            <a:r>
              <a:rPr lang="en-US" sz="2000" b="1" dirty="0"/>
              <a:t>PEFT &amp; </a:t>
            </a:r>
            <a:r>
              <a:rPr lang="en-US" sz="2000" b="1" dirty="0" err="1"/>
              <a:t>LoRA</a:t>
            </a:r>
            <a:r>
              <a:rPr lang="en-US" sz="2000" b="1" dirty="0"/>
              <a:t>:</a:t>
            </a:r>
            <a:r>
              <a:rPr lang="en-US" sz="2000" dirty="0"/>
              <a:t> Efficient fine-tuning by updating only a subset of parameters.</a:t>
            </a:r>
          </a:p>
          <a:p>
            <a:pPr marL="742950" lvl="1" indent="-285750">
              <a:buFont typeface="Arial" panose="020B0604020202020204" pitchFamily="34" charset="0"/>
              <a:buChar char="•"/>
            </a:pPr>
            <a:r>
              <a:rPr lang="en-US" sz="2000" b="1" dirty="0"/>
              <a:t>PEFT:</a:t>
            </a:r>
            <a:r>
              <a:rPr lang="en-US" sz="2000" dirty="0"/>
              <a:t> Preserves the model's broad knowledge while refining it for specific tasks.</a:t>
            </a:r>
          </a:p>
          <a:p>
            <a:pPr marL="742950" lvl="1" indent="-285750">
              <a:buFont typeface="Arial" panose="020B0604020202020204" pitchFamily="34" charset="0"/>
              <a:buChar char="•"/>
            </a:pPr>
            <a:r>
              <a:rPr lang="en-US" sz="2000" b="1" dirty="0" err="1"/>
              <a:t>LoRA</a:t>
            </a:r>
            <a:r>
              <a:rPr lang="en-US" sz="2000" b="1" dirty="0"/>
              <a:t>:</a:t>
            </a:r>
            <a:r>
              <a:rPr lang="en-US" sz="2000" dirty="0"/>
              <a:t> Introduces low-rank matrices for targeted adjustments with minimal parameters.</a:t>
            </a:r>
          </a:p>
          <a:p>
            <a:pPr marL="285750" indent="-285750">
              <a:buFont typeface="Arial" panose="020B0604020202020204" pitchFamily="34" charset="0"/>
              <a:buChar char="•"/>
            </a:pPr>
            <a:r>
              <a:rPr lang="en-US" sz="2000" b="1" dirty="0"/>
              <a:t>Fine-Tuning Process:</a:t>
            </a:r>
            <a:endParaRPr lang="en-US" sz="2000" dirty="0"/>
          </a:p>
          <a:p>
            <a:pPr lvl="1">
              <a:buFont typeface="Arial" panose="020B0604020202020204" pitchFamily="34" charset="0"/>
              <a:buChar char="•"/>
            </a:pPr>
            <a:r>
              <a:rPr lang="en-US" sz="2000" b="1" dirty="0"/>
              <a:t>Resource Optimization:</a:t>
            </a:r>
            <a:endParaRPr lang="en-US" sz="2000" dirty="0"/>
          </a:p>
          <a:p>
            <a:pPr marL="1200150" lvl="2" indent="-285750">
              <a:buFont typeface="Arial" panose="020B0604020202020204" pitchFamily="34" charset="0"/>
              <a:buChar char="•"/>
            </a:pPr>
            <a:r>
              <a:rPr lang="en-US" sz="2000" dirty="0"/>
              <a:t>Implemented </a:t>
            </a:r>
            <a:r>
              <a:rPr lang="en-US" sz="2000" b="1" dirty="0"/>
              <a:t>4-bit quantization</a:t>
            </a:r>
            <a:r>
              <a:rPr lang="en-US" sz="2000" dirty="0"/>
              <a:t> to reduce memory usage and enable operation within 24 GB.</a:t>
            </a:r>
          </a:p>
          <a:p>
            <a:pPr marL="1200150" lvl="2" indent="-285750">
              <a:buFont typeface="Arial" panose="020B0604020202020204" pitchFamily="34" charset="0"/>
              <a:buChar char="•"/>
            </a:pPr>
            <a:r>
              <a:rPr lang="en-US" sz="2000" dirty="0"/>
              <a:t>Fine-tuned </a:t>
            </a:r>
            <a:r>
              <a:rPr lang="en-US" sz="2000" b="1" dirty="0" err="1"/>
              <a:t>Trendyol</a:t>
            </a:r>
            <a:r>
              <a:rPr lang="en-US" sz="2000" b="1" dirty="0"/>
              <a:t> LLM</a:t>
            </a:r>
            <a:r>
              <a:rPr lang="en-US" sz="2000" dirty="0"/>
              <a:t> (based on Llama 2) for chatbot interactions.</a:t>
            </a:r>
          </a:p>
          <a:p>
            <a:pPr marL="1200150" lvl="2" indent="-285750">
              <a:buFont typeface="Arial" panose="020B0604020202020204" pitchFamily="34" charset="0"/>
              <a:buChar char="•"/>
            </a:pPr>
            <a:r>
              <a:rPr lang="en-US" sz="2000" b="1" dirty="0"/>
              <a:t>Learning Rate Adjustment:</a:t>
            </a:r>
            <a:r>
              <a:rPr lang="en-US" sz="2000" dirty="0"/>
              <a:t> Used 1e-6 (instead of 2e-4) to prevent overfitting.</a:t>
            </a:r>
          </a:p>
          <a:p>
            <a:pPr marL="285750" indent="-285750">
              <a:buFont typeface="Arial" panose="020B0604020202020204" pitchFamily="34" charset="0"/>
              <a:buChar char="•"/>
            </a:pPr>
            <a:r>
              <a:rPr lang="en-US" sz="2000" b="1" dirty="0"/>
              <a:t>Fine-Tuning Parameters:</a:t>
            </a:r>
            <a:endParaRPr lang="en-US" sz="2000" dirty="0"/>
          </a:p>
          <a:p>
            <a:pPr lvl="1">
              <a:buFont typeface="Arial" panose="020B0604020202020204" pitchFamily="34" charset="0"/>
              <a:buChar char="•"/>
            </a:pPr>
            <a:r>
              <a:rPr lang="en-US" sz="2000" b="1" dirty="0" err="1"/>
              <a:t>LoRA</a:t>
            </a:r>
            <a:r>
              <a:rPr lang="en-US" sz="2000" b="1" dirty="0"/>
              <a:t> Alpha:</a:t>
            </a:r>
            <a:r>
              <a:rPr lang="en-US" sz="2000" dirty="0"/>
              <a:t> 128 (scales low-rank matrices)</a:t>
            </a:r>
          </a:p>
          <a:p>
            <a:pPr lvl="1">
              <a:buFont typeface="Arial" panose="020B0604020202020204" pitchFamily="34" charset="0"/>
              <a:buChar char="•"/>
            </a:pPr>
            <a:r>
              <a:rPr lang="en-US" sz="2000" b="1" dirty="0"/>
              <a:t>Dropout Rate:</a:t>
            </a:r>
            <a:r>
              <a:rPr lang="en-US" sz="2000" dirty="0"/>
              <a:t> 0.05 (prevents overfitting)</a:t>
            </a:r>
          </a:p>
          <a:p>
            <a:pPr lvl="1">
              <a:buFont typeface="Arial" panose="020B0604020202020204" pitchFamily="34" charset="0"/>
              <a:buChar char="•"/>
            </a:pPr>
            <a:r>
              <a:rPr lang="en-US" sz="2000" b="1" dirty="0" err="1"/>
              <a:t>LoRA</a:t>
            </a:r>
            <a:r>
              <a:rPr lang="en-US" sz="2000" b="1" dirty="0"/>
              <a:t> Rank:</a:t>
            </a:r>
            <a:r>
              <a:rPr lang="en-US" sz="2000" dirty="0"/>
              <a:t> 64 (rank of low-rank matrices)</a:t>
            </a:r>
          </a:p>
          <a:p>
            <a:pPr lvl="1">
              <a:buFont typeface="Arial" panose="020B0604020202020204" pitchFamily="34" charset="0"/>
              <a:buChar char="•"/>
            </a:pPr>
            <a:r>
              <a:rPr lang="en-US" sz="2000" b="1" dirty="0"/>
              <a:t>Compute </a:t>
            </a:r>
            <a:r>
              <a:rPr lang="en-US" sz="2000" b="1" dirty="0" err="1"/>
              <a:t>dtype</a:t>
            </a:r>
            <a:r>
              <a:rPr lang="en-US" sz="2000" b="1" dirty="0"/>
              <a:t>:</a:t>
            </a:r>
            <a:r>
              <a:rPr lang="en-US" sz="2000" dirty="0"/>
              <a:t> bfloat16 (for efficiency with 4-bit model)</a:t>
            </a:r>
          </a:p>
        </p:txBody>
      </p:sp>
      <p:sp>
        <p:nvSpPr>
          <p:cNvPr id="4" name="Date Placeholder 3">
            <a:extLst>
              <a:ext uri="{FF2B5EF4-FFF2-40B4-BE49-F238E27FC236}">
                <a16:creationId xmlns:a16="http://schemas.microsoft.com/office/drawing/2014/main" id="{9C7EA576-3649-B0CE-0B4F-ECAD178B6360}"/>
              </a:ext>
            </a:extLst>
          </p:cNvPr>
          <p:cNvSpPr>
            <a:spLocks noGrp="1"/>
          </p:cNvSpPr>
          <p:nvPr>
            <p:ph type="dt" sz="half" idx="10"/>
          </p:nvPr>
        </p:nvSpPr>
        <p:spPr/>
        <p:txBody>
          <a:bodyPr/>
          <a:lstStyle/>
          <a:p>
            <a:fld id="{94688FFA-2EDC-49CE-9743-6B5E074F77C1}" type="datetime1">
              <a:rPr lang="en-US" smtClean="0"/>
              <a:t>7/25/2025</a:t>
            </a:fld>
            <a:endParaRPr lang="en-US"/>
          </a:p>
        </p:txBody>
      </p:sp>
      <p:sp>
        <p:nvSpPr>
          <p:cNvPr id="5" name="Slide Number Placeholder 4">
            <a:extLst>
              <a:ext uri="{FF2B5EF4-FFF2-40B4-BE49-F238E27FC236}">
                <a16:creationId xmlns:a16="http://schemas.microsoft.com/office/drawing/2014/main" id="{0B4CC99C-A383-9A4B-2161-B1088492EB6E}"/>
              </a:ext>
            </a:extLst>
          </p:cNvPr>
          <p:cNvSpPr>
            <a:spLocks noGrp="1"/>
          </p:cNvSpPr>
          <p:nvPr>
            <p:ph type="sldNum" sz="quarter" idx="12"/>
          </p:nvPr>
        </p:nvSpPr>
        <p:spPr/>
        <p:txBody>
          <a:bodyPr/>
          <a:lstStyle/>
          <a:p>
            <a:fld id="{F66C9141-23B4-4FD3-80FD-4E1CB454F295}" type="slidenum">
              <a:rPr lang="en-US" smtClean="0"/>
              <a:t>32</a:t>
            </a:fld>
            <a:endParaRPr lang="en-US"/>
          </a:p>
        </p:txBody>
      </p:sp>
    </p:spTree>
    <p:extLst>
      <p:ext uri="{BB962C8B-B14F-4D97-AF65-F5344CB8AC3E}">
        <p14:creationId xmlns:p14="http://schemas.microsoft.com/office/powerpoint/2010/main" val="7070717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3D0405-B10D-1A14-CA1B-395652310283}"/>
              </a:ext>
            </a:extLst>
          </p:cNvPr>
          <p:cNvSpPr>
            <a:spLocks noGrp="1"/>
          </p:cNvSpPr>
          <p:nvPr>
            <p:ph type="title"/>
          </p:nvPr>
        </p:nvSpPr>
        <p:spPr>
          <a:xfrm>
            <a:off x="761803" y="350196"/>
            <a:ext cx="4646904" cy="1624520"/>
          </a:xfrm>
        </p:spPr>
        <p:txBody>
          <a:bodyPr anchor="ctr">
            <a:normAutofit/>
          </a:bodyPr>
          <a:lstStyle/>
          <a:p>
            <a:r>
              <a:rPr lang="en-US" sz="4000" b="0" i="0" u="none" strike="noStrike" baseline="0" dirty="0">
                <a:latin typeface="NimbusSanL-Regu"/>
              </a:rPr>
              <a:t>Fine-tuning with LLAMA 2</a:t>
            </a:r>
            <a:endParaRPr lang="en-US" sz="4000" dirty="0"/>
          </a:p>
        </p:txBody>
      </p:sp>
      <p:sp>
        <p:nvSpPr>
          <p:cNvPr id="3" name="Content Placeholder 2">
            <a:extLst>
              <a:ext uri="{FF2B5EF4-FFF2-40B4-BE49-F238E27FC236}">
                <a16:creationId xmlns:a16="http://schemas.microsoft.com/office/drawing/2014/main" id="{6DABB707-B3D0-BD6F-DF71-06366387E8C8}"/>
              </a:ext>
            </a:extLst>
          </p:cNvPr>
          <p:cNvSpPr>
            <a:spLocks noGrp="1"/>
          </p:cNvSpPr>
          <p:nvPr>
            <p:ph idx="1"/>
          </p:nvPr>
        </p:nvSpPr>
        <p:spPr>
          <a:xfrm>
            <a:off x="761802" y="1763980"/>
            <a:ext cx="5327371" cy="4898572"/>
          </a:xfrm>
        </p:spPr>
        <p:txBody>
          <a:bodyPr anchor="ctr">
            <a:normAutofit/>
          </a:bodyPr>
          <a:lstStyle/>
          <a:p>
            <a:pPr>
              <a:buFont typeface="Arial" panose="020B0604020202020204" pitchFamily="34" charset="0"/>
              <a:buChar char="•"/>
            </a:pPr>
            <a:r>
              <a:rPr lang="en-US" sz="1300" b="1" dirty="0"/>
              <a:t>Training Configuration:</a:t>
            </a:r>
            <a:endParaRPr lang="en-US" sz="1300" dirty="0"/>
          </a:p>
          <a:p>
            <a:pPr marL="742950" lvl="1" indent="-285750">
              <a:buFont typeface="Arial" panose="020B0604020202020204" pitchFamily="34" charset="0"/>
              <a:buChar char="•"/>
            </a:pPr>
            <a:r>
              <a:rPr lang="en-US" sz="1300" b="1" dirty="0"/>
              <a:t>Epochs:</a:t>
            </a:r>
            <a:r>
              <a:rPr lang="en-US" sz="1300" dirty="0"/>
              <a:t> 3 with micro-batch size of 2.</a:t>
            </a:r>
          </a:p>
          <a:p>
            <a:pPr marL="742950" lvl="1" indent="-285750">
              <a:buFont typeface="Arial" panose="020B0604020202020204" pitchFamily="34" charset="0"/>
              <a:buChar char="•"/>
            </a:pPr>
            <a:r>
              <a:rPr lang="en-US" sz="1300" b="1" dirty="0"/>
              <a:t>Optimizer:</a:t>
            </a:r>
            <a:r>
              <a:rPr lang="en-US" sz="1300" dirty="0"/>
              <a:t> </a:t>
            </a:r>
            <a:r>
              <a:rPr lang="en-US" sz="1300" dirty="0" err="1"/>
              <a:t>AdamW</a:t>
            </a:r>
            <a:r>
              <a:rPr lang="en-US" sz="1300" dirty="0"/>
              <a:t> with torch-fused operations.</a:t>
            </a:r>
          </a:p>
          <a:p>
            <a:pPr marL="742950" lvl="1" indent="-285750">
              <a:buFont typeface="Arial" panose="020B0604020202020204" pitchFamily="34" charset="0"/>
              <a:buChar char="•"/>
            </a:pPr>
            <a:r>
              <a:rPr lang="en-US" sz="1300" b="1" dirty="0"/>
              <a:t>Max Sequence Length:</a:t>
            </a:r>
            <a:r>
              <a:rPr lang="en-US" sz="1300" dirty="0"/>
              <a:t> 4096 tokens for full context retention.</a:t>
            </a:r>
          </a:p>
          <a:p>
            <a:pPr marL="457200" lvl="1" indent="0">
              <a:buNone/>
            </a:pPr>
            <a:endParaRPr lang="en-US" sz="1300" dirty="0"/>
          </a:p>
          <a:p>
            <a:pPr>
              <a:buFont typeface="Arial" panose="020B0604020202020204" pitchFamily="34" charset="0"/>
              <a:buChar char="•"/>
            </a:pPr>
            <a:r>
              <a:rPr lang="en-US" sz="1300" b="1" dirty="0"/>
              <a:t>Few-shot Prompting:</a:t>
            </a:r>
            <a:endParaRPr lang="en-US" sz="1300" dirty="0"/>
          </a:p>
          <a:p>
            <a:pPr marL="742950" lvl="1" indent="-285750">
              <a:buFont typeface="Arial" panose="020B0604020202020204" pitchFamily="34" charset="0"/>
              <a:buChar char="•"/>
            </a:pPr>
            <a:r>
              <a:rPr lang="en-US" sz="1300" dirty="0"/>
              <a:t>Significant improvement in Weighted F1 scores.</a:t>
            </a:r>
          </a:p>
          <a:p>
            <a:pPr marL="742950" lvl="1" indent="-285750">
              <a:buFont typeface="Arial" panose="020B0604020202020204" pitchFamily="34" charset="0"/>
              <a:buChar char="•"/>
            </a:pPr>
            <a:r>
              <a:rPr lang="en-US" sz="1300" dirty="0"/>
              <a:t>Training included few-shot examples for better contextual understanding.</a:t>
            </a:r>
          </a:p>
          <a:p>
            <a:pPr marL="457200" lvl="1" indent="0">
              <a:buNone/>
            </a:pPr>
            <a:endParaRPr lang="en-US" sz="1300" dirty="0"/>
          </a:p>
          <a:p>
            <a:r>
              <a:rPr lang="en-US" sz="1300" b="1" dirty="0"/>
              <a:t>Outcome and Usage:</a:t>
            </a:r>
            <a:endParaRPr lang="en-US" sz="1300" dirty="0"/>
          </a:p>
          <a:p>
            <a:pPr lvl="1"/>
            <a:r>
              <a:rPr lang="en-US" sz="1300" b="1" dirty="0"/>
              <a:t>Evaluation:</a:t>
            </a:r>
            <a:r>
              <a:rPr lang="en-US" sz="1300" dirty="0"/>
              <a:t> Conducted every 25 steps; tracked via </a:t>
            </a:r>
            <a:r>
              <a:rPr lang="en-US" sz="1300" dirty="0" err="1"/>
              <a:t>TensorBoard</a:t>
            </a:r>
            <a:r>
              <a:rPr lang="en-US" sz="1300" dirty="0"/>
              <a:t>.</a:t>
            </a:r>
          </a:p>
          <a:p>
            <a:pPr lvl="1"/>
            <a:r>
              <a:rPr lang="en-US" sz="1300" b="1" dirty="0"/>
              <a:t>Total Training Time:</a:t>
            </a:r>
            <a:r>
              <a:rPr lang="en-US" sz="1300" dirty="0"/>
              <a:t> 47 hours.</a:t>
            </a:r>
          </a:p>
          <a:p>
            <a:pPr lvl="1"/>
            <a:r>
              <a:rPr lang="en-US" sz="1300" b="1" dirty="0"/>
              <a:t>Final Result:</a:t>
            </a:r>
            <a:r>
              <a:rPr lang="en-US" sz="1300" dirty="0"/>
              <a:t> Achieved minimal loss, indicating effective fine-tuning.</a:t>
            </a:r>
          </a:p>
          <a:p>
            <a:endParaRPr lang="en-US" sz="1300" dirty="0"/>
          </a:p>
        </p:txBody>
      </p:sp>
      <p:pic>
        <p:nvPicPr>
          <p:cNvPr id="5" name="Picture 4" descr="Graph on document with pen">
            <a:extLst>
              <a:ext uri="{FF2B5EF4-FFF2-40B4-BE49-F238E27FC236}">
                <a16:creationId xmlns:a16="http://schemas.microsoft.com/office/drawing/2014/main" id="{0816602B-9C75-F3E9-5B2F-8707DADF5CDC}"/>
              </a:ext>
            </a:extLst>
          </p:cNvPr>
          <p:cNvPicPr>
            <a:picLocks noChangeAspect="1"/>
          </p:cNvPicPr>
          <p:nvPr/>
        </p:nvPicPr>
        <p:blipFill>
          <a:blip r:embed="rId2"/>
          <a:srcRect l="27161" r="13438" b="-2"/>
          <a:stretch/>
        </p:blipFill>
        <p:spPr>
          <a:xfrm>
            <a:off x="6096000" y="1"/>
            <a:ext cx="6102825" cy="6858000"/>
          </a:xfrm>
          <a:prstGeom prst="rect">
            <a:avLst/>
          </a:prstGeom>
        </p:spPr>
      </p:pic>
      <p:sp>
        <p:nvSpPr>
          <p:cNvPr id="4" name="Date Placeholder 3">
            <a:extLst>
              <a:ext uri="{FF2B5EF4-FFF2-40B4-BE49-F238E27FC236}">
                <a16:creationId xmlns:a16="http://schemas.microsoft.com/office/drawing/2014/main" id="{F98D8B61-3BF8-4CC2-9E11-0AA9D2613A94}"/>
              </a:ext>
            </a:extLst>
          </p:cNvPr>
          <p:cNvSpPr>
            <a:spLocks noGrp="1"/>
          </p:cNvSpPr>
          <p:nvPr>
            <p:ph type="dt" sz="half" idx="10"/>
          </p:nvPr>
        </p:nvSpPr>
        <p:spPr/>
        <p:txBody>
          <a:bodyPr/>
          <a:lstStyle/>
          <a:p>
            <a:fld id="{964707A3-6CE7-413A-8A5B-EE49522AC814}" type="datetime1">
              <a:rPr lang="en-US" smtClean="0"/>
              <a:t>7/25/2025</a:t>
            </a:fld>
            <a:endParaRPr lang="en-US"/>
          </a:p>
        </p:txBody>
      </p:sp>
      <p:sp>
        <p:nvSpPr>
          <p:cNvPr id="6" name="Slide Number Placeholder 5">
            <a:extLst>
              <a:ext uri="{FF2B5EF4-FFF2-40B4-BE49-F238E27FC236}">
                <a16:creationId xmlns:a16="http://schemas.microsoft.com/office/drawing/2014/main" id="{04248C47-1D36-D82B-5672-1A9FEB390B79}"/>
              </a:ext>
            </a:extLst>
          </p:cNvPr>
          <p:cNvSpPr>
            <a:spLocks noGrp="1"/>
          </p:cNvSpPr>
          <p:nvPr>
            <p:ph type="sldNum" sz="quarter" idx="12"/>
          </p:nvPr>
        </p:nvSpPr>
        <p:spPr/>
        <p:txBody>
          <a:bodyPr/>
          <a:lstStyle/>
          <a:p>
            <a:fld id="{F66C9141-23B4-4FD3-80FD-4E1CB454F295}" type="slidenum">
              <a:rPr lang="en-US" smtClean="0"/>
              <a:t>33</a:t>
            </a:fld>
            <a:endParaRPr lang="en-US"/>
          </a:p>
        </p:txBody>
      </p:sp>
    </p:spTree>
    <p:extLst>
      <p:ext uri="{BB962C8B-B14F-4D97-AF65-F5344CB8AC3E}">
        <p14:creationId xmlns:p14="http://schemas.microsoft.com/office/powerpoint/2010/main" val="3968279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19904-90E5-A397-E47B-1F8DA58B5A4D}"/>
              </a:ext>
            </a:extLst>
          </p:cNvPr>
          <p:cNvSpPr>
            <a:spLocks noGrp="1"/>
          </p:cNvSpPr>
          <p:nvPr>
            <p:ph type="title"/>
          </p:nvPr>
        </p:nvSpPr>
        <p:spPr/>
        <p:txBody>
          <a:bodyPr>
            <a:normAutofit fontScale="90000"/>
          </a:bodyPr>
          <a:lstStyle/>
          <a:p>
            <a:r>
              <a:rPr lang="en-US" sz="4800" b="0" i="0" u="none" strike="noStrike" baseline="0" dirty="0">
                <a:solidFill>
                  <a:srgbClr val="333333"/>
                </a:solidFill>
                <a:latin typeface="NimbusSanL-Regu"/>
              </a:rPr>
              <a:t>Fine-tuning with Pre-Trained Turkish BERT</a:t>
            </a:r>
            <a:endParaRPr lang="en-US" dirty="0"/>
          </a:p>
        </p:txBody>
      </p:sp>
      <p:sp>
        <p:nvSpPr>
          <p:cNvPr id="3" name="Content Placeholder 2">
            <a:extLst>
              <a:ext uri="{FF2B5EF4-FFF2-40B4-BE49-F238E27FC236}">
                <a16:creationId xmlns:a16="http://schemas.microsoft.com/office/drawing/2014/main" id="{8B8E6708-5138-ED83-E5A7-DF70C46B9636}"/>
              </a:ext>
            </a:extLst>
          </p:cNvPr>
          <p:cNvSpPr>
            <a:spLocks noGrp="1"/>
          </p:cNvSpPr>
          <p:nvPr>
            <p:ph idx="1"/>
          </p:nvPr>
        </p:nvSpPr>
        <p:spPr>
          <a:xfrm>
            <a:off x="838200" y="1506683"/>
            <a:ext cx="10515600" cy="5216236"/>
          </a:xfrm>
        </p:spPr>
        <p:txBody>
          <a:bodyPr>
            <a:normAutofit fontScale="62500" lnSpcReduction="20000"/>
          </a:bodyPr>
          <a:lstStyle/>
          <a:p>
            <a:pPr>
              <a:buFont typeface="Arial" panose="020B0604020202020204" pitchFamily="34" charset="0"/>
              <a:buChar char="•"/>
            </a:pPr>
            <a:r>
              <a:rPr lang="en-US" sz="2900" b="1"/>
              <a:t>Training Parameters:</a:t>
            </a:r>
            <a:endParaRPr lang="en-US" sz="2900"/>
          </a:p>
          <a:p>
            <a:pPr marL="742950" lvl="1" indent="-285750">
              <a:buFont typeface="Arial" panose="020B0604020202020204" pitchFamily="34" charset="0"/>
              <a:buChar char="•"/>
            </a:pPr>
            <a:r>
              <a:rPr lang="en-US" sz="2900" b="1"/>
              <a:t>Learning Rate:</a:t>
            </a:r>
            <a:r>
              <a:rPr lang="en-US" sz="2900"/>
              <a:t> 1e-5</a:t>
            </a:r>
          </a:p>
          <a:p>
            <a:pPr marL="742950" lvl="1" indent="-285750">
              <a:buFont typeface="Arial" panose="020B0604020202020204" pitchFamily="34" charset="0"/>
              <a:buChar char="•"/>
            </a:pPr>
            <a:r>
              <a:rPr lang="en-US" sz="2900" b="1"/>
              <a:t>Batch Size:</a:t>
            </a:r>
            <a:r>
              <a:rPr lang="en-US" sz="2900"/>
              <a:t> 16</a:t>
            </a:r>
          </a:p>
          <a:p>
            <a:pPr marL="742950" lvl="1" indent="-285750">
              <a:buFont typeface="Arial" panose="020B0604020202020204" pitchFamily="34" charset="0"/>
              <a:buChar char="•"/>
            </a:pPr>
            <a:r>
              <a:rPr lang="en-US" sz="2900" b="1"/>
              <a:t>Epochs:</a:t>
            </a:r>
            <a:r>
              <a:rPr lang="en-US" sz="2900"/>
              <a:t> 3 (based on validation loss to prevent overfitting)</a:t>
            </a:r>
          </a:p>
          <a:p>
            <a:pPr marL="742950" lvl="1" indent="-285750">
              <a:buFont typeface="Arial" panose="020B0604020202020204" pitchFamily="34" charset="0"/>
              <a:buChar char="•"/>
            </a:pPr>
            <a:r>
              <a:rPr lang="en-US" sz="2900" b="1"/>
              <a:t>Weight Decay:</a:t>
            </a:r>
            <a:r>
              <a:rPr lang="en-US" sz="2900"/>
              <a:t> 0.01 to further prevent overfitting.</a:t>
            </a:r>
          </a:p>
          <a:p>
            <a:pPr>
              <a:buFont typeface="Arial" panose="020B0604020202020204" pitchFamily="34" charset="0"/>
              <a:buChar char="•"/>
            </a:pPr>
            <a:r>
              <a:rPr lang="en-US" sz="2900" b="1"/>
              <a:t>Model Monitoring:</a:t>
            </a:r>
            <a:endParaRPr lang="en-US" sz="2900"/>
          </a:p>
          <a:p>
            <a:pPr marL="742950" lvl="1" indent="-285750">
              <a:buFont typeface="Arial" panose="020B0604020202020204" pitchFamily="34" charset="0"/>
              <a:buChar char="•"/>
            </a:pPr>
            <a:r>
              <a:rPr lang="en-US" sz="2900"/>
              <a:t>Performance tracked via loss metric.</a:t>
            </a:r>
          </a:p>
          <a:p>
            <a:pPr marL="742950" lvl="1" indent="-285750">
              <a:buFont typeface="Arial" panose="020B0604020202020204" pitchFamily="34" charset="0"/>
              <a:buChar char="•"/>
            </a:pPr>
            <a:r>
              <a:rPr lang="en-US" sz="2900"/>
              <a:t>Best-performing model saved for sentiment analysis.</a:t>
            </a:r>
          </a:p>
          <a:p>
            <a:r>
              <a:rPr lang="en-US" sz="2900" b="1"/>
              <a:t>Training Strategy:</a:t>
            </a:r>
            <a:endParaRPr lang="en-US" sz="2900"/>
          </a:p>
          <a:p>
            <a:pPr lvl="1"/>
            <a:r>
              <a:rPr lang="en-US" sz="2900" b="1"/>
              <a:t>Comprehensive Input:</a:t>
            </a:r>
            <a:endParaRPr lang="en-US" sz="2900"/>
          </a:p>
          <a:p>
            <a:pPr marL="1200150" lvl="2" indent="-285750"/>
            <a:r>
              <a:rPr lang="en-US" sz="2900"/>
              <a:t>Included all preceding utterances, current utterance label, and speaker states (e.g., female, male) during training.</a:t>
            </a:r>
          </a:p>
          <a:p>
            <a:pPr lvl="1"/>
            <a:r>
              <a:rPr lang="en-US" sz="2900" b="1"/>
              <a:t>Testing:</a:t>
            </a:r>
            <a:endParaRPr lang="en-US" sz="2900"/>
          </a:p>
          <a:p>
            <a:pPr marL="1200150" lvl="2" indent="-285750"/>
            <a:r>
              <a:rPr lang="en-US" sz="2900"/>
              <a:t>Model evaluated on its ability to generalize by predicting sentiment labels without access to correct answers.</a:t>
            </a:r>
          </a:p>
          <a:p>
            <a:r>
              <a:rPr lang="en-US" sz="2900" b="1"/>
              <a:t>Outcome and Usage:</a:t>
            </a:r>
            <a:endParaRPr lang="en-US" sz="2900"/>
          </a:p>
          <a:p>
            <a:pPr lvl="1"/>
            <a:r>
              <a:rPr lang="en-US" sz="2900" b="1"/>
              <a:t>Embedding Extraction:</a:t>
            </a:r>
            <a:endParaRPr lang="en-US" sz="2900"/>
          </a:p>
          <a:p>
            <a:pPr marL="1200150" lvl="2" indent="-285750"/>
            <a:r>
              <a:rPr lang="en-US" sz="2900"/>
              <a:t>Used the saved model to extract high-quality embeddings from the [CLS] token for DialogueRNN.</a:t>
            </a:r>
          </a:p>
          <a:p>
            <a:pPr lvl="1"/>
            <a:r>
              <a:rPr lang="en-US" sz="2900" b="1"/>
              <a:t>Sentiment Classification:</a:t>
            </a:r>
            <a:endParaRPr lang="en-US" sz="2900"/>
          </a:p>
          <a:p>
            <a:pPr marL="1200150" lvl="2" indent="-285750"/>
            <a:r>
              <a:rPr lang="en-US" sz="2900"/>
              <a:t>Fine-tuned model demonstrated precision in sentiment detection within conversations.</a:t>
            </a:r>
          </a:p>
          <a:p>
            <a:endParaRPr lang="en-US" dirty="0"/>
          </a:p>
        </p:txBody>
      </p:sp>
      <p:sp>
        <p:nvSpPr>
          <p:cNvPr id="4" name="Date Placeholder 3">
            <a:extLst>
              <a:ext uri="{FF2B5EF4-FFF2-40B4-BE49-F238E27FC236}">
                <a16:creationId xmlns:a16="http://schemas.microsoft.com/office/drawing/2014/main" id="{0646270B-34BD-3D5D-BB10-296B71C9726A}"/>
              </a:ext>
            </a:extLst>
          </p:cNvPr>
          <p:cNvSpPr>
            <a:spLocks noGrp="1"/>
          </p:cNvSpPr>
          <p:nvPr>
            <p:ph type="dt" sz="half" idx="10"/>
          </p:nvPr>
        </p:nvSpPr>
        <p:spPr/>
        <p:txBody>
          <a:bodyPr/>
          <a:lstStyle/>
          <a:p>
            <a:fld id="{0F137342-1022-4407-B989-E69DE3B95072}" type="datetime1">
              <a:rPr lang="en-US" smtClean="0"/>
              <a:t>7/25/2025</a:t>
            </a:fld>
            <a:endParaRPr lang="en-US"/>
          </a:p>
        </p:txBody>
      </p:sp>
      <p:sp>
        <p:nvSpPr>
          <p:cNvPr id="5" name="Slide Number Placeholder 4">
            <a:extLst>
              <a:ext uri="{FF2B5EF4-FFF2-40B4-BE49-F238E27FC236}">
                <a16:creationId xmlns:a16="http://schemas.microsoft.com/office/drawing/2014/main" id="{CDED65A5-EC39-CA38-C308-1B0C60510C5A}"/>
              </a:ext>
            </a:extLst>
          </p:cNvPr>
          <p:cNvSpPr>
            <a:spLocks noGrp="1"/>
          </p:cNvSpPr>
          <p:nvPr>
            <p:ph type="sldNum" sz="quarter" idx="12"/>
          </p:nvPr>
        </p:nvSpPr>
        <p:spPr/>
        <p:txBody>
          <a:bodyPr/>
          <a:lstStyle/>
          <a:p>
            <a:fld id="{F66C9141-23B4-4FD3-80FD-4E1CB454F295}" type="slidenum">
              <a:rPr lang="en-US" smtClean="0"/>
              <a:t>34</a:t>
            </a:fld>
            <a:endParaRPr lang="en-US"/>
          </a:p>
        </p:txBody>
      </p:sp>
    </p:spTree>
    <p:extLst>
      <p:ext uri="{BB962C8B-B14F-4D97-AF65-F5344CB8AC3E}">
        <p14:creationId xmlns:p14="http://schemas.microsoft.com/office/powerpoint/2010/main" val="1409933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5CC50F2E-EF04-4D7A-A09C-5AEF6E5EAD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A8760E64-5A41-72D1-579F-DC5F0A170A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4507" y="18087"/>
            <a:ext cx="4617491" cy="5468314"/>
          </a:xfrm>
          <a:prstGeom prst="rect">
            <a:avLst/>
          </a:prstGeom>
          <a:ln>
            <a:noFill/>
          </a:ln>
          <a:effectLst>
            <a:outerShdw blurRad="635000" dist="254000" dir="5460000" sx="90000" sy="9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ADC0C5-AAFE-F0FC-18FF-95FFAB877B82}"/>
              </a:ext>
            </a:extLst>
          </p:cNvPr>
          <p:cNvSpPr>
            <a:spLocks noGrp="1"/>
          </p:cNvSpPr>
          <p:nvPr>
            <p:ph type="title"/>
          </p:nvPr>
        </p:nvSpPr>
        <p:spPr>
          <a:xfrm>
            <a:off x="8079475" y="684945"/>
            <a:ext cx="3520854" cy="4311383"/>
          </a:xfrm>
        </p:spPr>
        <p:txBody>
          <a:bodyPr vert="horz" lIns="91440" tIns="45720" rIns="91440" bIns="45720" rtlCol="0" anchor="ctr">
            <a:normAutofit/>
          </a:bodyPr>
          <a:lstStyle/>
          <a:p>
            <a:r>
              <a:rPr lang="en-US" sz="4000" b="1" dirty="0"/>
              <a:t>Embedding-based Modeling: </a:t>
            </a:r>
            <a:r>
              <a:rPr lang="en-US" sz="4000" b="1" dirty="0" err="1"/>
              <a:t>DialogueRNN</a:t>
            </a:r>
            <a:r>
              <a:rPr lang="en-US" sz="4000" b="1" dirty="0"/>
              <a:t> </a:t>
            </a:r>
          </a:p>
        </p:txBody>
      </p:sp>
      <p:pic>
        <p:nvPicPr>
          <p:cNvPr id="5" name="Picture 4" descr="3D square and rectangle">
            <a:extLst>
              <a:ext uri="{FF2B5EF4-FFF2-40B4-BE49-F238E27FC236}">
                <a16:creationId xmlns:a16="http://schemas.microsoft.com/office/drawing/2014/main" id="{06206609-60E8-7EED-B5E7-3A1EC78EE7F3}"/>
              </a:ext>
            </a:extLst>
          </p:cNvPr>
          <p:cNvPicPr>
            <a:picLocks noChangeAspect="1"/>
          </p:cNvPicPr>
          <p:nvPr/>
        </p:nvPicPr>
        <p:blipFill>
          <a:blip r:embed="rId2"/>
          <a:srcRect l="2194" r="21625" b="1"/>
          <a:stretch/>
        </p:blipFill>
        <p:spPr>
          <a:xfrm>
            <a:off x="-2" y="10"/>
            <a:ext cx="7571799" cy="6857989"/>
          </a:xfrm>
          <a:prstGeom prst="rect">
            <a:avLst/>
          </a:prstGeom>
        </p:spPr>
      </p:pic>
      <p:sp>
        <p:nvSpPr>
          <p:cNvPr id="3" name="Date Placeholder 2">
            <a:extLst>
              <a:ext uri="{FF2B5EF4-FFF2-40B4-BE49-F238E27FC236}">
                <a16:creationId xmlns:a16="http://schemas.microsoft.com/office/drawing/2014/main" id="{DCE0077E-7D94-AB13-6FD4-33B7BE9F96A5}"/>
              </a:ext>
            </a:extLst>
          </p:cNvPr>
          <p:cNvSpPr>
            <a:spLocks noGrp="1"/>
          </p:cNvSpPr>
          <p:nvPr>
            <p:ph type="dt" sz="half" idx="10"/>
          </p:nvPr>
        </p:nvSpPr>
        <p:spPr/>
        <p:txBody>
          <a:bodyPr/>
          <a:lstStyle/>
          <a:p>
            <a:fld id="{5EA3CC44-549E-4BF4-BB5A-7F9E5F601D42}" type="datetime1">
              <a:rPr lang="en-US" smtClean="0"/>
              <a:t>7/25/2025</a:t>
            </a:fld>
            <a:endParaRPr lang="en-US"/>
          </a:p>
        </p:txBody>
      </p:sp>
      <p:sp>
        <p:nvSpPr>
          <p:cNvPr id="4" name="Slide Number Placeholder 3">
            <a:extLst>
              <a:ext uri="{FF2B5EF4-FFF2-40B4-BE49-F238E27FC236}">
                <a16:creationId xmlns:a16="http://schemas.microsoft.com/office/drawing/2014/main" id="{67DA5E99-3164-C439-768E-0EC31EE54EEF}"/>
              </a:ext>
            </a:extLst>
          </p:cNvPr>
          <p:cNvSpPr>
            <a:spLocks noGrp="1"/>
          </p:cNvSpPr>
          <p:nvPr>
            <p:ph type="sldNum" sz="quarter" idx="12"/>
          </p:nvPr>
        </p:nvSpPr>
        <p:spPr/>
        <p:txBody>
          <a:bodyPr/>
          <a:lstStyle/>
          <a:p>
            <a:fld id="{F66C9141-23B4-4FD3-80FD-4E1CB454F295}" type="slidenum">
              <a:rPr lang="en-US" smtClean="0"/>
              <a:t>35</a:t>
            </a:fld>
            <a:endParaRPr lang="en-US"/>
          </a:p>
        </p:txBody>
      </p:sp>
    </p:spTree>
    <p:extLst>
      <p:ext uri="{BB962C8B-B14F-4D97-AF65-F5344CB8AC3E}">
        <p14:creationId xmlns:p14="http://schemas.microsoft.com/office/powerpoint/2010/main" val="17868316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6D2D95-F1DB-47DB-8A71-B7758F6E6619}"/>
              </a:ext>
            </a:extLst>
          </p:cNvPr>
          <p:cNvSpPr>
            <a:spLocks noGrp="1"/>
          </p:cNvSpPr>
          <p:nvPr>
            <p:ph type="title"/>
          </p:nvPr>
        </p:nvSpPr>
        <p:spPr>
          <a:xfrm>
            <a:off x="761803" y="350196"/>
            <a:ext cx="4646904" cy="1624520"/>
          </a:xfrm>
        </p:spPr>
        <p:txBody>
          <a:bodyPr anchor="ctr">
            <a:normAutofit/>
          </a:bodyPr>
          <a:lstStyle/>
          <a:p>
            <a:r>
              <a:rPr lang="fr-FR" sz="3700" b="1" dirty="0" err="1"/>
              <a:t>DialogueRNN</a:t>
            </a:r>
            <a:r>
              <a:rPr lang="fr-FR" sz="3700" b="1" dirty="0"/>
              <a:t> for </a:t>
            </a:r>
            <a:r>
              <a:rPr lang="fr-FR" sz="3700" b="1" dirty="0" err="1"/>
              <a:t>Conversational</a:t>
            </a:r>
            <a:r>
              <a:rPr lang="fr-FR" sz="3700" b="1" dirty="0"/>
              <a:t> Emotion </a:t>
            </a:r>
            <a:r>
              <a:rPr lang="fr-FR" sz="3700" b="1" dirty="0" err="1"/>
              <a:t>Analysis</a:t>
            </a:r>
            <a:endParaRPr lang="en-US" sz="3700" b="1" dirty="0"/>
          </a:p>
        </p:txBody>
      </p:sp>
      <p:sp>
        <p:nvSpPr>
          <p:cNvPr id="3" name="Content Placeholder 2">
            <a:extLst>
              <a:ext uri="{FF2B5EF4-FFF2-40B4-BE49-F238E27FC236}">
                <a16:creationId xmlns:a16="http://schemas.microsoft.com/office/drawing/2014/main" id="{D2E6A01E-C8EA-4CF0-B376-70663592F163}"/>
              </a:ext>
            </a:extLst>
          </p:cNvPr>
          <p:cNvSpPr>
            <a:spLocks noGrp="1"/>
          </p:cNvSpPr>
          <p:nvPr>
            <p:ph idx="1"/>
          </p:nvPr>
        </p:nvSpPr>
        <p:spPr>
          <a:xfrm>
            <a:off x="761802" y="2324912"/>
            <a:ext cx="4646905" cy="4031437"/>
          </a:xfrm>
        </p:spPr>
        <p:txBody>
          <a:bodyPr anchor="ctr">
            <a:normAutofit/>
          </a:bodyPr>
          <a:lstStyle/>
          <a:p>
            <a:pPr>
              <a:buFont typeface="Arial" panose="020B0604020202020204" pitchFamily="34" charset="0"/>
              <a:buChar char="•"/>
            </a:pPr>
            <a:r>
              <a:rPr lang="en-US" sz="1700" b="1" dirty="0"/>
              <a:t>Purpose:</a:t>
            </a:r>
            <a:r>
              <a:rPr lang="en-US" sz="1700" dirty="0"/>
              <a:t> </a:t>
            </a:r>
            <a:r>
              <a:rPr lang="en-US" sz="1700" dirty="0" err="1"/>
              <a:t>DialogueRNN</a:t>
            </a:r>
            <a:r>
              <a:rPr lang="en-US" sz="1700" dirty="0"/>
              <a:t> tracks individual speaker states throughout conversations.</a:t>
            </a:r>
          </a:p>
          <a:p>
            <a:pPr>
              <a:buFont typeface="Arial" panose="020B0604020202020204" pitchFamily="34" charset="0"/>
              <a:buChar char="•"/>
            </a:pPr>
            <a:r>
              <a:rPr lang="en-US" sz="1700" b="1" dirty="0"/>
              <a:t>Application:</a:t>
            </a:r>
            <a:r>
              <a:rPr lang="en-US" sz="1700" dirty="0"/>
              <a:t> Can be applied to multiparty datasets.</a:t>
            </a:r>
          </a:p>
          <a:p>
            <a:r>
              <a:rPr lang="en-US" sz="1700" b="1" dirty="0"/>
              <a:t>Key Aspects Modeled</a:t>
            </a:r>
            <a:endParaRPr lang="en-US" sz="1700" dirty="0"/>
          </a:p>
          <a:p>
            <a:pPr marL="457200" lvl="1" indent="0">
              <a:buNone/>
            </a:pPr>
            <a:r>
              <a:rPr lang="en-US" sz="1700" b="1" dirty="0"/>
              <a:t>Speaker:</a:t>
            </a:r>
            <a:r>
              <a:rPr lang="en-US" sz="1700" dirty="0"/>
              <a:t> Tracks individual speaker's emotional state.</a:t>
            </a:r>
          </a:p>
          <a:p>
            <a:pPr marL="457200" lvl="1" indent="0">
              <a:buNone/>
            </a:pPr>
            <a:r>
              <a:rPr lang="en-US" sz="1700" b="1" dirty="0"/>
              <a:t>Context:</a:t>
            </a:r>
            <a:r>
              <a:rPr lang="en-US" sz="1700" dirty="0"/>
              <a:t> Considers context from preceding utterances.</a:t>
            </a:r>
          </a:p>
          <a:p>
            <a:pPr marL="457200" lvl="1" indent="0">
              <a:buNone/>
            </a:pPr>
            <a:r>
              <a:rPr lang="en-US" sz="1700" b="1" dirty="0"/>
              <a:t>Emotion:</a:t>
            </a:r>
            <a:r>
              <a:rPr lang="en-US" sz="1700" dirty="0"/>
              <a:t> Incorporates the emotion of preceding utterances to predict current emotion.</a:t>
            </a:r>
          </a:p>
          <a:p>
            <a:endParaRPr lang="en-US" sz="1700" dirty="0"/>
          </a:p>
        </p:txBody>
      </p:sp>
      <p:pic>
        <p:nvPicPr>
          <p:cNvPr id="5" name="Picture 4" descr="Red toy person in front of two lines of white figures">
            <a:extLst>
              <a:ext uri="{FF2B5EF4-FFF2-40B4-BE49-F238E27FC236}">
                <a16:creationId xmlns:a16="http://schemas.microsoft.com/office/drawing/2014/main" id="{F83D7538-A306-18E5-FCA5-EB26E354F085}"/>
              </a:ext>
            </a:extLst>
          </p:cNvPr>
          <p:cNvPicPr>
            <a:picLocks noChangeAspect="1"/>
          </p:cNvPicPr>
          <p:nvPr/>
        </p:nvPicPr>
        <p:blipFill>
          <a:blip r:embed="rId2"/>
          <a:srcRect l="22673" r="18817"/>
          <a:stretch/>
        </p:blipFill>
        <p:spPr>
          <a:xfrm>
            <a:off x="6096000" y="1"/>
            <a:ext cx="6102825" cy="6858000"/>
          </a:xfrm>
          <a:prstGeom prst="rect">
            <a:avLst/>
          </a:prstGeom>
        </p:spPr>
      </p:pic>
      <p:sp>
        <p:nvSpPr>
          <p:cNvPr id="4" name="Date Placeholder 3">
            <a:extLst>
              <a:ext uri="{FF2B5EF4-FFF2-40B4-BE49-F238E27FC236}">
                <a16:creationId xmlns:a16="http://schemas.microsoft.com/office/drawing/2014/main" id="{EC152EB1-AE01-FB78-3E88-D3A6E30939B8}"/>
              </a:ext>
            </a:extLst>
          </p:cNvPr>
          <p:cNvSpPr>
            <a:spLocks noGrp="1"/>
          </p:cNvSpPr>
          <p:nvPr>
            <p:ph type="dt" sz="half" idx="10"/>
          </p:nvPr>
        </p:nvSpPr>
        <p:spPr/>
        <p:txBody>
          <a:bodyPr/>
          <a:lstStyle/>
          <a:p>
            <a:fld id="{5305CEE8-47D6-4BAD-93FB-63CC98C77BE5}" type="datetime1">
              <a:rPr lang="en-US" smtClean="0"/>
              <a:t>7/25/2025</a:t>
            </a:fld>
            <a:endParaRPr lang="en-US"/>
          </a:p>
        </p:txBody>
      </p:sp>
      <p:sp>
        <p:nvSpPr>
          <p:cNvPr id="6" name="Slide Number Placeholder 5">
            <a:extLst>
              <a:ext uri="{FF2B5EF4-FFF2-40B4-BE49-F238E27FC236}">
                <a16:creationId xmlns:a16="http://schemas.microsoft.com/office/drawing/2014/main" id="{9E655C61-4CFD-1B03-A74F-1159B8211CAF}"/>
              </a:ext>
            </a:extLst>
          </p:cNvPr>
          <p:cNvSpPr>
            <a:spLocks noGrp="1"/>
          </p:cNvSpPr>
          <p:nvPr>
            <p:ph type="sldNum" sz="quarter" idx="12"/>
          </p:nvPr>
        </p:nvSpPr>
        <p:spPr/>
        <p:txBody>
          <a:bodyPr/>
          <a:lstStyle/>
          <a:p>
            <a:fld id="{F66C9141-23B4-4FD3-80FD-4E1CB454F295}" type="slidenum">
              <a:rPr lang="en-US" smtClean="0"/>
              <a:t>36</a:t>
            </a:fld>
            <a:endParaRPr lang="en-US"/>
          </a:p>
        </p:txBody>
      </p:sp>
    </p:spTree>
    <p:extLst>
      <p:ext uri="{BB962C8B-B14F-4D97-AF65-F5344CB8AC3E}">
        <p14:creationId xmlns:p14="http://schemas.microsoft.com/office/powerpoint/2010/main" val="15479774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3F611-966F-9743-948E-FFE7F1680EF0}"/>
              </a:ext>
            </a:extLst>
          </p:cNvPr>
          <p:cNvSpPr>
            <a:spLocks noGrp="1"/>
          </p:cNvSpPr>
          <p:nvPr>
            <p:ph type="title"/>
          </p:nvPr>
        </p:nvSpPr>
        <p:spPr/>
        <p:txBody>
          <a:bodyPr>
            <a:normAutofit fontScale="90000"/>
          </a:bodyPr>
          <a:lstStyle/>
          <a:p>
            <a:br>
              <a:rPr lang="en-TR" b="1" dirty="0"/>
            </a:br>
            <a:r>
              <a:rPr lang="en-TR" b="1" dirty="0"/>
              <a:t>DialogueRNN: An Attentive RNN for Emotion Detection in Conversations(Majumder et al.,2019)</a:t>
            </a:r>
            <a:br>
              <a:rPr lang="en-TR" dirty="0"/>
            </a:br>
            <a:endParaRPr lang="en-TR" dirty="0"/>
          </a:p>
        </p:txBody>
      </p:sp>
      <p:pic>
        <p:nvPicPr>
          <p:cNvPr id="4" name="Content Placeholder 3" descr="Diagram&#10;&#10;Description automatically generated">
            <a:extLst>
              <a:ext uri="{FF2B5EF4-FFF2-40B4-BE49-F238E27FC236}">
                <a16:creationId xmlns:a16="http://schemas.microsoft.com/office/drawing/2014/main" id="{E5816F17-DFC1-2F4D-8262-2A76F255A1E4}"/>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682750" y="2026444"/>
            <a:ext cx="8826500" cy="3949700"/>
          </a:xfrm>
          <a:prstGeom prst="rect">
            <a:avLst/>
          </a:prstGeom>
        </p:spPr>
      </p:pic>
      <p:sp>
        <p:nvSpPr>
          <p:cNvPr id="3" name="Date Placeholder 2">
            <a:extLst>
              <a:ext uri="{FF2B5EF4-FFF2-40B4-BE49-F238E27FC236}">
                <a16:creationId xmlns:a16="http://schemas.microsoft.com/office/drawing/2014/main" id="{2D9559E7-5596-7FED-1E4E-F180ED2767F5}"/>
              </a:ext>
            </a:extLst>
          </p:cNvPr>
          <p:cNvSpPr>
            <a:spLocks noGrp="1"/>
          </p:cNvSpPr>
          <p:nvPr>
            <p:ph type="dt" sz="half" idx="10"/>
          </p:nvPr>
        </p:nvSpPr>
        <p:spPr/>
        <p:txBody>
          <a:bodyPr/>
          <a:lstStyle/>
          <a:p>
            <a:fld id="{233EED1B-9A93-4FEB-9148-F21826F5F722}" type="datetime1">
              <a:rPr lang="en-US" smtClean="0"/>
              <a:t>7/25/2025</a:t>
            </a:fld>
            <a:endParaRPr lang="en-US"/>
          </a:p>
        </p:txBody>
      </p:sp>
      <p:sp>
        <p:nvSpPr>
          <p:cNvPr id="5" name="Slide Number Placeholder 4">
            <a:extLst>
              <a:ext uri="{FF2B5EF4-FFF2-40B4-BE49-F238E27FC236}">
                <a16:creationId xmlns:a16="http://schemas.microsoft.com/office/drawing/2014/main" id="{93A8F504-BE89-B48F-45C0-3E1EB11255B6}"/>
              </a:ext>
            </a:extLst>
          </p:cNvPr>
          <p:cNvSpPr>
            <a:spLocks noGrp="1"/>
          </p:cNvSpPr>
          <p:nvPr>
            <p:ph type="sldNum" sz="quarter" idx="12"/>
          </p:nvPr>
        </p:nvSpPr>
        <p:spPr/>
        <p:txBody>
          <a:bodyPr/>
          <a:lstStyle/>
          <a:p>
            <a:fld id="{F66C9141-23B4-4FD3-80FD-4E1CB454F295}" type="slidenum">
              <a:rPr lang="en-US" smtClean="0"/>
              <a:t>37</a:t>
            </a:fld>
            <a:endParaRPr lang="en-US"/>
          </a:p>
        </p:txBody>
      </p:sp>
    </p:spTree>
    <p:extLst>
      <p:ext uri="{BB962C8B-B14F-4D97-AF65-F5344CB8AC3E}">
        <p14:creationId xmlns:p14="http://schemas.microsoft.com/office/powerpoint/2010/main" val="22116970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8C0E3-33A2-4915-BA8B-54C57F86FCE4}"/>
              </a:ext>
            </a:extLst>
          </p:cNvPr>
          <p:cNvSpPr>
            <a:spLocks noGrp="1"/>
          </p:cNvSpPr>
          <p:nvPr>
            <p:ph type="title"/>
          </p:nvPr>
        </p:nvSpPr>
        <p:spPr/>
        <p:txBody>
          <a:bodyPr/>
          <a:lstStyle/>
          <a:p>
            <a:pPr algn="ctr"/>
            <a:r>
              <a:rPr lang="fr-FR" b="1" dirty="0" err="1"/>
              <a:t>DialogueRNN</a:t>
            </a:r>
            <a:r>
              <a:rPr lang="fr-FR" b="1" dirty="0"/>
              <a:t> for </a:t>
            </a:r>
            <a:r>
              <a:rPr lang="fr-FR" b="1" dirty="0" err="1"/>
              <a:t>Conversational</a:t>
            </a:r>
            <a:r>
              <a:rPr lang="fr-FR" b="1" dirty="0"/>
              <a:t> Emotion </a:t>
            </a:r>
            <a:r>
              <a:rPr lang="fr-FR" b="1" dirty="0" err="1"/>
              <a:t>Analysis</a:t>
            </a:r>
            <a:endParaRPr lang="en-US" b="1" dirty="0"/>
          </a:p>
        </p:txBody>
      </p:sp>
      <p:sp>
        <p:nvSpPr>
          <p:cNvPr id="7" name="Content Placeholder 6">
            <a:extLst>
              <a:ext uri="{FF2B5EF4-FFF2-40B4-BE49-F238E27FC236}">
                <a16:creationId xmlns:a16="http://schemas.microsoft.com/office/drawing/2014/main" id="{E2502E3E-C334-40D5-88B3-FD9A099FE7E8}"/>
              </a:ext>
            </a:extLst>
          </p:cNvPr>
          <p:cNvSpPr>
            <a:spLocks noGrp="1"/>
          </p:cNvSpPr>
          <p:nvPr>
            <p:ph idx="1"/>
          </p:nvPr>
        </p:nvSpPr>
        <p:spPr/>
        <p:txBody>
          <a:bodyPr>
            <a:normAutofit fontScale="92500" lnSpcReduction="20000"/>
          </a:bodyPr>
          <a:lstStyle/>
          <a:p>
            <a:r>
              <a:rPr lang="en-TR"/>
              <a:t>Global GRU gives contextual representation of all preceding utterances by different parties in the conversation.</a:t>
            </a:r>
          </a:p>
          <a:p>
            <a:endParaRPr lang="en-US"/>
          </a:p>
          <a:p>
            <a:endParaRPr lang="en-US"/>
          </a:p>
          <a:p>
            <a:r>
              <a:rPr lang="en-TR"/>
              <a:t>The speaker state depends on the context through attention and the speaker’s previous state.</a:t>
            </a:r>
            <a:r>
              <a:rPr lang="en-TR">
                <a:effectLst/>
              </a:rPr>
              <a:t> </a:t>
            </a:r>
          </a:p>
          <a:p>
            <a:endParaRPr lang="en-US"/>
          </a:p>
          <a:p>
            <a:endParaRPr lang="en-US"/>
          </a:p>
          <a:p>
            <a:endParaRPr lang="en-US"/>
          </a:p>
          <a:p>
            <a:r>
              <a:rPr lang="en-TR"/>
              <a:t>At time t, the emotion GRU cell gets the emotion representation of t − 1 and the speaker state of t.</a:t>
            </a:r>
          </a:p>
          <a:p>
            <a:endParaRPr lang="en-US"/>
          </a:p>
          <a:p>
            <a:endParaRPr lang="en-US"/>
          </a:p>
          <a:p>
            <a:endParaRPr lang="en-US"/>
          </a:p>
          <a:p>
            <a:endParaRPr lang="en-US" dirty="0"/>
          </a:p>
        </p:txBody>
      </p:sp>
      <p:pic>
        <p:nvPicPr>
          <p:cNvPr id="8" name="Picture 7">
            <a:extLst>
              <a:ext uri="{FF2B5EF4-FFF2-40B4-BE49-F238E27FC236}">
                <a16:creationId xmlns:a16="http://schemas.microsoft.com/office/drawing/2014/main" id="{74D5B537-E7E6-4D07-9470-8AD882004DCB}"/>
              </a:ext>
            </a:extLst>
          </p:cNvPr>
          <p:cNvPicPr>
            <a:picLocks noChangeAspect="1"/>
          </p:cNvPicPr>
          <p:nvPr/>
        </p:nvPicPr>
        <p:blipFill>
          <a:blip r:embed="rId2"/>
          <a:stretch>
            <a:fillRect/>
          </a:stretch>
        </p:blipFill>
        <p:spPr>
          <a:xfrm>
            <a:off x="4600264" y="5873785"/>
            <a:ext cx="2273300" cy="624032"/>
          </a:xfrm>
          <a:prstGeom prst="rect">
            <a:avLst/>
          </a:prstGeom>
        </p:spPr>
      </p:pic>
      <p:pic>
        <p:nvPicPr>
          <p:cNvPr id="9" name="Picture 8">
            <a:extLst>
              <a:ext uri="{FF2B5EF4-FFF2-40B4-BE49-F238E27FC236}">
                <a16:creationId xmlns:a16="http://schemas.microsoft.com/office/drawing/2014/main" id="{5EAF6D77-DC86-4F35-9F30-7CD221410B67}"/>
              </a:ext>
            </a:extLst>
          </p:cNvPr>
          <p:cNvPicPr>
            <a:picLocks noChangeAspect="1"/>
          </p:cNvPicPr>
          <p:nvPr/>
        </p:nvPicPr>
        <p:blipFill>
          <a:blip r:embed="rId3"/>
          <a:stretch>
            <a:fillRect/>
          </a:stretch>
        </p:blipFill>
        <p:spPr>
          <a:xfrm>
            <a:off x="4349686" y="2679809"/>
            <a:ext cx="4108450" cy="573272"/>
          </a:xfrm>
          <a:prstGeom prst="rect">
            <a:avLst/>
          </a:prstGeom>
        </p:spPr>
      </p:pic>
      <p:pic>
        <p:nvPicPr>
          <p:cNvPr id="10" name="Picture 9">
            <a:extLst>
              <a:ext uri="{FF2B5EF4-FFF2-40B4-BE49-F238E27FC236}">
                <a16:creationId xmlns:a16="http://schemas.microsoft.com/office/drawing/2014/main" id="{FA7C3942-E71E-4DD8-BD17-F15F5F2A33F9}"/>
              </a:ext>
            </a:extLst>
          </p:cNvPr>
          <p:cNvPicPr>
            <a:picLocks noChangeAspect="1"/>
          </p:cNvPicPr>
          <p:nvPr/>
        </p:nvPicPr>
        <p:blipFill>
          <a:blip r:embed="rId4"/>
          <a:stretch>
            <a:fillRect/>
          </a:stretch>
        </p:blipFill>
        <p:spPr>
          <a:xfrm>
            <a:off x="4469635" y="4089059"/>
            <a:ext cx="4405744" cy="550718"/>
          </a:xfrm>
          <a:prstGeom prst="rect">
            <a:avLst/>
          </a:prstGeom>
        </p:spPr>
      </p:pic>
      <p:sp>
        <p:nvSpPr>
          <p:cNvPr id="3" name="Date Placeholder 2">
            <a:extLst>
              <a:ext uri="{FF2B5EF4-FFF2-40B4-BE49-F238E27FC236}">
                <a16:creationId xmlns:a16="http://schemas.microsoft.com/office/drawing/2014/main" id="{8A662762-1E73-2F3C-1382-67BFDF47791B}"/>
              </a:ext>
            </a:extLst>
          </p:cNvPr>
          <p:cNvSpPr>
            <a:spLocks noGrp="1"/>
          </p:cNvSpPr>
          <p:nvPr>
            <p:ph type="dt" sz="half" idx="10"/>
          </p:nvPr>
        </p:nvSpPr>
        <p:spPr/>
        <p:txBody>
          <a:bodyPr/>
          <a:lstStyle/>
          <a:p>
            <a:fld id="{A580A86A-007B-4C72-8CDA-5C0ECF4FF964}" type="datetime1">
              <a:rPr lang="en-US" smtClean="0"/>
              <a:t>7/25/2025</a:t>
            </a:fld>
            <a:endParaRPr lang="en-US"/>
          </a:p>
        </p:txBody>
      </p:sp>
      <p:sp>
        <p:nvSpPr>
          <p:cNvPr id="4" name="Slide Number Placeholder 3">
            <a:extLst>
              <a:ext uri="{FF2B5EF4-FFF2-40B4-BE49-F238E27FC236}">
                <a16:creationId xmlns:a16="http://schemas.microsoft.com/office/drawing/2014/main" id="{8ADE359F-8AAE-214A-AB0D-A16418619D8F}"/>
              </a:ext>
            </a:extLst>
          </p:cNvPr>
          <p:cNvSpPr>
            <a:spLocks noGrp="1"/>
          </p:cNvSpPr>
          <p:nvPr>
            <p:ph type="sldNum" sz="quarter" idx="12"/>
          </p:nvPr>
        </p:nvSpPr>
        <p:spPr/>
        <p:txBody>
          <a:bodyPr/>
          <a:lstStyle/>
          <a:p>
            <a:fld id="{F66C9141-23B4-4FD3-80FD-4E1CB454F295}" type="slidenum">
              <a:rPr lang="en-US" smtClean="0"/>
              <a:t>38</a:t>
            </a:fld>
            <a:endParaRPr lang="en-US"/>
          </a:p>
        </p:txBody>
      </p:sp>
    </p:spTree>
    <p:extLst>
      <p:ext uri="{BB962C8B-B14F-4D97-AF65-F5344CB8AC3E}">
        <p14:creationId xmlns:p14="http://schemas.microsoft.com/office/powerpoint/2010/main" val="31860489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169D8-698F-4134-ACB6-05788CD0F2BE}"/>
              </a:ext>
            </a:extLst>
          </p:cNvPr>
          <p:cNvSpPr>
            <a:spLocks noGrp="1"/>
          </p:cNvSpPr>
          <p:nvPr>
            <p:ph type="title"/>
          </p:nvPr>
        </p:nvSpPr>
        <p:spPr/>
        <p:txBody>
          <a:bodyPr/>
          <a:lstStyle/>
          <a:p>
            <a:pPr algn="ctr"/>
            <a:r>
              <a:rPr lang="en-US" b="1" dirty="0"/>
              <a:t>The Role of Attention Mechanism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720F6D7-1608-48E4-BE3C-6D8A86253992}"/>
                  </a:ext>
                </a:extLst>
              </p:cNvPr>
              <p:cNvSpPr>
                <a:spLocks noGrp="1"/>
              </p:cNvSpPr>
              <p:nvPr>
                <p:ph idx="1"/>
              </p:nvPr>
            </p:nvSpPr>
            <p:spPr>
              <a:xfrm>
                <a:off x="838200" y="1392382"/>
                <a:ext cx="10515600" cy="4784581"/>
              </a:xfrm>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Attention Scores (α):</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Calculated over previous global states to highlight utterances emotionally relevant to the current one.</a:t>
                </a:r>
              </a:p>
              <a:p>
                <a:pPr marL="457200" lvl="1" indent="0" eaLnBrk="0" fontAlgn="base" hangingPunct="0">
                  <a:lnSpc>
                    <a:spcPct val="100000"/>
                  </a:lnSpc>
                  <a:spcBef>
                    <a:spcPct val="0"/>
                  </a:spcBef>
                  <a:spcAft>
                    <a:spcPct val="0"/>
                  </a:spcAft>
                  <a:buFontTx/>
                  <a:buChar char="•"/>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kumimoji="0" lang="en-US" altLang="en-US" sz="2800" b="1" i="0" u="none" strike="noStrike" cap="none" normalizeH="0" baseline="0" dirty="0">
                    <a:ln>
                      <a:noFill/>
                    </a:ln>
                    <a:solidFill>
                      <a:schemeClr val="tx1"/>
                    </a:solidFill>
                    <a:effectLst/>
                    <a:latin typeface="Arial" panose="020B0604020202020204" pitchFamily="34" charset="0"/>
                  </a:rPr>
                  <a:t>Context Vector (</a:t>
                </a:r>
                <a14:m>
                  <m:oMath xmlns:m="http://schemas.openxmlformats.org/officeDocument/2006/math">
                    <m:sSub>
                      <m:sSubPr>
                        <m:ctrlPr>
                          <a:rPr lang="pt-BR" altLang="en-US" b="1" i="1">
                            <a:latin typeface="Cambria Math" panose="02040503050406030204" pitchFamily="18" charset="0"/>
                          </a:rPr>
                        </m:ctrlPr>
                      </m:sSubPr>
                      <m:e>
                        <m:r>
                          <a:rPr lang="en-US" altLang="en-US" b="1" i="1" smtClean="0">
                            <a:latin typeface="Cambria Math" panose="02040503050406030204" pitchFamily="18" charset="0"/>
                          </a:rPr>
                          <m:t>𝒄</m:t>
                        </m:r>
                      </m:e>
                      <m:sub>
                        <m:r>
                          <a:rPr lang="en-US" altLang="en-US" b="1" i="1" smtClean="0">
                            <a:latin typeface="Cambria Math" panose="02040503050406030204" pitchFamily="18" charset="0"/>
                          </a:rPr>
                          <m:t>𝒕</m:t>
                        </m:r>
                      </m:sub>
                    </m:sSub>
                    <m:r>
                      <a:rPr lang="pt-BR" altLang="en-US" b="1" i="1">
                        <a:latin typeface="Cambria Math" panose="02040503050406030204" pitchFamily="18" charset="0"/>
                      </a:rPr>
                      <m:t> </m:t>
                    </m:r>
                  </m:oMath>
                </a14:m>
                <a:r>
                  <a:rPr kumimoji="0" lang="en-US" altLang="en-US" sz="2800" b="1" i="0" u="none" strike="noStrike" cap="none" normalizeH="0" baseline="0" dirty="0">
                    <a:ln>
                      <a:noFill/>
                    </a:ln>
                    <a:solidFill>
                      <a:schemeClr val="tx1"/>
                    </a:solidFill>
                    <a:effectLst/>
                    <a:latin typeface="Arial" panose="020B0604020202020204" pitchFamily="34" charset="0"/>
                  </a:rPr>
                  <a:t>​):</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457200" lvl="1" indent="0" eaLnBrk="0" fontAlgn="base" hangingPunct="0">
                  <a:lnSpc>
                    <a:spcPct val="100000"/>
                  </a:lnSpc>
                  <a:spcBef>
                    <a:spcPct val="0"/>
                  </a:spcBef>
                  <a:spcAft>
                    <a:spcPct val="0"/>
                  </a:spcAft>
                  <a:buNone/>
                </a:pPr>
                <a:r>
                  <a:rPr kumimoji="0" lang="en-US" altLang="en-US" b="0" i="0" u="none" strike="noStrike" cap="none" normalizeH="0" baseline="0" dirty="0">
                    <a:ln>
                      <a:noFill/>
                    </a:ln>
                    <a:solidFill>
                      <a:schemeClr val="tx1"/>
                    </a:solidFill>
                    <a:effectLst/>
                    <a:latin typeface="Arial" panose="020B0604020202020204" pitchFamily="34" charset="0"/>
                  </a:rPr>
                  <a:t>Formed by pooling previous global states using the attention scores. </a:t>
                </a:r>
              </a:p>
              <a:p>
                <a:endParaRPr lang="en-US" dirty="0"/>
              </a:p>
            </p:txBody>
          </p:sp>
        </mc:Choice>
        <mc:Fallback xmlns="">
          <p:sp>
            <p:nvSpPr>
              <p:cNvPr id="3" name="Content Placeholder 2">
                <a:extLst>
                  <a:ext uri="{FF2B5EF4-FFF2-40B4-BE49-F238E27FC236}">
                    <a16:creationId xmlns:a16="http://schemas.microsoft.com/office/drawing/2014/main" id="{5720F6D7-1608-48E4-BE3C-6D8A86253992}"/>
                  </a:ext>
                </a:extLst>
              </p:cNvPr>
              <p:cNvSpPr>
                <a:spLocks noGrp="1" noRot="1" noChangeAspect="1" noMove="1" noResize="1" noEditPoints="1" noAdjustHandles="1" noChangeArrowheads="1" noChangeShapeType="1" noTextEdit="1"/>
              </p:cNvSpPr>
              <p:nvPr>
                <p:ph idx="1"/>
              </p:nvPr>
            </p:nvSpPr>
            <p:spPr>
              <a:xfrm>
                <a:off x="838200" y="1392382"/>
                <a:ext cx="10515600" cy="4784581"/>
              </a:xfrm>
              <a:blipFill>
                <a:blip r:embed="rId2"/>
                <a:stretch>
                  <a:fillRect l="-1217" r="-46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4B003905-19AC-4100-B1F6-D2796736D741}"/>
              </a:ext>
            </a:extLst>
          </p:cNvPr>
          <p:cNvPicPr>
            <a:picLocks noChangeAspect="1"/>
          </p:cNvPicPr>
          <p:nvPr/>
        </p:nvPicPr>
        <p:blipFill>
          <a:blip r:embed="rId3"/>
          <a:stretch>
            <a:fillRect/>
          </a:stretch>
        </p:blipFill>
        <p:spPr>
          <a:xfrm>
            <a:off x="3100564" y="4925291"/>
            <a:ext cx="4304573" cy="1139607"/>
          </a:xfrm>
          <a:prstGeom prst="rect">
            <a:avLst/>
          </a:prstGeom>
        </p:spPr>
      </p:pic>
      <p:sp>
        <p:nvSpPr>
          <p:cNvPr id="6" name="TextBox 5">
            <a:extLst>
              <a:ext uri="{FF2B5EF4-FFF2-40B4-BE49-F238E27FC236}">
                <a16:creationId xmlns:a16="http://schemas.microsoft.com/office/drawing/2014/main" id="{0D2E5E8D-CEDC-FA91-8AF7-ED2F3854D216}"/>
              </a:ext>
            </a:extLst>
          </p:cNvPr>
          <p:cNvSpPr txBox="1"/>
          <p:nvPr/>
        </p:nvSpPr>
        <p:spPr>
          <a:xfrm>
            <a:off x="5637068" y="2971800"/>
            <a:ext cx="65" cy="276999"/>
          </a:xfrm>
          <a:prstGeom prst="rect">
            <a:avLst/>
          </a:prstGeom>
          <a:noFill/>
        </p:spPr>
        <p:txBody>
          <a:bodyPr wrap="none" lIns="0" tIns="0" rIns="0" bIns="0" rtlCol="0">
            <a:spAutoFit/>
          </a:bodyPr>
          <a:lstStyle/>
          <a:p>
            <a:endParaRPr lang="en-US" dirty="0"/>
          </a:p>
        </p:txBody>
      </p:sp>
      <p:sp>
        <p:nvSpPr>
          <p:cNvPr id="4" name="Date Placeholder 3">
            <a:extLst>
              <a:ext uri="{FF2B5EF4-FFF2-40B4-BE49-F238E27FC236}">
                <a16:creationId xmlns:a16="http://schemas.microsoft.com/office/drawing/2014/main" id="{E56C6B10-3E1F-237E-5153-1CE18E5D9840}"/>
              </a:ext>
            </a:extLst>
          </p:cNvPr>
          <p:cNvSpPr>
            <a:spLocks noGrp="1"/>
          </p:cNvSpPr>
          <p:nvPr>
            <p:ph type="dt" sz="half" idx="10"/>
          </p:nvPr>
        </p:nvSpPr>
        <p:spPr/>
        <p:txBody>
          <a:bodyPr/>
          <a:lstStyle/>
          <a:p>
            <a:fld id="{E469BBBB-E7AA-40DA-BF50-838254497B3E}" type="datetime1">
              <a:rPr lang="en-US" smtClean="0"/>
              <a:t>7/25/2025</a:t>
            </a:fld>
            <a:endParaRPr lang="en-US"/>
          </a:p>
        </p:txBody>
      </p:sp>
      <p:sp>
        <p:nvSpPr>
          <p:cNvPr id="7" name="Slide Number Placeholder 6">
            <a:extLst>
              <a:ext uri="{FF2B5EF4-FFF2-40B4-BE49-F238E27FC236}">
                <a16:creationId xmlns:a16="http://schemas.microsoft.com/office/drawing/2014/main" id="{57B00625-32EC-5437-5847-87401E4EA242}"/>
              </a:ext>
            </a:extLst>
          </p:cNvPr>
          <p:cNvSpPr>
            <a:spLocks noGrp="1"/>
          </p:cNvSpPr>
          <p:nvPr>
            <p:ph type="sldNum" sz="quarter" idx="12"/>
          </p:nvPr>
        </p:nvSpPr>
        <p:spPr/>
        <p:txBody>
          <a:bodyPr/>
          <a:lstStyle/>
          <a:p>
            <a:fld id="{F66C9141-23B4-4FD3-80FD-4E1CB454F295}" type="slidenum">
              <a:rPr lang="en-US" smtClean="0"/>
              <a:t>39</a:t>
            </a:fld>
            <a:endParaRPr lang="en-US"/>
          </a:p>
        </p:txBody>
      </p:sp>
    </p:spTree>
    <p:extLst>
      <p:ext uri="{BB962C8B-B14F-4D97-AF65-F5344CB8AC3E}">
        <p14:creationId xmlns:p14="http://schemas.microsoft.com/office/powerpoint/2010/main" val="35902242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eb of wires showing connections between groups and singles">
            <a:extLst>
              <a:ext uri="{FF2B5EF4-FFF2-40B4-BE49-F238E27FC236}">
                <a16:creationId xmlns:a16="http://schemas.microsoft.com/office/drawing/2014/main" id="{12852A7A-5F86-E1DC-FF74-86B6E3FE2DBB}"/>
              </a:ext>
            </a:extLst>
          </p:cNvPr>
          <p:cNvPicPr>
            <a:picLocks noChangeAspect="1"/>
          </p:cNvPicPr>
          <p:nvPr/>
        </p:nvPicPr>
        <p:blipFill>
          <a:blip r:embed="rId2"/>
          <a:srcRect b="15730"/>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713D8A-3828-134B-6216-AD944A04CFB1}"/>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RESULTS and DISCUSSION</a:t>
            </a:r>
          </a:p>
        </p:txBody>
      </p:sp>
      <p:sp>
        <p:nvSpPr>
          <p:cNvPr id="3" name="Date Placeholder 2">
            <a:extLst>
              <a:ext uri="{FF2B5EF4-FFF2-40B4-BE49-F238E27FC236}">
                <a16:creationId xmlns:a16="http://schemas.microsoft.com/office/drawing/2014/main" id="{9F3AAEF7-0BE4-C716-E30E-AAD19F3430C5}"/>
              </a:ext>
            </a:extLst>
          </p:cNvPr>
          <p:cNvSpPr>
            <a:spLocks noGrp="1"/>
          </p:cNvSpPr>
          <p:nvPr>
            <p:ph type="dt" sz="half" idx="10"/>
          </p:nvPr>
        </p:nvSpPr>
        <p:spPr/>
        <p:txBody>
          <a:bodyPr/>
          <a:lstStyle/>
          <a:p>
            <a:fld id="{3A8CE9DA-B150-4A0A-AAE6-5780134CD25C}" type="datetime1">
              <a:rPr lang="en-US" smtClean="0"/>
              <a:t>7/25/2025</a:t>
            </a:fld>
            <a:endParaRPr lang="en-US"/>
          </a:p>
        </p:txBody>
      </p:sp>
      <p:sp>
        <p:nvSpPr>
          <p:cNvPr id="4" name="Slide Number Placeholder 3">
            <a:extLst>
              <a:ext uri="{FF2B5EF4-FFF2-40B4-BE49-F238E27FC236}">
                <a16:creationId xmlns:a16="http://schemas.microsoft.com/office/drawing/2014/main" id="{D8596640-EBBE-CD8F-B6E5-30EB533DB94F}"/>
              </a:ext>
            </a:extLst>
          </p:cNvPr>
          <p:cNvSpPr>
            <a:spLocks noGrp="1"/>
          </p:cNvSpPr>
          <p:nvPr>
            <p:ph type="sldNum" sz="quarter" idx="12"/>
          </p:nvPr>
        </p:nvSpPr>
        <p:spPr/>
        <p:txBody>
          <a:bodyPr/>
          <a:lstStyle/>
          <a:p>
            <a:fld id="{F66C9141-23B4-4FD3-80FD-4E1CB454F295}" type="slidenum">
              <a:rPr lang="en-US" smtClean="0"/>
              <a:t>40</a:t>
            </a:fld>
            <a:endParaRPr lang="en-US"/>
          </a:p>
        </p:txBody>
      </p:sp>
    </p:spTree>
    <p:extLst>
      <p:ext uri="{BB962C8B-B14F-4D97-AF65-F5344CB8AC3E}">
        <p14:creationId xmlns:p14="http://schemas.microsoft.com/office/powerpoint/2010/main" val="16651384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5B206-63BA-EE91-D5EB-6703765B0F9C}"/>
              </a:ext>
            </a:extLst>
          </p:cNvPr>
          <p:cNvSpPr>
            <a:spLocks noGrp="1"/>
          </p:cNvSpPr>
          <p:nvPr>
            <p:ph type="title"/>
          </p:nvPr>
        </p:nvSpPr>
        <p:spPr>
          <a:xfrm>
            <a:off x="1024128" y="585216"/>
            <a:ext cx="5867061" cy="1499616"/>
          </a:xfrm>
        </p:spPr>
        <p:txBody>
          <a:bodyPr>
            <a:normAutofit/>
          </a:bodyPr>
          <a:lstStyle/>
          <a:p>
            <a:r>
              <a:rPr lang="en-US" dirty="0"/>
              <a:t>NON-CONTEXTUAL MODEL RESULTS</a:t>
            </a:r>
          </a:p>
        </p:txBody>
      </p:sp>
      <p:sp>
        <p:nvSpPr>
          <p:cNvPr id="3" name="Content Placeholder 2">
            <a:extLst>
              <a:ext uri="{FF2B5EF4-FFF2-40B4-BE49-F238E27FC236}">
                <a16:creationId xmlns:a16="http://schemas.microsoft.com/office/drawing/2014/main" id="{7EA62315-5006-1C33-82F4-409AD247A09D}"/>
              </a:ext>
            </a:extLst>
          </p:cNvPr>
          <p:cNvSpPr>
            <a:spLocks noGrp="1"/>
          </p:cNvSpPr>
          <p:nvPr>
            <p:ph idx="1"/>
          </p:nvPr>
        </p:nvSpPr>
        <p:spPr>
          <a:xfrm>
            <a:off x="8021490" y="585216"/>
            <a:ext cx="3527043" cy="5586984"/>
          </a:xfrm>
        </p:spPr>
        <p:txBody>
          <a:bodyPr anchor="ctr">
            <a:normAutofit/>
          </a:bodyPr>
          <a:lstStyle/>
          <a:p>
            <a:endParaRPr lang="en-US" sz="2000">
              <a:solidFill>
                <a:srgbClr val="FFFFFF"/>
              </a:solidFill>
            </a:endParaRPr>
          </a:p>
        </p:txBody>
      </p:sp>
      <p:pic>
        <p:nvPicPr>
          <p:cNvPr id="7" name="Graphic 6" descr="Checkmark">
            <a:extLst>
              <a:ext uri="{FF2B5EF4-FFF2-40B4-BE49-F238E27FC236}">
                <a16:creationId xmlns:a16="http://schemas.microsoft.com/office/drawing/2014/main" id="{C41DE37A-6897-19C7-AD76-C52B52ADF0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14558" y="2286000"/>
            <a:ext cx="3886200" cy="3886200"/>
          </a:xfrm>
          <a:prstGeom prst="rect">
            <a:avLst/>
          </a:prstGeom>
        </p:spPr>
      </p:pic>
      <p:sp>
        <p:nvSpPr>
          <p:cNvPr id="4" name="Date Placeholder 3">
            <a:extLst>
              <a:ext uri="{FF2B5EF4-FFF2-40B4-BE49-F238E27FC236}">
                <a16:creationId xmlns:a16="http://schemas.microsoft.com/office/drawing/2014/main" id="{8ACFB2C4-1B53-9720-A3DD-A499FD025A42}"/>
              </a:ext>
            </a:extLst>
          </p:cNvPr>
          <p:cNvSpPr>
            <a:spLocks noGrp="1"/>
          </p:cNvSpPr>
          <p:nvPr>
            <p:ph type="dt" sz="half" idx="10"/>
          </p:nvPr>
        </p:nvSpPr>
        <p:spPr/>
        <p:txBody>
          <a:bodyPr/>
          <a:lstStyle/>
          <a:p>
            <a:fld id="{4C9D7B02-288A-4F70-B38C-4C1D5DE3CFC5}" type="datetime1">
              <a:rPr lang="en-US" smtClean="0"/>
              <a:t>7/25/2025</a:t>
            </a:fld>
            <a:endParaRPr lang="en-US"/>
          </a:p>
        </p:txBody>
      </p:sp>
      <p:sp>
        <p:nvSpPr>
          <p:cNvPr id="5" name="Slide Number Placeholder 4">
            <a:extLst>
              <a:ext uri="{FF2B5EF4-FFF2-40B4-BE49-F238E27FC236}">
                <a16:creationId xmlns:a16="http://schemas.microsoft.com/office/drawing/2014/main" id="{755DAD19-0191-C9ED-6E77-42EE545F8EE9}"/>
              </a:ext>
            </a:extLst>
          </p:cNvPr>
          <p:cNvSpPr>
            <a:spLocks noGrp="1"/>
          </p:cNvSpPr>
          <p:nvPr>
            <p:ph type="sldNum" sz="quarter" idx="12"/>
          </p:nvPr>
        </p:nvSpPr>
        <p:spPr/>
        <p:txBody>
          <a:bodyPr/>
          <a:lstStyle/>
          <a:p>
            <a:fld id="{F66C9141-23B4-4FD3-80FD-4E1CB454F295}" type="slidenum">
              <a:rPr lang="en-US" smtClean="0"/>
              <a:t>41</a:t>
            </a:fld>
            <a:endParaRPr lang="en-US"/>
          </a:p>
        </p:txBody>
      </p:sp>
    </p:spTree>
    <p:extLst>
      <p:ext uri="{BB962C8B-B14F-4D97-AF65-F5344CB8AC3E}">
        <p14:creationId xmlns:p14="http://schemas.microsoft.com/office/powerpoint/2010/main" val="17462982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8">
            <a:extLst>
              <a:ext uri="{FF2B5EF4-FFF2-40B4-BE49-F238E27FC236}">
                <a16:creationId xmlns:a16="http://schemas.microsoft.com/office/drawing/2014/main" id="{EDDD11F2-F269-B4B5-27F3-57A1E6533BBF}"/>
              </a:ext>
            </a:extLst>
          </p:cNvPr>
          <p:cNvSpPr>
            <a:spLocks/>
          </p:cNvSpPr>
          <p:nvPr/>
        </p:nvSpPr>
        <p:spPr>
          <a:xfrm>
            <a:off x="457200" y="2130658"/>
            <a:ext cx="2653362" cy="4175812"/>
          </a:xfrm>
          <a:prstGeom prst="rect">
            <a:avLst/>
          </a:prstGeom>
        </p:spPr>
        <p:txBody>
          <a:bodyPr>
            <a:normAutofit/>
          </a:bodyPr>
          <a:lstStyle/>
          <a:p>
            <a:pPr defTabSz="484632">
              <a:spcAft>
                <a:spcPts val="600"/>
              </a:spcAft>
            </a:pPr>
            <a:r>
              <a:rPr lang="en-US" sz="2968" b="1" kern="1200" dirty="0">
                <a:solidFill>
                  <a:schemeClr val="tx1"/>
                </a:solidFill>
                <a:latin typeface="+mn-lt"/>
                <a:ea typeface="+mn-ea"/>
                <a:cs typeface="+mn-cs"/>
              </a:rPr>
              <a:t>Statistical Analysis of Morpheme Effects on Sentiment Analysis Performance: Paired T-Test Results</a:t>
            </a:r>
            <a:endParaRPr lang="en-US" sz="2800" b="1" dirty="0"/>
          </a:p>
        </p:txBody>
      </p:sp>
      <p:sp>
        <p:nvSpPr>
          <p:cNvPr id="2" name="Date Placeholder 1">
            <a:extLst>
              <a:ext uri="{FF2B5EF4-FFF2-40B4-BE49-F238E27FC236}">
                <a16:creationId xmlns:a16="http://schemas.microsoft.com/office/drawing/2014/main" id="{E88DFB3C-7BB3-150D-900E-48CF1FC52B4E}"/>
              </a:ext>
            </a:extLst>
          </p:cNvPr>
          <p:cNvSpPr>
            <a:spLocks noGrp="1"/>
          </p:cNvSpPr>
          <p:nvPr>
            <p:ph type="dt" sz="half" idx="10"/>
          </p:nvPr>
        </p:nvSpPr>
        <p:spPr/>
        <p:txBody>
          <a:bodyPr/>
          <a:lstStyle/>
          <a:p>
            <a:fld id="{7A99DE14-8194-4BAB-9D58-A0346F6F7085}" type="datetime1">
              <a:rPr lang="en-US" smtClean="0"/>
              <a:t>7/25/2025</a:t>
            </a:fld>
            <a:endParaRPr lang="en-US"/>
          </a:p>
        </p:txBody>
      </p:sp>
      <p:sp>
        <p:nvSpPr>
          <p:cNvPr id="4" name="Slide Number Placeholder 3">
            <a:extLst>
              <a:ext uri="{FF2B5EF4-FFF2-40B4-BE49-F238E27FC236}">
                <a16:creationId xmlns:a16="http://schemas.microsoft.com/office/drawing/2014/main" id="{2D740E2D-F120-4EE2-3F77-E242BEDB9305}"/>
              </a:ext>
            </a:extLst>
          </p:cNvPr>
          <p:cNvSpPr>
            <a:spLocks noGrp="1"/>
          </p:cNvSpPr>
          <p:nvPr>
            <p:ph type="sldNum" sz="quarter" idx="12"/>
          </p:nvPr>
        </p:nvSpPr>
        <p:spPr/>
        <p:txBody>
          <a:bodyPr/>
          <a:lstStyle/>
          <a:p>
            <a:fld id="{F66C9141-23B4-4FD3-80FD-4E1CB454F295}" type="slidenum">
              <a:rPr lang="en-US" smtClean="0"/>
              <a:t>42</a:t>
            </a:fld>
            <a:endParaRPr lang="en-US"/>
          </a:p>
        </p:txBody>
      </p:sp>
      <p:graphicFrame>
        <p:nvGraphicFramePr>
          <p:cNvPr id="17" name="Table 16">
            <a:extLst>
              <a:ext uri="{FF2B5EF4-FFF2-40B4-BE49-F238E27FC236}">
                <a16:creationId xmlns:a16="http://schemas.microsoft.com/office/drawing/2014/main" id="{CCE67D7E-FA23-AD29-0A83-5156E7DCF4E2}"/>
              </a:ext>
            </a:extLst>
          </p:cNvPr>
          <p:cNvGraphicFramePr>
            <a:graphicFrameLocks noGrp="1"/>
          </p:cNvGraphicFramePr>
          <p:nvPr>
            <p:extLst>
              <p:ext uri="{D42A27DB-BD31-4B8C-83A1-F6EECF244321}">
                <p14:modId xmlns:p14="http://schemas.microsoft.com/office/powerpoint/2010/main" val="4007173626"/>
              </p:ext>
            </p:extLst>
          </p:nvPr>
        </p:nvGraphicFramePr>
        <p:xfrm>
          <a:off x="3393210" y="2016291"/>
          <a:ext cx="8128001" cy="4457248"/>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3628986770"/>
                    </a:ext>
                  </a:extLst>
                </a:gridCol>
                <a:gridCol w="1161143">
                  <a:extLst>
                    <a:ext uri="{9D8B030D-6E8A-4147-A177-3AD203B41FA5}">
                      <a16:colId xmlns:a16="http://schemas.microsoft.com/office/drawing/2014/main" val="2772139380"/>
                    </a:ext>
                  </a:extLst>
                </a:gridCol>
                <a:gridCol w="1161143">
                  <a:extLst>
                    <a:ext uri="{9D8B030D-6E8A-4147-A177-3AD203B41FA5}">
                      <a16:colId xmlns:a16="http://schemas.microsoft.com/office/drawing/2014/main" val="3267470053"/>
                    </a:ext>
                  </a:extLst>
                </a:gridCol>
                <a:gridCol w="1161143">
                  <a:extLst>
                    <a:ext uri="{9D8B030D-6E8A-4147-A177-3AD203B41FA5}">
                      <a16:colId xmlns:a16="http://schemas.microsoft.com/office/drawing/2014/main" val="3558250933"/>
                    </a:ext>
                  </a:extLst>
                </a:gridCol>
                <a:gridCol w="1161143">
                  <a:extLst>
                    <a:ext uri="{9D8B030D-6E8A-4147-A177-3AD203B41FA5}">
                      <a16:colId xmlns:a16="http://schemas.microsoft.com/office/drawing/2014/main" val="3814467961"/>
                    </a:ext>
                  </a:extLst>
                </a:gridCol>
                <a:gridCol w="1161143">
                  <a:extLst>
                    <a:ext uri="{9D8B030D-6E8A-4147-A177-3AD203B41FA5}">
                      <a16:colId xmlns:a16="http://schemas.microsoft.com/office/drawing/2014/main" val="2085539334"/>
                    </a:ext>
                  </a:extLst>
                </a:gridCol>
                <a:gridCol w="1161143">
                  <a:extLst>
                    <a:ext uri="{9D8B030D-6E8A-4147-A177-3AD203B41FA5}">
                      <a16:colId xmlns:a16="http://schemas.microsoft.com/office/drawing/2014/main" val="3929606417"/>
                    </a:ext>
                  </a:extLst>
                </a:gridCol>
              </a:tblGrid>
              <a:tr h="654424">
                <a:tc>
                  <a:txBody>
                    <a:bodyPr/>
                    <a:lstStyle/>
                    <a:p>
                      <a:pPr algn="l" fontAlgn="b"/>
                      <a:r>
                        <a:rPr lang="en-US" sz="1100" b="0" i="0" u="none" strike="noStrike" dirty="0">
                          <a:solidFill>
                            <a:srgbClr val="000000"/>
                          </a:solidFill>
                          <a:effectLst/>
                          <a:latin typeface="Aptos Narrow" panose="020B0004020202020204" pitchFamily="34" charset="0"/>
                        </a:rPr>
                        <a:t>Embedding</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Classifier</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Comparison</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Root form + Detailed Preprocessing (%)</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Partial surface form + Partial Preprocessing (%)</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F1 Difference (%)</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T-Test Value (p)</a:t>
                      </a:r>
                    </a:p>
                  </a:txBody>
                  <a:tcPr marL="7620" marR="7620" marT="7620" marB="0" anchor="b"/>
                </a:tc>
                <a:extLst>
                  <a:ext uri="{0D108BD9-81ED-4DB2-BD59-A6C34878D82A}">
                    <a16:rowId xmlns:a16="http://schemas.microsoft.com/office/drawing/2014/main" val="1881945862"/>
                  </a:ext>
                </a:extLst>
              </a:tr>
              <a:tr h="475353">
                <a:tc>
                  <a:txBody>
                    <a:bodyPr/>
                    <a:lstStyle/>
                    <a:p>
                      <a:pPr algn="l" fontAlgn="b"/>
                      <a:r>
                        <a:rPr lang="en-US" sz="1100" b="0" i="0" u="none" strike="noStrike">
                          <a:solidFill>
                            <a:srgbClr val="000000"/>
                          </a:solidFill>
                          <a:effectLst/>
                          <a:latin typeface="Aptos Narrow" panose="020B0004020202020204" pitchFamily="34" charset="0"/>
                        </a:rPr>
                        <a:t>TF-IDF</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MLP</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1st vs 3rd</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47.85</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51.07</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3.22</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0.059</a:t>
                      </a:r>
                    </a:p>
                  </a:txBody>
                  <a:tcPr marL="7620" marR="7620" marT="7620" marB="0" anchor="b"/>
                </a:tc>
                <a:extLst>
                  <a:ext uri="{0D108BD9-81ED-4DB2-BD59-A6C34878D82A}">
                    <a16:rowId xmlns:a16="http://schemas.microsoft.com/office/drawing/2014/main" val="3466062752"/>
                  </a:ext>
                </a:extLst>
              </a:tr>
              <a:tr h="475353">
                <a:tc>
                  <a:txBody>
                    <a:bodyPr/>
                    <a:lstStyle/>
                    <a:p>
                      <a:pPr algn="l" fontAlgn="b"/>
                      <a:r>
                        <a:rPr lang="en-US" sz="1100" b="0" i="0" u="none" strike="noStrike">
                          <a:solidFill>
                            <a:srgbClr val="000000"/>
                          </a:solidFill>
                          <a:effectLst/>
                          <a:latin typeface="Aptos Narrow" panose="020B0004020202020204" pitchFamily="34" charset="0"/>
                        </a:rPr>
                        <a:t>GloVe</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MLP</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1st vs 3rd</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45.16</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52.33</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7.17</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0.053</a:t>
                      </a:r>
                    </a:p>
                  </a:txBody>
                  <a:tcPr marL="7620" marR="7620" marT="7620" marB="0" anchor="b"/>
                </a:tc>
                <a:extLst>
                  <a:ext uri="{0D108BD9-81ED-4DB2-BD59-A6C34878D82A}">
                    <a16:rowId xmlns:a16="http://schemas.microsoft.com/office/drawing/2014/main" val="840673947"/>
                  </a:ext>
                </a:extLst>
              </a:tr>
              <a:tr h="475353">
                <a:tc>
                  <a:txBody>
                    <a:bodyPr/>
                    <a:lstStyle/>
                    <a:p>
                      <a:pPr algn="l" fontAlgn="b"/>
                      <a:r>
                        <a:rPr lang="en-US" sz="1100" b="0" i="0" u="none" strike="noStrike">
                          <a:solidFill>
                            <a:srgbClr val="000000"/>
                          </a:solidFill>
                          <a:effectLst/>
                          <a:latin typeface="Aptos Narrow" panose="020B0004020202020204" pitchFamily="34" charset="0"/>
                        </a:rPr>
                        <a:t>TF-IDF</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XGBoost</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1st vs 3rd</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45.12</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52.69</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7.57</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0.041</a:t>
                      </a:r>
                    </a:p>
                  </a:txBody>
                  <a:tcPr marL="7620" marR="7620" marT="7620" marB="0" anchor="b"/>
                </a:tc>
                <a:extLst>
                  <a:ext uri="{0D108BD9-81ED-4DB2-BD59-A6C34878D82A}">
                    <a16:rowId xmlns:a16="http://schemas.microsoft.com/office/drawing/2014/main" val="415340131"/>
                  </a:ext>
                </a:extLst>
              </a:tr>
              <a:tr h="475353">
                <a:tc>
                  <a:txBody>
                    <a:bodyPr/>
                    <a:lstStyle/>
                    <a:p>
                      <a:pPr algn="l" fontAlgn="b"/>
                      <a:r>
                        <a:rPr lang="en-US" sz="1100" b="0" i="0" u="none" strike="noStrike">
                          <a:solidFill>
                            <a:srgbClr val="000000"/>
                          </a:solidFill>
                          <a:effectLst/>
                          <a:latin typeface="Aptos Narrow" panose="020B0004020202020204" pitchFamily="34" charset="0"/>
                        </a:rPr>
                        <a:t>BoW</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MLP</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1st vs 3rd</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47.09</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53.32</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6.23</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0.0024</a:t>
                      </a:r>
                    </a:p>
                  </a:txBody>
                  <a:tcPr marL="7620" marR="7620" marT="7620" marB="0" anchor="b"/>
                </a:tc>
                <a:extLst>
                  <a:ext uri="{0D108BD9-81ED-4DB2-BD59-A6C34878D82A}">
                    <a16:rowId xmlns:a16="http://schemas.microsoft.com/office/drawing/2014/main" val="3834397829"/>
                  </a:ext>
                </a:extLst>
              </a:tr>
              <a:tr h="475353">
                <a:tc>
                  <a:txBody>
                    <a:bodyPr/>
                    <a:lstStyle/>
                    <a:p>
                      <a:pPr algn="l" fontAlgn="b"/>
                      <a:r>
                        <a:rPr lang="en-US" sz="1100" b="0" i="0" u="none" strike="noStrike">
                          <a:solidFill>
                            <a:srgbClr val="000000"/>
                          </a:solidFill>
                          <a:effectLst/>
                          <a:latin typeface="Aptos Narrow" panose="020B0004020202020204" pitchFamily="34" charset="0"/>
                        </a:rPr>
                        <a:t>BoW</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XGBoost</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1st vs 3rd</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47.1</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55.01</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7.91</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0.023</a:t>
                      </a:r>
                    </a:p>
                  </a:txBody>
                  <a:tcPr marL="7620" marR="7620" marT="7620" marB="0" anchor="b"/>
                </a:tc>
                <a:extLst>
                  <a:ext uri="{0D108BD9-81ED-4DB2-BD59-A6C34878D82A}">
                    <a16:rowId xmlns:a16="http://schemas.microsoft.com/office/drawing/2014/main" val="4229102544"/>
                  </a:ext>
                </a:extLst>
              </a:tr>
              <a:tr h="475353">
                <a:tc>
                  <a:txBody>
                    <a:bodyPr/>
                    <a:lstStyle/>
                    <a:p>
                      <a:pPr algn="l" fontAlgn="b"/>
                      <a:r>
                        <a:rPr lang="en-US" sz="1100" b="0" i="0" u="none" strike="noStrike">
                          <a:solidFill>
                            <a:srgbClr val="000000"/>
                          </a:solidFill>
                          <a:effectLst/>
                          <a:latin typeface="Aptos Narrow" panose="020B0004020202020204" pitchFamily="34" charset="0"/>
                        </a:rPr>
                        <a:t>Word2Vec</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XGBoost</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1st vs 3rd</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45.53</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54.31</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8.78</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0.027</a:t>
                      </a:r>
                    </a:p>
                  </a:txBody>
                  <a:tcPr marL="7620" marR="7620" marT="7620" marB="0" anchor="b"/>
                </a:tc>
                <a:extLst>
                  <a:ext uri="{0D108BD9-81ED-4DB2-BD59-A6C34878D82A}">
                    <a16:rowId xmlns:a16="http://schemas.microsoft.com/office/drawing/2014/main" val="11939674"/>
                  </a:ext>
                </a:extLst>
              </a:tr>
              <a:tr h="475353">
                <a:tc>
                  <a:txBody>
                    <a:bodyPr/>
                    <a:lstStyle/>
                    <a:p>
                      <a:pPr algn="l" fontAlgn="b"/>
                      <a:r>
                        <a:rPr lang="en-US" sz="1100" b="0" i="0" u="none" strike="noStrike">
                          <a:solidFill>
                            <a:srgbClr val="000000"/>
                          </a:solidFill>
                          <a:effectLst/>
                          <a:latin typeface="Aptos Narrow" panose="020B0004020202020204" pitchFamily="34" charset="0"/>
                        </a:rPr>
                        <a:t>Word2Vec</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MLP</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1st vs 3rd</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43.87</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52.37</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8.5</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0.0049</a:t>
                      </a:r>
                    </a:p>
                  </a:txBody>
                  <a:tcPr marL="7620" marR="7620" marT="7620" marB="0" anchor="b"/>
                </a:tc>
                <a:extLst>
                  <a:ext uri="{0D108BD9-81ED-4DB2-BD59-A6C34878D82A}">
                    <a16:rowId xmlns:a16="http://schemas.microsoft.com/office/drawing/2014/main" val="54880413"/>
                  </a:ext>
                </a:extLst>
              </a:tr>
              <a:tr h="475353">
                <a:tc>
                  <a:txBody>
                    <a:bodyPr/>
                    <a:lstStyle/>
                    <a:p>
                      <a:pPr algn="l" fontAlgn="b"/>
                      <a:r>
                        <a:rPr lang="en-US" sz="1100" b="0" i="0" u="none" strike="noStrike">
                          <a:solidFill>
                            <a:srgbClr val="000000"/>
                          </a:solidFill>
                          <a:effectLst/>
                          <a:latin typeface="Aptos Narrow" panose="020B0004020202020204" pitchFamily="34" charset="0"/>
                        </a:rPr>
                        <a:t>GloVe</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XGBoost</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1st vs 3rd</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44.83</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54.72</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9.89</a:t>
                      </a:r>
                    </a:p>
                  </a:txBody>
                  <a:tcPr marL="7620" marR="7620" marT="7620" marB="0" anchor="b"/>
                </a:tc>
                <a:tc>
                  <a:txBody>
                    <a:bodyPr/>
                    <a:lstStyle/>
                    <a:p>
                      <a:pPr algn="r" fontAlgn="b"/>
                      <a:r>
                        <a:rPr lang="en-US" sz="1100" b="0" i="0" u="none" strike="noStrike" dirty="0">
                          <a:solidFill>
                            <a:srgbClr val="000000"/>
                          </a:solidFill>
                          <a:effectLst/>
                          <a:latin typeface="Aptos Narrow" panose="020B0004020202020204" pitchFamily="34" charset="0"/>
                        </a:rPr>
                        <a:t>0.013</a:t>
                      </a:r>
                    </a:p>
                  </a:txBody>
                  <a:tcPr marL="7620" marR="7620" marT="7620" marB="0" anchor="b"/>
                </a:tc>
                <a:extLst>
                  <a:ext uri="{0D108BD9-81ED-4DB2-BD59-A6C34878D82A}">
                    <a16:rowId xmlns:a16="http://schemas.microsoft.com/office/drawing/2014/main" val="2305577778"/>
                  </a:ext>
                </a:extLst>
              </a:tr>
            </a:tbl>
          </a:graphicData>
        </a:graphic>
      </p:graphicFrame>
    </p:spTree>
    <p:extLst>
      <p:ext uri="{BB962C8B-B14F-4D97-AF65-F5344CB8AC3E}">
        <p14:creationId xmlns:p14="http://schemas.microsoft.com/office/powerpoint/2010/main" val="11490842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FD925FC-B013-F04D-67D4-CCB76430CB40}"/>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2800" b="1" kern="1200" dirty="0">
                <a:solidFill>
                  <a:srgbClr val="FFFFFF"/>
                </a:solidFill>
                <a:latin typeface="+mj-lt"/>
                <a:ea typeface="+mj-ea"/>
                <a:cs typeface="+mj-cs"/>
              </a:rPr>
              <a:t>Non-Contextual Classification Performance Using pre-trained Turkish BERT Embeddings</a:t>
            </a:r>
            <a:br>
              <a:rPr lang="en-US" sz="2800" b="1" kern="1200" dirty="0">
                <a:solidFill>
                  <a:srgbClr val="FFFFFF"/>
                </a:solidFill>
                <a:latin typeface="+mj-lt"/>
                <a:ea typeface="+mj-ea"/>
                <a:cs typeface="+mj-cs"/>
              </a:rPr>
            </a:br>
            <a:endParaRPr lang="en-US" sz="2800" b="1" kern="1200" dirty="0">
              <a:solidFill>
                <a:srgbClr val="FFFFFF"/>
              </a:solidFill>
              <a:latin typeface="+mj-lt"/>
              <a:ea typeface="+mj-ea"/>
              <a:cs typeface="+mj-cs"/>
            </a:endParaRPr>
          </a:p>
        </p:txBody>
      </p:sp>
      <p:pic>
        <p:nvPicPr>
          <p:cNvPr id="6" name="Content Placeholder 5">
            <a:extLst>
              <a:ext uri="{FF2B5EF4-FFF2-40B4-BE49-F238E27FC236}">
                <a16:creationId xmlns:a16="http://schemas.microsoft.com/office/drawing/2014/main" id="{0FDDA995-961C-074E-3CF1-D2913F8F6F69}"/>
              </a:ext>
            </a:extLst>
          </p:cNvPr>
          <p:cNvPicPr>
            <a:picLocks noGrp="1" noChangeAspect="1"/>
          </p:cNvPicPr>
          <p:nvPr>
            <p:ph idx="1"/>
          </p:nvPr>
        </p:nvPicPr>
        <p:blipFill>
          <a:blip r:embed="rId2"/>
          <a:stretch>
            <a:fillRect/>
          </a:stretch>
        </p:blipFill>
        <p:spPr>
          <a:xfrm>
            <a:off x="4346678" y="1693719"/>
            <a:ext cx="7225748" cy="3825008"/>
          </a:xfrm>
          <a:prstGeom prst="rect">
            <a:avLst/>
          </a:prstGeom>
        </p:spPr>
      </p:pic>
      <p:sp>
        <p:nvSpPr>
          <p:cNvPr id="3" name="Date Placeholder 2">
            <a:extLst>
              <a:ext uri="{FF2B5EF4-FFF2-40B4-BE49-F238E27FC236}">
                <a16:creationId xmlns:a16="http://schemas.microsoft.com/office/drawing/2014/main" id="{8D454616-6236-1F8C-B6B4-18517271A2DB}"/>
              </a:ext>
            </a:extLst>
          </p:cNvPr>
          <p:cNvSpPr>
            <a:spLocks noGrp="1"/>
          </p:cNvSpPr>
          <p:nvPr>
            <p:ph type="dt" sz="half" idx="10"/>
          </p:nvPr>
        </p:nvSpPr>
        <p:spPr/>
        <p:txBody>
          <a:bodyPr/>
          <a:lstStyle/>
          <a:p>
            <a:fld id="{E920479A-126D-4487-9D9E-B692ECCBCCB3}" type="datetime1">
              <a:rPr lang="en-US" smtClean="0"/>
              <a:t>7/25/2025</a:t>
            </a:fld>
            <a:endParaRPr lang="en-US"/>
          </a:p>
        </p:txBody>
      </p:sp>
      <p:sp>
        <p:nvSpPr>
          <p:cNvPr id="4" name="Slide Number Placeholder 3">
            <a:extLst>
              <a:ext uri="{FF2B5EF4-FFF2-40B4-BE49-F238E27FC236}">
                <a16:creationId xmlns:a16="http://schemas.microsoft.com/office/drawing/2014/main" id="{0A6F7DB2-1F8D-886F-DEEB-CE1625D81886}"/>
              </a:ext>
            </a:extLst>
          </p:cNvPr>
          <p:cNvSpPr>
            <a:spLocks noGrp="1"/>
          </p:cNvSpPr>
          <p:nvPr>
            <p:ph type="sldNum" sz="quarter" idx="12"/>
          </p:nvPr>
        </p:nvSpPr>
        <p:spPr/>
        <p:txBody>
          <a:bodyPr/>
          <a:lstStyle/>
          <a:p>
            <a:fld id="{F66C9141-23B4-4FD3-80FD-4E1CB454F295}" type="slidenum">
              <a:rPr lang="en-US" smtClean="0"/>
              <a:t>43</a:t>
            </a:fld>
            <a:endParaRPr lang="en-US"/>
          </a:p>
        </p:txBody>
      </p:sp>
    </p:spTree>
    <p:extLst>
      <p:ext uri="{BB962C8B-B14F-4D97-AF65-F5344CB8AC3E}">
        <p14:creationId xmlns:p14="http://schemas.microsoft.com/office/powerpoint/2010/main" val="5211782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6" name="Rectangle 15">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4521BD-8EF6-F597-1706-91C40F0ED050}"/>
              </a:ext>
            </a:extLst>
          </p:cNvPr>
          <p:cNvSpPr>
            <a:spLocks noGrp="1"/>
          </p:cNvSpPr>
          <p:nvPr>
            <p:ph type="title"/>
          </p:nvPr>
        </p:nvSpPr>
        <p:spPr>
          <a:xfrm>
            <a:off x="1267692" y="1078800"/>
            <a:ext cx="9632372" cy="1876345"/>
          </a:xfrm>
        </p:spPr>
        <p:txBody>
          <a:bodyPr vert="horz" lIns="91440" tIns="45720" rIns="91440" bIns="45720" rtlCol="0" anchor="ctr">
            <a:noAutofit/>
          </a:bodyPr>
          <a:lstStyle/>
          <a:p>
            <a:r>
              <a:rPr lang="en-US" sz="3600" b="1" kern="1200" dirty="0" err="1">
                <a:solidFill>
                  <a:schemeClr val="tx1"/>
                </a:solidFill>
                <a:latin typeface="+mj-lt"/>
                <a:ea typeface="+mj-ea"/>
                <a:cs typeface="+mj-cs"/>
              </a:rPr>
              <a:t>GloVe</a:t>
            </a:r>
            <a:r>
              <a:rPr lang="en-US" sz="3600" b="1" kern="1200" dirty="0">
                <a:solidFill>
                  <a:schemeClr val="tx1"/>
                </a:solidFill>
                <a:latin typeface="+mj-lt"/>
                <a:ea typeface="+mj-ea"/>
                <a:cs typeface="+mj-cs"/>
              </a:rPr>
              <a:t> vs. pre-trained Turkish BERT Embeddings Performance in Deep Learning Architecture</a:t>
            </a:r>
          </a:p>
        </p:txBody>
      </p:sp>
      <p:pic>
        <p:nvPicPr>
          <p:cNvPr id="5" name="Content Placeholder 4">
            <a:extLst>
              <a:ext uri="{FF2B5EF4-FFF2-40B4-BE49-F238E27FC236}">
                <a16:creationId xmlns:a16="http://schemas.microsoft.com/office/drawing/2014/main" id="{B87146E2-5DD5-F182-640D-0E04C8205F28}"/>
              </a:ext>
            </a:extLst>
          </p:cNvPr>
          <p:cNvPicPr>
            <a:picLocks noGrp="1" noChangeAspect="1"/>
          </p:cNvPicPr>
          <p:nvPr>
            <p:ph idx="1"/>
          </p:nvPr>
        </p:nvPicPr>
        <p:blipFill>
          <a:blip r:embed="rId2"/>
          <a:stretch>
            <a:fillRect/>
          </a:stretch>
        </p:blipFill>
        <p:spPr>
          <a:xfrm>
            <a:off x="761801" y="3497417"/>
            <a:ext cx="10668003" cy="1600201"/>
          </a:xfrm>
          <a:prstGeom prst="rect">
            <a:avLst/>
          </a:prstGeom>
          <a:effectLst/>
        </p:spPr>
      </p:pic>
      <p:sp>
        <p:nvSpPr>
          <p:cNvPr id="3" name="Date Placeholder 2">
            <a:extLst>
              <a:ext uri="{FF2B5EF4-FFF2-40B4-BE49-F238E27FC236}">
                <a16:creationId xmlns:a16="http://schemas.microsoft.com/office/drawing/2014/main" id="{5ABBB4BA-35F1-F243-34B0-68D23045A92F}"/>
              </a:ext>
            </a:extLst>
          </p:cNvPr>
          <p:cNvSpPr>
            <a:spLocks noGrp="1"/>
          </p:cNvSpPr>
          <p:nvPr>
            <p:ph type="dt" sz="half" idx="10"/>
          </p:nvPr>
        </p:nvSpPr>
        <p:spPr/>
        <p:txBody>
          <a:bodyPr/>
          <a:lstStyle/>
          <a:p>
            <a:fld id="{49C743F1-15C4-4C5D-9BAA-78DC383D4DEC}" type="datetime1">
              <a:rPr lang="en-US" smtClean="0"/>
              <a:t>7/25/2025</a:t>
            </a:fld>
            <a:endParaRPr lang="en-US"/>
          </a:p>
        </p:txBody>
      </p:sp>
      <p:sp>
        <p:nvSpPr>
          <p:cNvPr id="4" name="Slide Number Placeholder 3">
            <a:extLst>
              <a:ext uri="{FF2B5EF4-FFF2-40B4-BE49-F238E27FC236}">
                <a16:creationId xmlns:a16="http://schemas.microsoft.com/office/drawing/2014/main" id="{1B50BF42-CF80-6237-185C-B4228E67F597}"/>
              </a:ext>
            </a:extLst>
          </p:cNvPr>
          <p:cNvSpPr>
            <a:spLocks noGrp="1"/>
          </p:cNvSpPr>
          <p:nvPr>
            <p:ph type="sldNum" sz="quarter" idx="12"/>
          </p:nvPr>
        </p:nvSpPr>
        <p:spPr/>
        <p:txBody>
          <a:bodyPr/>
          <a:lstStyle/>
          <a:p>
            <a:fld id="{F66C9141-23B4-4FD3-80FD-4E1CB454F295}" type="slidenum">
              <a:rPr lang="en-US" smtClean="0"/>
              <a:t>44</a:t>
            </a:fld>
            <a:endParaRPr lang="en-US"/>
          </a:p>
        </p:txBody>
      </p:sp>
    </p:spTree>
    <p:extLst>
      <p:ext uri="{BB962C8B-B14F-4D97-AF65-F5344CB8AC3E}">
        <p14:creationId xmlns:p14="http://schemas.microsoft.com/office/powerpoint/2010/main" val="39577876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66D8D-3175-3082-76A2-3AE9DB53CF25}"/>
              </a:ext>
            </a:extLst>
          </p:cNvPr>
          <p:cNvSpPr>
            <a:spLocks noGrp="1"/>
          </p:cNvSpPr>
          <p:nvPr>
            <p:ph type="title"/>
          </p:nvPr>
        </p:nvSpPr>
        <p:spPr>
          <a:xfrm>
            <a:off x="1024128" y="585216"/>
            <a:ext cx="5867061" cy="1499616"/>
          </a:xfrm>
        </p:spPr>
        <p:txBody>
          <a:bodyPr>
            <a:normAutofit/>
          </a:bodyPr>
          <a:lstStyle/>
          <a:p>
            <a:r>
              <a:rPr lang="en-US" b="1" dirty="0"/>
              <a:t>CONTEXTUAL MODEL RESULTS</a:t>
            </a:r>
          </a:p>
        </p:txBody>
      </p:sp>
      <p:sp>
        <p:nvSpPr>
          <p:cNvPr id="3" name="Content Placeholder 2">
            <a:extLst>
              <a:ext uri="{FF2B5EF4-FFF2-40B4-BE49-F238E27FC236}">
                <a16:creationId xmlns:a16="http://schemas.microsoft.com/office/drawing/2014/main" id="{3AAE9349-370D-2C5C-7CF5-898AA43AAAEF}"/>
              </a:ext>
            </a:extLst>
          </p:cNvPr>
          <p:cNvSpPr>
            <a:spLocks noGrp="1"/>
          </p:cNvSpPr>
          <p:nvPr>
            <p:ph idx="1"/>
          </p:nvPr>
        </p:nvSpPr>
        <p:spPr>
          <a:xfrm>
            <a:off x="8021490" y="585216"/>
            <a:ext cx="3527043" cy="5586984"/>
          </a:xfrm>
        </p:spPr>
        <p:txBody>
          <a:bodyPr anchor="ctr">
            <a:normAutofit/>
          </a:bodyPr>
          <a:lstStyle/>
          <a:p>
            <a:endParaRPr lang="en-US" sz="2000">
              <a:solidFill>
                <a:srgbClr val="FFFFFF"/>
              </a:solidFill>
            </a:endParaRPr>
          </a:p>
        </p:txBody>
      </p:sp>
      <p:pic>
        <p:nvPicPr>
          <p:cNvPr id="7" name="Graphic 6" descr="Bullseye">
            <a:extLst>
              <a:ext uri="{FF2B5EF4-FFF2-40B4-BE49-F238E27FC236}">
                <a16:creationId xmlns:a16="http://schemas.microsoft.com/office/drawing/2014/main" id="{C4630494-5796-5AA1-4047-B40CFD8C360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14558" y="2286000"/>
            <a:ext cx="3886200" cy="3886200"/>
          </a:xfrm>
          <a:prstGeom prst="rect">
            <a:avLst/>
          </a:prstGeom>
        </p:spPr>
      </p:pic>
      <p:sp>
        <p:nvSpPr>
          <p:cNvPr id="4" name="Date Placeholder 3">
            <a:extLst>
              <a:ext uri="{FF2B5EF4-FFF2-40B4-BE49-F238E27FC236}">
                <a16:creationId xmlns:a16="http://schemas.microsoft.com/office/drawing/2014/main" id="{4D22DB4B-B48B-D0C5-49B3-7B9219EF9043}"/>
              </a:ext>
            </a:extLst>
          </p:cNvPr>
          <p:cNvSpPr>
            <a:spLocks noGrp="1"/>
          </p:cNvSpPr>
          <p:nvPr>
            <p:ph type="dt" sz="half" idx="10"/>
          </p:nvPr>
        </p:nvSpPr>
        <p:spPr/>
        <p:txBody>
          <a:bodyPr/>
          <a:lstStyle/>
          <a:p>
            <a:fld id="{A5F09EC7-A140-4024-B3FC-4FA78A62DF7C}" type="datetime1">
              <a:rPr lang="en-US" smtClean="0"/>
              <a:t>7/25/2025</a:t>
            </a:fld>
            <a:endParaRPr lang="en-US"/>
          </a:p>
        </p:txBody>
      </p:sp>
      <p:sp>
        <p:nvSpPr>
          <p:cNvPr id="5" name="Slide Number Placeholder 4">
            <a:extLst>
              <a:ext uri="{FF2B5EF4-FFF2-40B4-BE49-F238E27FC236}">
                <a16:creationId xmlns:a16="http://schemas.microsoft.com/office/drawing/2014/main" id="{E0D8EDB7-B5E7-6914-2104-923FBF75ECDB}"/>
              </a:ext>
            </a:extLst>
          </p:cNvPr>
          <p:cNvSpPr>
            <a:spLocks noGrp="1"/>
          </p:cNvSpPr>
          <p:nvPr>
            <p:ph type="sldNum" sz="quarter" idx="12"/>
          </p:nvPr>
        </p:nvSpPr>
        <p:spPr/>
        <p:txBody>
          <a:bodyPr/>
          <a:lstStyle/>
          <a:p>
            <a:fld id="{F66C9141-23B4-4FD3-80FD-4E1CB454F295}" type="slidenum">
              <a:rPr lang="en-US" smtClean="0"/>
              <a:t>45</a:t>
            </a:fld>
            <a:endParaRPr lang="en-US"/>
          </a:p>
        </p:txBody>
      </p:sp>
    </p:spTree>
    <p:extLst>
      <p:ext uri="{BB962C8B-B14F-4D97-AF65-F5344CB8AC3E}">
        <p14:creationId xmlns:p14="http://schemas.microsoft.com/office/powerpoint/2010/main" val="58271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8F141A-D8C0-301C-3B82-CA2A575156A9}"/>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b="1" kern="1200" dirty="0">
                <a:solidFill>
                  <a:srgbClr val="FFFFFF"/>
                </a:solidFill>
                <a:latin typeface="+mj-lt"/>
                <a:ea typeface="+mj-ea"/>
                <a:cs typeface="+mj-cs"/>
              </a:rPr>
              <a:t>Embedding Performance in </a:t>
            </a:r>
            <a:r>
              <a:rPr lang="en-US" sz="3700" b="1" kern="1200" dirty="0" err="1">
                <a:solidFill>
                  <a:srgbClr val="FFFFFF"/>
                </a:solidFill>
                <a:latin typeface="+mj-lt"/>
                <a:ea typeface="+mj-ea"/>
                <a:cs typeface="+mj-cs"/>
              </a:rPr>
              <a:t>DialogueRNN</a:t>
            </a:r>
            <a:endParaRPr lang="en-US" sz="3700" b="1" kern="1200" dirty="0">
              <a:solidFill>
                <a:srgbClr val="FFFFFF"/>
              </a:solidFill>
              <a:latin typeface="+mj-lt"/>
              <a:ea typeface="+mj-ea"/>
              <a:cs typeface="+mj-cs"/>
            </a:endParaRPr>
          </a:p>
        </p:txBody>
      </p:sp>
      <p:sp>
        <p:nvSpPr>
          <p:cNvPr id="14" name="Content Placeholder 8">
            <a:extLst>
              <a:ext uri="{FF2B5EF4-FFF2-40B4-BE49-F238E27FC236}">
                <a16:creationId xmlns:a16="http://schemas.microsoft.com/office/drawing/2014/main" id="{B5336797-0AD4-CA4C-B643-99A4D69026D8}"/>
              </a:ext>
            </a:extLst>
          </p:cNvPr>
          <p:cNvSpPr>
            <a:spLocks noGrp="1"/>
          </p:cNvSpPr>
          <p:nvPr>
            <p:ph idx="1"/>
          </p:nvPr>
        </p:nvSpPr>
        <p:spPr>
          <a:xfrm>
            <a:off x="8572499" y="390832"/>
            <a:ext cx="3233585" cy="873612"/>
          </a:xfrm>
        </p:spPr>
        <p:txBody>
          <a:bodyPr vert="horz" lIns="91440" tIns="45720" rIns="91440" bIns="45720" rtlCol="0" anchor="ctr">
            <a:normAutofit/>
          </a:bodyPr>
          <a:lstStyle/>
          <a:p>
            <a:pPr marL="0" indent="0">
              <a:buNone/>
            </a:pPr>
            <a:r>
              <a:rPr lang="en-US" sz="2000" kern="1200">
                <a:solidFill>
                  <a:srgbClr val="FFFFFF"/>
                </a:solidFill>
                <a:latin typeface="+mn-lt"/>
                <a:ea typeface="+mn-ea"/>
                <a:cs typeface="+mn-cs"/>
              </a:rPr>
              <a:t>10-fold cross-validation results</a:t>
            </a:r>
          </a:p>
        </p:txBody>
      </p:sp>
      <p:pic>
        <p:nvPicPr>
          <p:cNvPr id="4" name="Picture 3">
            <a:extLst>
              <a:ext uri="{FF2B5EF4-FFF2-40B4-BE49-F238E27FC236}">
                <a16:creationId xmlns:a16="http://schemas.microsoft.com/office/drawing/2014/main" id="{1872122A-42DF-DE72-DCD4-945E2406FD75}"/>
              </a:ext>
            </a:extLst>
          </p:cNvPr>
          <p:cNvPicPr>
            <a:picLocks noChangeAspect="1"/>
          </p:cNvPicPr>
          <p:nvPr/>
        </p:nvPicPr>
        <p:blipFill>
          <a:blip r:embed="rId2"/>
          <a:stretch>
            <a:fillRect/>
          </a:stretch>
        </p:blipFill>
        <p:spPr>
          <a:xfrm>
            <a:off x="1203516" y="1966293"/>
            <a:ext cx="9784967" cy="4452160"/>
          </a:xfrm>
          <a:prstGeom prst="rect">
            <a:avLst/>
          </a:prstGeom>
        </p:spPr>
      </p:pic>
      <p:sp>
        <p:nvSpPr>
          <p:cNvPr id="3" name="Date Placeholder 2">
            <a:extLst>
              <a:ext uri="{FF2B5EF4-FFF2-40B4-BE49-F238E27FC236}">
                <a16:creationId xmlns:a16="http://schemas.microsoft.com/office/drawing/2014/main" id="{48109E63-3DC0-CFEE-1C52-0F6B2E3C5FCF}"/>
              </a:ext>
            </a:extLst>
          </p:cNvPr>
          <p:cNvSpPr>
            <a:spLocks noGrp="1"/>
          </p:cNvSpPr>
          <p:nvPr>
            <p:ph type="dt" sz="half" idx="10"/>
          </p:nvPr>
        </p:nvSpPr>
        <p:spPr/>
        <p:txBody>
          <a:bodyPr/>
          <a:lstStyle/>
          <a:p>
            <a:fld id="{A1DBDDAC-1406-468A-919B-AA829DFC9E6F}" type="datetime1">
              <a:rPr lang="en-US" smtClean="0"/>
              <a:t>7/25/2025</a:t>
            </a:fld>
            <a:endParaRPr lang="en-US"/>
          </a:p>
        </p:txBody>
      </p:sp>
      <p:sp>
        <p:nvSpPr>
          <p:cNvPr id="5" name="Slide Number Placeholder 4">
            <a:extLst>
              <a:ext uri="{FF2B5EF4-FFF2-40B4-BE49-F238E27FC236}">
                <a16:creationId xmlns:a16="http://schemas.microsoft.com/office/drawing/2014/main" id="{18BEFC96-2F25-82AB-4407-48F94139BC01}"/>
              </a:ext>
            </a:extLst>
          </p:cNvPr>
          <p:cNvSpPr>
            <a:spLocks noGrp="1"/>
          </p:cNvSpPr>
          <p:nvPr>
            <p:ph type="sldNum" sz="quarter" idx="12"/>
          </p:nvPr>
        </p:nvSpPr>
        <p:spPr/>
        <p:txBody>
          <a:bodyPr/>
          <a:lstStyle/>
          <a:p>
            <a:fld id="{F66C9141-23B4-4FD3-80FD-4E1CB454F295}" type="slidenum">
              <a:rPr lang="en-US" smtClean="0"/>
              <a:t>46</a:t>
            </a:fld>
            <a:endParaRPr lang="en-US"/>
          </a:p>
        </p:txBody>
      </p:sp>
    </p:spTree>
    <p:extLst>
      <p:ext uri="{BB962C8B-B14F-4D97-AF65-F5344CB8AC3E}">
        <p14:creationId xmlns:p14="http://schemas.microsoft.com/office/powerpoint/2010/main" val="26188426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8A5453-A9B7-DC26-701C-5609A2A68946}"/>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b="1" kern="1200" cap="all" spc="200" baseline="0" dirty="0">
                <a:solidFill>
                  <a:srgbClr val="FFFFFF"/>
                </a:solidFill>
                <a:latin typeface="+mj-lt"/>
                <a:ea typeface="+mj-ea"/>
                <a:cs typeface="+mj-cs"/>
              </a:rPr>
              <a:t>LLM Model Results (STANDARD SPLIT)</a:t>
            </a:r>
          </a:p>
        </p:txBody>
      </p:sp>
      <p:pic>
        <p:nvPicPr>
          <p:cNvPr id="4" name="Picture 3">
            <a:extLst>
              <a:ext uri="{FF2B5EF4-FFF2-40B4-BE49-F238E27FC236}">
                <a16:creationId xmlns:a16="http://schemas.microsoft.com/office/drawing/2014/main" id="{C7977F76-E97E-4010-2D09-88479C9F9A1C}"/>
              </a:ext>
            </a:extLst>
          </p:cNvPr>
          <p:cNvPicPr>
            <a:picLocks noChangeAspect="1"/>
          </p:cNvPicPr>
          <p:nvPr/>
        </p:nvPicPr>
        <p:blipFill>
          <a:blip r:embed="rId2"/>
          <a:stretch>
            <a:fillRect/>
          </a:stretch>
        </p:blipFill>
        <p:spPr>
          <a:xfrm>
            <a:off x="2290736" y="1966293"/>
            <a:ext cx="7610527" cy="4452160"/>
          </a:xfrm>
          <a:prstGeom prst="rect">
            <a:avLst/>
          </a:prstGeom>
        </p:spPr>
      </p:pic>
      <p:sp>
        <p:nvSpPr>
          <p:cNvPr id="3" name="Date Placeholder 2">
            <a:extLst>
              <a:ext uri="{FF2B5EF4-FFF2-40B4-BE49-F238E27FC236}">
                <a16:creationId xmlns:a16="http://schemas.microsoft.com/office/drawing/2014/main" id="{18B12DD3-5C31-BBD8-9621-1B6ACB082BFC}"/>
              </a:ext>
            </a:extLst>
          </p:cNvPr>
          <p:cNvSpPr>
            <a:spLocks noGrp="1"/>
          </p:cNvSpPr>
          <p:nvPr>
            <p:ph type="dt" sz="half" idx="10"/>
          </p:nvPr>
        </p:nvSpPr>
        <p:spPr/>
        <p:txBody>
          <a:bodyPr/>
          <a:lstStyle/>
          <a:p>
            <a:fld id="{DDBEF00F-2374-4AF8-8E54-418C2AB944C9}" type="datetime1">
              <a:rPr lang="en-US" smtClean="0"/>
              <a:t>7/25/2025</a:t>
            </a:fld>
            <a:endParaRPr lang="en-US"/>
          </a:p>
        </p:txBody>
      </p:sp>
      <p:sp>
        <p:nvSpPr>
          <p:cNvPr id="5" name="Slide Number Placeholder 4">
            <a:extLst>
              <a:ext uri="{FF2B5EF4-FFF2-40B4-BE49-F238E27FC236}">
                <a16:creationId xmlns:a16="http://schemas.microsoft.com/office/drawing/2014/main" id="{6BC3E8CA-977C-B48B-49B3-F6D92D1CEC06}"/>
              </a:ext>
            </a:extLst>
          </p:cNvPr>
          <p:cNvSpPr>
            <a:spLocks noGrp="1"/>
          </p:cNvSpPr>
          <p:nvPr>
            <p:ph type="sldNum" sz="quarter" idx="12"/>
          </p:nvPr>
        </p:nvSpPr>
        <p:spPr/>
        <p:txBody>
          <a:bodyPr/>
          <a:lstStyle/>
          <a:p>
            <a:fld id="{F66C9141-23B4-4FD3-80FD-4E1CB454F295}" type="slidenum">
              <a:rPr lang="en-US" smtClean="0"/>
              <a:t>47</a:t>
            </a:fld>
            <a:endParaRPr lang="en-US"/>
          </a:p>
        </p:txBody>
      </p:sp>
    </p:spTree>
    <p:extLst>
      <p:ext uri="{BB962C8B-B14F-4D97-AF65-F5344CB8AC3E}">
        <p14:creationId xmlns:p14="http://schemas.microsoft.com/office/powerpoint/2010/main" val="1945851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760EA3-7DDA-22AB-2C6E-246BD997A90F}"/>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b="1" kern="1200" cap="all" spc="200" baseline="0" dirty="0">
                <a:solidFill>
                  <a:srgbClr val="FFFFFF"/>
                </a:solidFill>
                <a:latin typeface="+mj-lt"/>
                <a:ea typeface="+mj-ea"/>
                <a:cs typeface="+mj-cs"/>
              </a:rPr>
              <a:t>ALL CONTEXTUAL MODEL RESULTS (STANDARD SPLIT)</a:t>
            </a:r>
          </a:p>
        </p:txBody>
      </p:sp>
      <p:pic>
        <p:nvPicPr>
          <p:cNvPr id="5" name="Content Placeholder 4">
            <a:extLst>
              <a:ext uri="{FF2B5EF4-FFF2-40B4-BE49-F238E27FC236}">
                <a16:creationId xmlns:a16="http://schemas.microsoft.com/office/drawing/2014/main" id="{4DFF7C9F-DDF9-5840-C985-A56390DDA975}"/>
              </a:ext>
            </a:extLst>
          </p:cNvPr>
          <p:cNvPicPr>
            <a:picLocks noChangeAspect="1"/>
          </p:cNvPicPr>
          <p:nvPr/>
        </p:nvPicPr>
        <p:blipFill>
          <a:blip r:embed="rId2"/>
          <a:stretch>
            <a:fillRect/>
          </a:stretch>
        </p:blipFill>
        <p:spPr>
          <a:xfrm>
            <a:off x="1973630" y="1966293"/>
            <a:ext cx="8244738" cy="4452160"/>
          </a:xfrm>
          <a:prstGeom prst="rect">
            <a:avLst/>
          </a:prstGeom>
        </p:spPr>
      </p:pic>
      <p:sp>
        <p:nvSpPr>
          <p:cNvPr id="3" name="Date Placeholder 2">
            <a:extLst>
              <a:ext uri="{FF2B5EF4-FFF2-40B4-BE49-F238E27FC236}">
                <a16:creationId xmlns:a16="http://schemas.microsoft.com/office/drawing/2014/main" id="{BD7B4AC7-EEC8-188D-B935-58AC332A965D}"/>
              </a:ext>
            </a:extLst>
          </p:cNvPr>
          <p:cNvSpPr>
            <a:spLocks noGrp="1"/>
          </p:cNvSpPr>
          <p:nvPr>
            <p:ph type="dt" sz="half" idx="10"/>
          </p:nvPr>
        </p:nvSpPr>
        <p:spPr/>
        <p:txBody>
          <a:bodyPr/>
          <a:lstStyle/>
          <a:p>
            <a:fld id="{C2894655-A797-4E51-9E7D-15020AFB1ECD}" type="datetime1">
              <a:rPr lang="en-US" smtClean="0"/>
              <a:t>7/25/2025</a:t>
            </a:fld>
            <a:endParaRPr lang="en-US"/>
          </a:p>
        </p:txBody>
      </p:sp>
      <p:sp>
        <p:nvSpPr>
          <p:cNvPr id="4" name="Slide Number Placeholder 3">
            <a:extLst>
              <a:ext uri="{FF2B5EF4-FFF2-40B4-BE49-F238E27FC236}">
                <a16:creationId xmlns:a16="http://schemas.microsoft.com/office/drawing/2014/main" id="{6D951697-3DFA-49B9-6DE6-7506AD764847}"/>
              </a:ext>
            </a:extLst>
          </p:cNvPr>
          <p:cNvSpPr>
            <a:spLocks noGrp="1"/>
          </p:cNvSpPr>
          <p:nvPr>
            <p:ph type="sldNum" sz="quarter" idx="12"/>
          </p:nvPr>
        </p:nvSpPr>
        <p:spPr/>
        <p:txBody>
          <a:bodyPr/>
          <a:lstStyle/>
          <a:p>
            <a:fld id="{F66C9141-23B4-4FD3-80FD-4E1CB454F295}" type="slidenum">
              <a:rPr lang="en-US" smtClean="0"/>
              <a:t>48</a:t>
            </a:fld>
            <a:endParaRPr lang="en-US"/>
          </a:p>
        </p:txBody>
      </p:sp>
    </p:spTree>
    <p:extLst>
      <p:ext uri="{BB962C8B-B14F-4D97-AF65-F5344CB8AC3E}">
        <p14:creationId xmlns:p14="http://schemas.microsoft.com/office/powerpoint/2010/main" val="34815341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C1932-BCD9-C9D9-DF00-FA3100C9B647}"/>
              </a:ext>
            </a:extLst>
          </p:cNvPr>
          <p:cNvSpPr>
            <a:spLocks noGrp="1"/>
          </p:cNvSpPr>
          <p:nvPr>
            <p:ph type="title"/>
          </p:nvPr>
        </p:nvSpPr>
        <p:spPr>
          <a:xfrm>
            <a:off x="838200" y="136525"/>
            <a:ext cx="10515600" cy="1554163"/>
          </a:xfrm>
        </p:spPr>
        <p:txBody>
          <a:bodyPr>
            <a:normAutofit fontScale="90000"/>
          </a:bodyPr>
          <a:lstStyle/>
          <a:p>
            <a:r>
              <a:rPr lang="en-US" b="1" dirty="0"/>
              <a:t>OVERALL PERFORMANCE TABLE: Confidence Intervals (CI) are calculated based on a 95% confidence level</a:t>
            </a:r>
          </a:p>
        </p:txBody>
      </p:sp>
      <p:graphicFrame>
        <p:nvGraphicFramePr>
          <p:cNvPr id="6" name="Content Placeholder 5">
            <a:extLst>
              <a:ext uri="{FF2B5EF4-FFF2-40B4-BE49-F238E27FC236}">
                <a16:creationId xmlns:a16="http://schemas.microsoft.com/office/drawing/2014/main" id="{ACF23E0E-28C7-7B3F-734E-527825C9A7F8}"/>
              </a:ext>
            </a:extLst>
          </p:cNvPr>
          <p:cNvGraphicFramePr>
            <a:graphicFrameLocks noGrp="1"/>
          </p:cNvGraphicFramePr>
          <p:nvPr>
            <p:ph idx="1"/>
            <p:extLst>
              <p:ext uri="{D42A27DB-BD31-4B8C-83A1-F6EECF244321}">
                <p14:modId xmlns:p14="http://schemas.microsoft.com/office/powerpoint/2010/main" val="2834375407"/>
              </p:ext>
            </p:extLst>
          </p:nvPr>
        </p:nvGraphicFramePr>
        <p:xfrm>
          <a:off x="838200" y="1690688"/>
          <a:ext cx="10515600" cy="4802190"/>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3297025577"/>
                    </a:ext>
                  </a:extLst>
                </a:gridCol>
                <a:gridCol w="1314450">
                  <a:extLst>
                    <a:ext uri="{9D8B030D-6E8A-4147-A177-3AD203B41FA5}">
                      <a16:colId xmlns:a16="http://schemas.microsoft.com/office/drawing/2014/main" val="1973080238"/>
                    </a:ext>
                  </a:extLst>
                </a:gridCol>
                <a:gridCol w="1314450">
                  <a:extLst>
                    <a:ext uri="{9D8B030D-6E8A-4147-A177-3AD203B41FA5}">
                      <a16:colId xmlns:a16="http://schemas.microsoft.com/office/drawing/2014/main" val="2265335975"/>
                    </a:ext>
                  </a:extLst>
                </a:gridCol>
                <a:gridCol w="1314450">
                  <a:extLst>
                    <a:ext uri="{9D8B030D-6E8A-4147-A177-3AD203B41FA5}">
                      <a16:colId xmlns:a16="http://schemas.microsoft.com/office/drawing/2014/main" val="2959525342"/>
                    </a:ext>
                  </a:extLst>
                </a:gridCol>
                <a:gridCol w="1314450">
                  <a:extLst>
                    <a:ext uri="{9D8B030D-6E8A-4147-A177-3AD203B41FA5}">
                      <a16:colId xmlns:a16="http://schemas.microsoft.com/office/drawing/2014/main" val="163550471"/>
                    </a:ext>
                  </a:extLst>
                </a:gridCol>
                <a:gridCol w="1314450">
                  <a:extLst>
                    <a:ext uri="{9D8B030D-6E8A-4147-A177-3AD203B41FA5}">
                      <a16:colId xmlns:a16="http://schemas.microsoft.com/office/drawing/2014/main" val="308379443"/>
                    </a:ext>
                  </a:extLst>
                </a:gridCol>
                <a:gridCol w="1314450">
                  <a:extLst>
                    <a:ext uri="{9D8B030D-6E8A-4147-A177-3AD203B41FA5}">
                      <a16:colId xmlns:a16="http://schemas.microsoft.com/office/drawing/2014/main" val="4036232258"/>
                    </a:ext>
                  </a:extLst>
                </a:gridCol>
                <a:gridCol w="1314450">
                  <a:extLst>
                    <a:ext uri="{9D8B030D-6E8A-4147-A177-3AD203B41FA5}">
                      <a16:colId xmlns:a16="http://schemas.microsoft.com/office/drawing/2014/main" val="4215421582"/>
                    </a:ext>
                  </a:extLst>
                </a:gridCol>
              </a:tblGrid>
              <a:tr h="540570">
                <a:tc>
                  <a:txBody>
                    <a:bodyPr/>
                    <a:lstStyle/>
                    <a:p>
                      <a:pPr algn="l" fontAlgn="b"/>
                      <a:r>
                        <a:rPr lang="en-US" sz="1100" b="0" i="0" u="none" strike="noStrike" dirty="0">
                          <a:solidFill>
                            <a:srgbClr val="000000"/>
                          </a:solidFill>
                          <a:effectLst/>
                          <a:latin typeface="Aptos Narrow" panose="020B0004020202020204" pitchFamily="34" charset="0"/>
                        </a:rPr>
                        <a:t>Comparison Type</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Model 1</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Model 1 Weighted F1 (%)</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Model 2</a:t>
                      </a:r>
                    </a:p>
                  </a:txBody>
                  <a:tcPr marL="7620" marR="7620" marT="7620" marB="0" anchor="b"/>
                </a:tc>
                <a:tc>
                  <a:txBody>
                    <a:bodyPr/>
                    <a:lstStyle/>
                    <a:p>
                      <a:pPr algn="l" fontAlgn="b"/>
                      <a:r>
                        <a:rPr lang="en-US" sz="1100" b="0" i="0" u="none" strike="noStrike" dirty="0">
                          <a:solidFill>
                            <a:srgbClr val="000000"/>
                          </a:solidFill>
                          <a:effectLst/>
                          <a:latin typeface="Aptos Narrow" panose="020B0004020202020204" pitchFamily="34" charset="0"/>
                        </a:rPr>
                        <a:t>Model 2 Weighted F1 (%)</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F1 Difference (%)</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T-Test Value</a:t>
                      </a:r>
                    </a:p>
                  </a:txBody>
                  <a:tcPr marL="7620" marR="7620" marT="7620" marB="0" anchor="b"/>
                </a:tc>
                <a:tc>
                  <a:txBody>
                    <a:bodyPr/>
                    <a:lstStyle/>
                    <a:p>
                      <a:pPr algn="l" fontAlgn="b"/>
                      <a:r>
                        <a:rPr lang="en-US" sz="1100" b="0" i="0" u="none" strike="noStrike" dirty="0">
                          <a:solidFill>
                            <a:srgbClr val="000000"/>
                          </a:solidFill>
                          <a:effectLst/>
                          <a:latin typeface="Aptos Narrow" panose="020B0004020202020204" pitchFamily="34" charset="0"/>
                        </a:rPr>
                        <a:t>CI (95%)</a:t>
                      </a:r>
                    </a:p>
                  </a:txBody>
                  <a:tcPr marL="7620" marR="7620" marT="7620" marB="0" anchor="b"/>
                </a:tc>
                <a:extLst>
                  <a:ext uri="{0D108BD9-81ED-4DB2-BD59-A6C34878D82A}">
                    <a16:rowId xmlns:a16="http://schemas.microsoft.com/office/drawing/2014/main" val="702084088"/>
                  </a:ext>
                </a:extLst>
              </a:tr>
              <a:tr h="744210">
                <a:tc>
                  <a:txBody>
                    <a:bodyPr/>
                    <a:lstStyle/>
                    <a:p>
                      <a:pPr algn="l" fontAlgn="b"/>
                      <a:r>
                        <a:rPr lang="en-US" sz="1100" b="0" i="0" u="none" strike="noStrike">
                          <a:solidFill>
                            <a:srgbClr val="000000"/>
                          </a:solidFill>
                          <a:effectLst/>
                          <a:latin typeface="Aptos Narrow" panose="020B0004020202020204" pitchFamily="34" charset="0"/>
                        </a:rPr>
                        <a:t>Non-Contextual vs. Non-Contextual</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Decision Tree (Partial Surface + Partial Preprocessing, GloVe)</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49.42</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MLP (Pre-trained Turkish BERT)</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56.84</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7.42</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0.0023</a:t>
                      </a:r>
                    </a:p>
                  </a:txBody>
                  <a:tcPr marL="7620" marR="7620" marT="7620" marB="0" anchor="b"/>
                </a:tc>
                <a:tc>
                  <a:txBody>
                    <a:bodyPr/>
                    <a:lstStyle/>
                    <a:p>
                      <a:pPr algn="l" fontAlgn="b"/>
                      <a:r>
                        <a:rPr lang="en-US" sz="1100" b="0" i="0" u="none" strike="noStrike" dirty="0">
                          <a:solidFill>
                            <a:srgbClr val="000000"/>
                          </a:solidFill>
                          <a:effectLst/>
                          <a:latin typeface="Aptos Narrow" panose="020B0004020202020204" pitchFamily="34" charset="0"/>
                        </a:rPr>
                        <a:t>[3.43, 11.41]</a:t>
                      </a:r>
                    </a:p>
                  </a:txBody>
                  <a:tcPr marL="7620" marR="7620" marT="7620" marB="0" anchor="b"/>
                </a:tc>
                <a:extLst>
                  <a:ext uri="{0D108BD9-81ED-4DB2-BD59-A6C34878D82A}">
                    <a16:rowId xmlns:a16="http://schemas.microsoft.com/office/drawing/2014/main" val="878242011"/>
                  </a:ext>
                </a:extLst>
              </a:tr>
              <a:tr h="744210">
                <a:tc>
                  <a:txBody>
                    <a:bodyPr/>
                    <a:lstStyle/>
                    <a:p>
                      <a:pPr algn="l" fontAlgn="b"/>
                      <a:r>
                        <a:rPr lang="en-US" sz="1100" b="0" i="0" u="none" strike="noStrike">
                          <a:solidFill>
                            <a:srgbClr val="000000"/>
                          </a:solidFill>
                          <a:effectLst/>
                          <a:latin typeface="Aptos Narrow" panose="020B0004020202020204" pitchFamily="34" charset="0"/>
                        </a:rPr>
                        <a:t>Non-Contextual vs. Non-Contextual</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XGBoost (Root Form + Detailed Preprocessing, GloVe)</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44.83</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XGBoost (Partial Surface + Partial Preprocessing, GloVe)</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54.72</a:t>
                      </a:r>
                    </a:p>
                  </a:txBody>
                  <a:tcPr marL="7620" marR="7620" marT="7620" marB="0" anchor="b"/>
                </a:tc>
                <a:tc>
                  <a:txBody>
                    <a:bodyPr/>
                    <a:lstStyle/>
                    <a:p>
                      <a:pPr algn="r" fontAlgn="b"/>
                      <a:r>
                        <a:rPr lang="en-US" sz="1100" b="0" i="0" u="none" strike="noStrike" dirty="0">
                          <a:solidFill>
                            <a:srgbClr val="000000"/>
                          </a:solidFill>
                          <a:effectLst/>
                          <a:latin typeface="Aptos Narrow" panose="020B0004020202020204" pitchFamily="34" charset="0"/>
                        </a:rPr>
                        <a:t>9.89</a:t>
                      </a:r>
                    </a:p>
                  </a:txBody>
                  <a:tcPr marL="7620" marR="7620" marT="7620" marB="0" anchor="b"/>
                </a:tc>
                <a:tc>
                  <a:txBody>
                    <a:bodyPr/>
                    <a:lstStyle/>
                    <a:p>
                      <a:pPr algn="r" fontAlgn="b"/>
                      <a:r>
                        <a:rPr lang="en-US" sz="1100" b="0" i="0" u="none" strike="noStrike" dirty="0">
                          <a:solidFill>
                            <a:srgbClr val="000000"/>
                          </a:solidFill>
                          <a:effectLst/>
                          <a:latin typeface="Aptos Narrow" panose="020B0004020202020204" pitchFamily="34" charset="0"/>
                        </a:rPr>
                        <a:t>0.013</a:t>
                      </a:r>
                    </a:p>
                  </a:txBody>
                  <a:tcPr marL="7620" marR="7620" marT="7620" marB="0" anchor="b"/>
                </a:tc>
                <a:tc>
                  <a:txBody>
                    <a:bodyPr/>
                    <a:lstStyle/>
                    <a:p>
                      <a:pPr algn="l" fontAlgn="b"/>
                      <a:r>
                        <a:rPr lang="en-US" sz="1100" b="0" i="0" u="none" strike="noStrike" dirty="0">
                          <a:solidFill>
                            <a:srgbClr val="000000"/>
                          </a:solidFill>
                          <a:effectLst/>
                          <a:latin typeface="Aptos Narrow" panose="020B0004020202020204" pitchFamily="34" charset="0"/>
                        </a:rPr>
                        <a:t>[2.64, 17.14]</a:t>
                      </a:r>
                    </a:p>
                  </a:txBody>
                  <a:tcPr marL="7620" marR="7620" marT="7620" marB="0" anchor="b"/>
                </a:tc>
                <a:extLst>
                  <a:ext uri="{0D108BD9-81ED-4DB2-BD59-A6C34878D82A}">
                    <a16:rowId xmlns:a16="http://schemas.microsoft.com/office/drawing/2014/main" val="3025613123"/>
                  </a:ext>
                </a:extLst>
              </a:tr>
              <a:tr h="744210">
                <a:tc>
                  <a:txBody>
                    <a:bodyPr/>
                    <a:lstStyle/>
                    <a:p>
                      <a:pPr algn="l" fontAlgn="b"/>
                      <a:r>
                        <a:rPr lang="en-US" sz="1100" b="0" i="0" u="none" strike="noStrike">
                          <a:solidFill>
                            <a:srgbClr val="000000"/>
                          </a:solidFill>
                          <a:effectLst/>
                          <a:latin typeface="Aptos Narrow" panose="020B0004020202020204" pitchFamily="34" charset="0"/>
                        </a:rPr>
                        <a:t>Non-Contextual vs. Contextual</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MLP (Pre-trained Turkish BERT)</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56.84</a:t>
                      </a:r>
                    </a:p>
                  </a:txBody>
                  <a:tcPr marL="7620" marR="7620" marT="7620" marB="0" anchor="b"/>
                </a:tc>
                <a:tc>
                  <a:txBody>
                    <a:bodyPr/>
                    <a:lstStyle/>
                    <a:p>
                      <a:pPr algn="l" fontAlgn="b"/>
                      <a:r>
                        <a:rPr lang="fr-FR" sz="1100" b="0" i="0" u="none" strike="noStrike">
                          <a:solidFill>
                            <a:srgbClr val="000000"/>
                          </a:solidFill>
                          <a:effectLst/>
                          <a:latin typeface="Aptos Narrow" panose="020B0004020202020204" pitchFamily="34" charset="0"/>
                        </a:rPr>
                        <a:t>Turkish BERT-DialogueRNN (Couple Dialogue Fine-tuned)</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66.82</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9.98</a:t>
                      </a:r>
                    </a:p>
                  </a:txBody>
                  <a:tcPr marL="7620" marR="7620" marT="7620" marB="0" anchor="b"/>
                </a:tc>
                <a:tc>
                  <a:txBody>
                    <a:bodyPr/>
                    <a:lstStyle/>
                    <a:p>
                      <a:pPr algn="r" fontAlgn="b"/>
                      <a:r>
                        <a:rPr lang="en-US" sz="1100" b="0" i="0" u="none" strike="noStrike" dirty="0">
                          <a:solidFill>
                            <a:srgbClr val="000000"/>
                          </a:solidFill>
                          <a:effectLst/>
                          <a:latin typeface="Aptos Narrow" panose="020B0004020202020204" pitchFamily="34" charset="0"/>
                        </a:rPr>
                        <a:t>0.0012</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[5.13, 14.83]</a:t>
                      </a:r>
                    </a:p>
                  </a:txBody>
                  <a:tcPr marL="7620" marR="7620" marT="7620" marB="0" anchor="b"/>
                </a:tc>
                <a:extLst>
                  <a:ext uri="{0D108BD9-81ED-4DB2-BD59-A6C34878D82A}">
                    <a16:rowId xmlns:a16="http://schemas.microsoft.com/office/drawing/2014/main" val="2023630221"/>
                  </a:ext>
                </a:extLst>
              </a:tr>
              <a:tr h="744210">
                <a:tc>
                  <a:txBody>
                    <a:bodyPr/>
                    <a:lstStyle/>
                    <a:p>
                      <a:pPr algn="l" fontAlgn="b"/>
                      <a:r>
                        <a:rPr lang="en-US" sz="1100" b="0" i="0" u="none" strike="noStrike">
                          <a:solidFill>
                            <a:srgbClr val="000000"/>
                          </a:solidFill>
                          <a:effectLst/>
                          <a:latin typeface="Aptos Narrow" panose="020B0004020202020204" pitchFamily="34" charset="0"/>
                        </a:rPr>
                        <a:t>Non-Contextual vs. Contextual</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DNN (Pre-trained Turkish BERT)</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60.31</a:t>
                      </a:r>
                    </a:p>
                  </a:txBody>
                  <a:tcPr marL="7620" marR="7620" marT="7620" marB="0" anchor="b"/>
                </a:tc>
                <a:tc>
                  <a:txBody>
                    <a:bodyPr/>
                    <a:lstStyle/>
                    <a:p>
                      <a:pPr algn="l" fontAlgn="b"/>
                      <a:r>
                        <a:rPr lang="fr-FR" sz="1100" b="0" i="0" u="none" strike="noStrike">
                          <a:solidFill>
                            <a:srgbClr val="000000"/>
                          </a:solidFill>
                          <a:effectLst/>
                          <a:latin typeface="Aptos Narrow" panose="020B0004020202020204" pitchFamily="34" charset="0"/>
                        </a:rPr>
                        <a:t>Turkish BERT-DialogueRNN (Couple Dialogue Fine-tuned)</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66.82</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6.51</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0.041</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[0.33, 12.69]</a:t>
                      </a:r>
                    </a:p>
                  </a:txBody>
                  <a:tcPr marL="7620" marR="7620" marT="7620" marB="0" anchor="b"/>
                </a:tc>
                <a:extLst>
                  <a:ext uri="{0D108BD9-81ED-4DB2-BD59-A6C34878D82A}">
                    <a16:rowId xmlns:a16="http://schemas.microsoft.com/office/drawing/2014/main" val="3588940470"/>
                  </a:ext>
                </a:extLst>
              </a:tr>
              <a:tr h="540570">
                <a:tc>
                  <a:txBody>
                    <a:bodyPr/>
                    <a:lstStyle/>
                    <a:p>
                      <a:pPr algn="l" fontAlgn="b"/>
                      <a:r>
                        <a:rPr lang="en-US" sz="1100" b="0" i="0" u="none" strike="noStrike">
                          <a:solidFill>
                            <a:srgbClr val="000000"/>
                          </a:solidFill>
                          <a:effectLst/>
                          <a:latin typeface="Aptos Narrow" panose="020B0004020202020204" pitchFamily="34" charset="0"/>
                        </a:rPr>
                        <a:t>Contextual vs. Contextual</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Llama 2 (IBP)</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34.49</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Fine-Tuned Turkish BERT</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65.61</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31.12</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0.037</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[2.34, 59.90]</a:t>
                      </a:r>
                    </a:p>
                  </a:txBody>
                  <a:tcPr marL="7620" marR="7620" marT="7620" marB="0" anchor="b"/>
                </a:tc>
                <a:extLst>
                  <a:ext uri="{0D108BD9-81ED-4DB2-BD59-A6C34878D82A}">
                    <a16:rowId xmlns:a16="http://schemas.microsoft.com/office/drawing/2014/main" val="3873652227"/>
                  </a:ext>
                </a:extLst>
              </a:tr>
              <a:tr h="744210">
                <a:tc>
                  <a:txBody>
                    <a:bodyPr/>
                    <a:lstStyle/>
                    <a:p>
                      <a:pPr algn="l" fontAlgn="b"/>
                      <a:r>
                        <a:rPr lang="en-US" sz="1100" b="0" i="0" u="none" strike="noStrike">
                          <a:solidFill>
                            <a:srgbClr val="000000"/>
                          </a:solidFill>
                          <a:effectLst/>
                          <a:latin typeface="Aptos Narrow" panose="020B0004020202020204" pitchFamily="34" charset="0"/>
                        </a:rPr>
                        <a:t>Contextual vs. Contextual</a:t>
                      </a:r>
                    </a:p>
                  </a:txBody>
                  <a:tcPr marL="7620" marR="7620" marT="7620" marB="0" anchor="b"/>
                </a:tc>
                <a:tc>
                  <a:txBody>
                    <a:bodyPr/>
                    <a:lstStyle/>
                    <a:p>
                      <a:pPr algn="l" fontAlgn="b"/>
                      <a:r>
                        <a:rPr lang="en-US" sz="1100" b="0" i="0" u="none" strike="noStrike">
                          <a:solidFill>
                            <a:srgbClr val="000000"/>
                          </a:solidFill>
                          <a:effectLst/>
                          <a:latin typeface="Aptos Narrow" panose="020B0004020202020204" pitchFamily="34" charset="0"/>
                        </a:rPr>
                        <a:t>GloVe-DialogueRNN</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52.36</a:t>
                      </a:r>
                    </a:p>
                  </a:txBody>
                  <a:tcPr marL="7620" marR="7620" marT="7620" marB="0" anchor="b"/>
                </a:tc>
                <a:tc>
                  <a:txBody>
                    <a:bodyPr/>
                    <a:lstStyle/>
                    <a:p>
                      <a:pPr algn="l" fontAlgn="b"/>
                      <a:r>
                        <a:rPr lang="fr-FR" sz="1100" b="0" i="0" u="none" strike="noStrike">
                          <a:solidFill>
                            <a:srgbClr val="000000"/>
                          </a:solidFill>
                          <a:effectLst/>
                          <a:latin typeface="Aptos Narrow" panose="020B0004020202020204" pitchFamily="34" charset="0"/>
                        </a:rPr>
                        <a:t>Turkish BERT-DialogueRNN (Couple Dialogue Fine-tuned)</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66.82</a:t>
                      </a:r>
                    </a:p>
                  </a:txBody>
                  <a:tcPr marL="7620" marR="7620" marT="7620" marB="0" anchor="b"/>
                </a:tc>
                <a:tc>
                  <a:txBody>
                    <a:bodyPr/>
                    <a:lstStyle/>
                    <a:p>
                      <a:pPr algn="r" fontAlgn="b"/>
                      <a:r>
                        <a:rPr lang="en-US" sz="1100" b="0" i="0" u="none" strike="noStrike" dirty="0">
                          <a:solidFill>
                            <a:srgbClr val="000000"/>
                          </a:solidFill>
                          <a:effectLst/>
                          <a:latin typeface="Aptos Narrow" panose="020B0004020202020204" pitchFamily="34" charset="0"/>
                        </a:rPr>
                        <a:t>14.46</a:t>
                      </a:r>
                    </a:p>
                  </a:txBody>
                  <a:tcPr marL="7620" marR="7620" marT="7620" marB="0" anchor="b"/>
                </a:tc>
                <a:tc>
                  <a:txBody>
                    <a:bodyPr/>
                    <a:lstStyle/>
                    <a:p>
                      <a:pPr algn="r" fontAlgn="b"/>
                      <a:r>
                        <a:rPr lang="en-US" sz="1100" b="0" i="0" u="none" strike="noStrike">
                          <a:solidFill>
                            <a:srgbClr val="000000"/>
                          </a:solidFill>
                          <a:effectLst/>
                          <a:latin typeface="Aptos Narrow" panose="020B0004020202020204" pitchFamily="34" charset="0"/>
                        </a:rPr>
                        <a:t>0.0032</a:t>
                      </a:r>
                    </a:p>
                  </a:txBody>
                  <a:tcPr marL="7620" marR="7620" marT="7620" marB="0" anchor="b"/>
                </a:tc>
                <a:tc>
                  <a:txBody>
                    <a:bodyPr/>
                    <a:lstStyle/>
                    <a:p>
                      <a:pPr algn="l" fontAlgn="b"/>
                      <a:r>
                        <a:rPr lang="en-US" sz="1100" b="0" i="0" u="none" strike="noStrike" dirty="0">
                          <a:solidFill>
                            <a:srgbClr val="000000"/>
                          </a:solidFill>
                          <a:effectLst/>
                          <a:latin typeface="Aptos Narrow" panose="020B0004020202020204" pitchFamily="34" charset="0"/>
                        </a:rPr>
                        <a:t>[6.24, 22.68]</a:t>
                      </a:r>
                    </a:p>
                  </a:txBody>
                  <a:tcPr marL="7620" marR="7620" marT="7620" marB="0" anchor="b"/>
                </a:tc>
                <a:extLst>
                  <a:ext uri="{0D108BD9-81ED-4DB2-BD59-A6C34878D82A}">
                    <a16:rowId xmlns:a16="http://schemas.microsoft.com/office/drawing/2014/main" val="2039124480"/>
                  </a:ext>
                </a:extLst>
              </a:tr>
            </a:tbl>
          </a:graphicData>
        </a:graphic>
      </p:graphicFrame>
      <p:sp>
        <p:nvSpPr>
          <p:cNvPr id="4" name="Date Placeholder 3">
            <a:extLst>
              <a:ext uri="{FF2B5EF4-FFF2-40B4-BE49-F238E27FC236}">
                <a16:creationId xmlns:a16="http://schemas.microsoft.com/office/drawing/2014/main" id="{07A9A53D-DE3E-80D3-2EC5-41F6E2AE86AE}"/>
              </a:ext>
            </a:extLst>
          </p:cNvPr>
          <p:cNvSpPr>
            <a:spLocks noGrp="1"/>
          </p:cNvSpPr>
          <p:nvPr>
            <p:ph type="dt" sz="half" idx="10"/>
          </p:nvPr>
        </p:nvSpPr>
        <p:spPr/>
        <p:txBody>
          <a:bodyPr/>
          <a:lstStyle/>
          <a:p>
            <a:fld id="{6FE41676-1636-4976-AC32-C8C41A521A6D}" type="datetime1">
              <a:rPr lang="en-US" smtClean="0"/>
              <a:t>7/25/2025</a:t>
            </a:fld>
            <a:endParaRPr lang="en-US"/>
          </a:p>
        </p:txBody>
      </p:sp>
      <p:sp>
        <p:nvSpPr>
          <p:cNvPr id="5" name="Slide Number Placeholder 4">
            <a:extLst>
              <a:ext uri="{FF2B5EF4-FFF2-40B4-BE49-F238E27FC236}">
                <a16:creationId xmlns:a16="http://schemas.microsoft.com/office/drawing/2014/main" id="{814E83F6-800E-3381-81E9-945586A02649}"/>
              </a:ext>
            </a:extLst>
          </p:cNvPr>
          <p:cNvSpPr>
            <a:spLocks noGrp="1"/>
          </p:cNvSpPr>
          <p:nvPr>
            <p:ph type="sldNum" sz="quarter" idx="12"/>
          </p:nvPr>
        </p:nvSpPr>
        <p:spPr/>
        <p:txBody>
          <a:bodyPr/>
          <a:lstStyle/>
          <a:p>
            <a:fld id="{F66C9141-23B4-4FD3-80FD-4E1CB454F295}" type="slidenum">
              <a:rPr lang="en-US" smtClean="0"/>
              <a:t>49</a:t>
            </a:fld>
            <a:endParaRPr lang="en-US"/>
          </a:p>
        </p:txBody>
      </p:sp>
    </p:spTree>
    <p:extLst>
      <p:ext uri="{BB962C8B-B14F-4D97-AF65-F5344CB8AC3E}">
        <p14:creationId xmlns:p14="http://schemas.microsoft.com/office/powerpoint/2010/main" val="33419218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Pen placed on top of a signature line">
            <a:extLst>
              <a:ext uri="{FF2B5EF4-FFF2-40B4-BE49-F238E27FC236}">
                <a16:creationId xmlns:a16="http://schemas.microsoft.com/office/drawing/2014/main" id="{8B680212-CE79-DF08-1246-C0B7C8D1FA5D}"/>
              </a:ext>
            </a:extLst>
          </p:cNvPr>
          <p:cNvPicPr>
            <a:picLocks noChangeAspect="1"/>
          </p:cNvPicPr>
          <p:nvPr/>
        </p:nvPicPr>
        <p:blipFill>
          <a:blip r:embed="rId2"/>
          <a:srcRect l="15628" r="-1" b="-1"/>
          <a:stretch/>
        </p:blipFill>
        <p:spPr>
          <a:xfrm>
            <a:off x="3523488" y="10"/>
            <a:ext cx="8668512" cy="6857990"/>
          </a:xfrm>
          <a:prstGeom prst="rect">
            <a:avLst/>
          </a:prstGeom>
        </p:spPr>
      </p:pic>
      <p:sp>
        <p:nvSpPr>
          <p:cNvPr id="13" name="Rectangle 1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8947C2-91BB-F76D-451E-96F1D2D8D169}"/>
              </a:ext>
            </a:extLst>
          </p:cNvPr>
          <p:cNvSpPr>
            <a:spLocks noGrp="1"/>
          </p:cNvSpPr>
          <p:nvPr>
            <p:ph type="title"/>
          </p:nvPr>
        </p:nvSpPr>
        <p:spPr>
          <a:xfrm>
            <a:off x="477980" y="1122363"/>
            <a:ext cx="5618019" cy="3204134"/>
          </a:xfrm>
        </p:spPr>
        <p:txBody>
          <a:bodyPr vert="horz" lIns="91440" tIns="45720" rIns="91440" bIns="45720" rtlCol="0" anchor="b">
            <a:normAutofit/>
          </a:bodyPr>
          <a:lstStyle/>
          <a:p>
            <a:r>
              <a:rPr lang="en-US" sz="4800" b="1" dirty="0">
                <a:solidFill>
                  <a:schemeClr val="bg1"/>
                </a:solidFill>
              </a:rPr>
              <a:t>CONCLUSION and FUTURE WORK</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9DDFF850-6C0E-C969-4949-9986BB91033D}"/>
              </a:ext>
            </a:extLst>
          </p:cNvPr>
          <p:cNvSpPr>
            <a:spLocks noGrp="1"/>
          </p:cNvSpPr>
          <p:nvPr>
            <p:ph type="dt" sz="half" idx="10"/>
          </p:nvPr>
        </p:nvSpPr>
        <p:spPr>
          <a:xfrm>
            <a:off x="477981" y="6356350"/>
            <a:ext cx="1214339" cy="365125"/>
          </a:xfrm>
        </p:spPr>
        <p:txBody>
          <a:bodyPr vert="horz" lIns="91440" tIns="45720" rIns="91440" bIns="45720" rtlCol="0" anchor="ctr">
            <a:normAutofit/>
          </a:bodyPr>
          <a:lstStyle/>
          <a:p>
            <a:pPr defTabSz="914400">
              <a:spcAft>
                <a:spcPts val="600"/>
              </a:spcAft>
              <a:defRPr/>
            </a:pPr>
            <a:fld id="{6FE41676-1636-4976-AC32-C8C41A521A6D}" type="datetime1">
              <a:rPr lang="en-US">
                <a:solidFill>
                  <a:schemeClr val="bg1"/>
                </a:solidFill>
                <a:latin typeface="Calibri" panose="020F0502020204030204"/>
              </a:rPr>
              <a:pPr defTabSz="914400">
                <a:spcAft>
                  <a:spcPts val="600"/>
                </a:spcAft>
                <a:defRPr/>
              </a:pPr>
              <a:t>7/25/2025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168202F6-8EC2-7508-4924-9DB0EE6CF9F4}"/>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defTabSz="914400">
              <a:spcAft>
                <a:spcPts val="600"/>
              </a:spcAft>
              <a:defRPr/>
            </a:pPr>
            <a:fld id="{F66C9141-23B4-4FD3-80FD-4E1CB454F295}" type="slidenum">
              <a:rPr lang="en-US">
                <a:solidFill>
                  <a:schemeClr val="bg1"/>
                </a:solidFill>
                <a:latin typeface="Calibri" panose="020F0502020204030204"/>
              </a:rPr>
              <a:pPr defTabSz="914400">
                <a:spcAft>
                  <a:spcPts val="600"/>
                </a:spcAft>
                <a:defRPr/>
              </a:pPr>
              <a:t>50</a:t>
            </a:fld>
            <a:endParaRPr lang="en-US">
              <a:solidFill>
                <a:schemeClr val="bg1"/>
              </a:solidFill>
              <a:latin typeface="Calibri" panose="020F0502020204030204"/>
            </a:endParaRPr>
          </a:p>
        </p:txBody>
      </p:sp>
    </p:spTree>
    <p:extLst>
      <p:ext uri="{BB962C8B-B14F-4D97-AF65-F5344CB8AC3E}">
        <p14:creationId xmlns:p14="http://schemas.microsoft.com/office/powerpoint/2010/main" val="6301732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DB493C6-EE22-F3A2-3C22-FA00C114BAB6}"/>
              </a:ext>
            </a:extLst>
          </p:cNvPr>
          <p:cNvSpPr>
            <a:spLocks noGrp="1"/>
          </p:cNvSpPr>
          <p:nvPr>
            <p:ph type="title"/>
          </p:nvPr>
        </p:nvSpPr>
        <p:spPr>
          <a:xfrm>
            <a:off x="826396" y="586855"/>
            <a:ext cx="4230100" cy="3387497"/>
          </a:xfrm>
        </p:spPr>
        <p:txBody>
          <a:bodyPr anchor="b">
            <a:normAutofit/>
          </a:bodyPr>
          <a:lstStyle/>
          <a:p>
            <a:pPr algn="r"/>
            <a:r>
              <a:rPr lang="en-US" sz="4000" b="1" dirty="0">
                <a:solidFill>
                  <a:srgbClr val="FFFFFF"/>
                </a:solidFill>
              </a:rPr>
              <a:t>Challenges in Conversational Sentiment Analysis on Couple Dialogue Data</a:t>
            </a:r>
          </a:p>
        </p:txBody>
      </p:sp>
      <p:sp>
        <p:nvSpPr>
          <p:cNvPr id="3" name="Content Placeholder 2">
            <a:extLst>
              <a:ext uri="{FF2B5EF4-FFF2-40B4-BE49-F238E27FC236}">
                <a16:creationId xmlns:a16="http://schemas.microsoft.com/office/drawing/2014/main" id="{5F27E845-DC46-327A-C368-D879118D6F40}"/>
              </a:ext>
            </a:extLst>
          </p:cNvPr>
          <p:cNvSpPr>
            <a:spLocks noGrp="1"/>
          </p:cNvSpPr>
          <p:nvPr>
            <p:ph idx="1"/>
          </p:nvPr>
        </p:nvSpPr>
        <p:spPr>
          <a:xfrm>
            <a:off x="6503158" y="649480"/>
            <a:ext cx="4862447" cy="5546047"/>
          </a:xfrm>
        </p:spPr>
        <p:txBody>
          <a:bodyPr anchor="ctr">
            <a:normAutofit/>
          </a:bodyPr>
          <a:lstStyle/>
          <a:p>
            <a:r>
              <a:rPr lang="en-US" sz="2000" b="1"/>
              <a:t>Dataset Complexity</a:t>
            </a:r>
            <a:endParaRPr lang="en-US" sz="2000"/>
          </a:p>
          <a:p>
            <a:pPr lvl="1"/>
            <a:r>
              <a:rPr lang="en-US" sz="2000" b="1"/>
              <a:t>Language-Specific:</a:t>
            </a:r>
            <a:r>
              <a:rPr lang="en-US" sz="2000"/>
              <a:t> Turkish couple interactions dataset cannot be directly compared with others using DialogueRNN.</a:t>
            </a:r>
          </a:p>
          <a:p>
            <a:pPr lvl="1"/>
            <a:r>
              <a:rPr lang="en-US" sz="2000" b="1"/>
              <a:t>Translation Issues:</a:t>
            </a:r>
            <a:r>
              <a:rPr lang="en-US" sz="2000"/>
              <a:t> Translation of Turkish to English loses original meaning due to idioms, cultural nuances, and complex utterances.</a:t>
            </a:r>
          </a:p>
          <a:p>
            <a:pPr lvl="1"/>
            <a:r>
              <a:rPr lang="en-US" sz="2000" b="1"/>
              <a:t>Sarcasm Detection:</a:t>
            </a:r>
            <a:r>
              <a:rPr lang="en-US" sz="2000"/>
              <a:t> Significant challenge, as sarcasm is context-dependent and often missed by models.</a:t>
            </a:r>
          </a:p>
        </p:txBody>
      </p:sp>
      <p:sp>
        <p:nvSpPr>
          <p:cNvPr id="4" name="Date Placeholder 3">
            <a:extLst>
              <a:ext uri="{FF2B5EF4-FFF2-40B4-BE49-F238E27FC236}">
                <a16:creationId xmlns:a16="http://schemas.microsoft.com/office/drawing/2014/main" id="{F7A7EDFE-D9AA-5270-2997-0DFC21925F44}"/>
              </a:ext>
            </a:extLst>
          </p:cNvPr>
          <p:cNvSpPr>
            <a:spLocks noGrp="1"/>
          </p:cNvSpPr>
          <p:nvPr>
            <p:ph type="dt" sz="half" idx="10"/>
          </p:nvPr>
        </p:nvSpPr>
        <p:spPr/>
        <p:txBody>
          <a:bodyPr/>
          <a:lstStyle/>
          <a:p>
            <a:fld id="{2FD764C9-AFEA-4BAE-BCF5-9DF6986BDC80}" type="datetime1">
              <a:rPr lang="en-US" smtClean="0"/>
              <a:t>7/25/2025</a:t>
            </a:fld>
            <a:endParaRPr lang="en-US"/>
          </a:p>
        </p:txBody>
      </p:sp>
      <p:sp>
        <p:nvSpPr>
          <p:cNvPr id="5" name="Slide Number Placeholder 4">
            <a:extLst>
              <a:ext uri="{FF2B5EF4-FFF2-40B4-BE49-F238E27FC236}">
                <a16:creationId xmlns:a16="http://schemas.microsoft.com/office/drawing/2014/main" id="{AFA49C42-D23D-B538-24F6-4E6F23431B46}"/>
              </a:ext>
            </a:extLst>
          </p:cNvPr>
          <p:cNvSpPr>
            <a:spLocks noGrp="1"/>
          </p:cNvSpPr>
          <p:nvPr>
            <p:ph type="sldNum" sz="quarter" idx="12"/>
          </p:nvPr>
        </p:nvSpPr>
        <p:spPr/>
        <p:txBody>
          <a:bodyPr/>
          <a:lstStyle/>
          <a:p>
            <a:fld id="{F66C9141-23B4-4FD3-80FD-4E1CB454F295}" type="slidenum">
              <a:rPr lang="en-US" smtClean="0"/>
              <a:t>51</a:t>
            </a:fld>
            <a:endParaRPr lang="en-US"/>
          </a:p>
        </p:txBody>
      </p:sp>
    </p:spTree>
    <p:extLst>
      <p:ext uri="{BB962C8B-B14F-4D97-AF65-F5344CB8AC3E}">
        <p14:creationId xmlns:p14="http://schemas.microsoft.com/office/powerpoint/2010/main" val="5412932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5D14631-C7EC-1C93-E05D-421DEAABC897}"/>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b="1" kern="1200">
                <a:solidFill>
                  <a:srgbClr val="FFFFFF"/>
                </a:solidFill>
                <a:latin typeface="+mj-lt"/>
                <a:ea typeface="+mj-ea"/>
                <a:cs typeface="+mj-cs"/>
              </a:rPr>
              <a:t>SARCASM EXAMPLE</a:t>
            </a:r>
            <a:endParaRPr lang="en-US" sz="4000" b="1" kern="1200" dirty="0">
              <a:solidFill>
                <a:srgbClr val="FFFFFF"/>
              </a:solidFill>
              <a:latin typeface="+mj-lt"/>
              <a:ea typeface="+mj-ea"/>
              <a:cs typeface="+mj-cs"/>
            </a:endParaRPr>
          </a:p>
        </p:txBody>
      </p:sp>
      <p:pic>
        <p:nvPicPr>
          <p:cNvPr id="18" name="Content Placeholder 17">
            <a:extLst>
              <a:ext uri="{FF2B5EF4-FFF2-40B4-BE49-F238E27FC236}">
                <a16:creationId xmlns:a16="http://schemas.microsoft.com/office/drawing/2014/main" id="{8E63CC28-1412-33CE-F1F8-FB3AF274D71F}"/>
              </a:ext>
            </a:extLst>
          </p:cNvPr>
          <p:cNvPicPr>
            <a:picLocks noGrp="1" noChangeAspect="1"/>
          </p:cNvPicPr>
          <p:nvPr>
            <p:ph idx="1"/>
          </p:nvPr>
        </p:nvPicPr>
        <p:blipFill>
          <a:blip r:embed="rId2"/>
          <a:stretch>
            <a:fillRect/>
          </a:stretch>
        </p:blipFill>
        <p:spPr>
          <a:xfrm>
            <a:off x="4143840" y="249382"/>
            <a:ext cx="7916980" cy="6348845"/>
          </a:xfrm>
          <a:prstGeom prst="rect">
            <a:avLst/>
          </a:prstGeom>
        </p:spPr>
      </p:pic>
      <p:sp>
        <p:nvSpPr>
          <p:cNvPr id="3" name="Date Placeholder 2">
            <a:extLst>
              <a:ext uri="{FF2B5EF4-FFF2-40B4-BE49-F238E27FC236}">
                <a16:creationId xmlns:a16="http://schemas.microsoft.com/office/drawing/2014/main" id="{2AF5FDB0-27C7-475F-2040-E3E99BB94E51}"/>
              </a:ext>
            </a:extLst>
          </p:cNvPr>
          <p:cNvSpPr>
            <a:spLocks noGrp="1"/>
          </p:cNvSpPr>
          <p:nvPr>
            <p:ph type="dt" sz="half" idx="10"/>
          </p:nvPr>
        </p:nvSpPr>
        <p:spPr/>
        <p:txBody>
          <a:bodyPr/>
          <a:lstStyle/>
          <a:p>
            <a:fld id="{4632C39F-1CC7-492B-8A6E-7795CFB83207}" type="datetime1">
              <a:rPr lang="en-US" smtClean="0"/>
              <a:t>7/25/2025</a:t>
            </a:fld>
            <a:endParaRPr lang="en-US"/>
          </a:p>
        </p:txBody>
      </p:sp>
      <p:sp>
        <p:nvSpPr>
          <p:cNvPr id="4" name="Slide Number Placeholder 3">
            <a:extLst>
              <a:ext uri="{FF2B5EF4-FFF2-40B4-BE49-F238E27FC236}">
                <a16:creationId xmlns:a16="http://schemas.microsoft.com/office/drawing/2014/main" id="{C4E9D53B-8C2D-9451-F999-50CCF1F37E38}"/>
              </a:ext>
            </a:extLst>
          </p:cNvPr>
          <p:cNvSpPr>
            <a:spLocks noGrp="1"/>
          </p:cNvSpPr>
          <p:nvPr>
            <p:ph type="sldNum" sz="quarter" idx="12"/>
          </p:nvPr>
        </p:nvSpPr>
        <p:spPr/>
        <p:txBody>
          <a:bodyPr/>
          <a:lstStyle/>
          <a:p>
            <a:fld id="{F66C9141-23B4-4FD3-80FD-4E1CB454F295}" type="slidenum">
              <a:rPr lang="en-US" smtClean="0"/>
              <a:t>52</a:t>
            </a:fld>
            <a:endParaRPr lang="en-US"/>
          </a:p>
        </p:txBody>
      </p:sp>
    </p:spTree>
    <p:extLst>
      <p:ext uri="{BB962C8B-B14F-4D97-AF65-F5344CB8AC3E}">
        <p14:creationId xmlns:p14="http://schemas.microsoft.com/office/powerpoint/2010/main" val="30718618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77C07-2F4C-5936-7488-B947BB6A8A75}"/>
              </a:ext>
            </a:extLst>
          </p:cNvPr>
          <p:cNvSpPr>
            <a:spLocks noGrp="1"/>
          </p:cNvSpPr>
          <p:nvPr>
            <p:ph type="title"/>
          </p:nvPr>
        </p:nvSpPr>
        <p:spPr>
          <a:xfrm>
            <a:off x="466722" y="586855"/>
            <a:ext cx="3201366" cy="3387497"/>
          </a:xfrm>
        </p:spPr>
        <p:txBody>
          <a:bodyPr anchor="b">
            <a:normAutofit/>
          </a:bodyPr>
          <a:lstStyle/>
          <a:p>
            <a:pPr algn="r"/>
            <a:r>
              <a:rPr lang="en-US" sz="4000" b="1" dirty="0">
                <a:solidFill>
                  <a:srgbClr val="FFFFFF"/>
                </a:solidFill>
              </a:rPr>
              <a:t>Enhancing Sarcasm Detection and Future Applications</a:t>
            </a:r>
          </a:p>
        </p:txBody>
      </p:sp>
      <p:sp>
        <p:nvSpPr>
          <p:cNvPr id="3" name="Content Placeholder 2">
            <a:extLst>
              <a:ext uri="{FF2B5EF4-FFF2-40B4-BE49-F238E27FC236}">
                <a16:creationId xmlns:a16="http://schemas.microsoft.com/office/drawing/2014/main" id="{980A84A7-A670-6780-04AD-25AFEA230699}"/>
              </a:ext>
            </a:extLst>
          </p:cNvPr>
          <p:cNvSpPr>
            <a:spLocks noGrp="1"/>
          </p:cNvSpPr>
          <p:nvPr>
            <p:ph idx="1"/>
          </p:nvPr>
        </p:nvSpPr>
        <p:spPr>
          <a:xfrm>
            <a:off x="4810259" y="649480"/>
            <a:ext cx="6555347" cy="5546047"/>
          </a:xfrm>
        </p:spPr>
        <p:txBody>
          <a:bodyPr anchor="ctr">
            <a:normAutofit/>
          </a:bodyPr>
          <a:lstStyle/>
          <a:p>
            <a:r>
              <a:rPr lang="en-US" sz="2000" b="1" dirty="0"/>
              <a:t>Sarcasm Detection Improvement</a:t>
            </a:r>
            <a:endParaRPr lang="en-US" sz="2000" dirty="0"/>
          </a:p>
          <a:p>
            <a:pPr lvl="1"/>
            <a:r>
              <a:rPr lang="en-US" sz="2000" b="1" dirty="0"/>
              <a:t>Multimodal Data:</a:t>
            </a:r>
            <a:r>
              <a:rPr lang="en-US" sz="2000" dirty="0"/>
              <a:t> Incorporating audio data to capture vocal tone and intonation.</a:t>
            </a:r>
          </a:p>
          <a:p>
            <a:pPr lvl="1"/>
            <a:r>
              <a:rPr lang="en-US" sz="2000" b="1" dirty="0"/>
              <a:t>Annotations:</a:t>
            </a:r>
            <a:r>
              <a:rPr lang="en-US" sz="2000" dirty="0"/>
              <a:t> Dataset includes detailed sentiment and emotional tone annotations.</a:t>
            </a:r>
          </a:p>
          <a:p>
            <a:pPr lvl="1"/>
            <a:endParaRPr lang="en-US" sz="2000" dirty="0"/>
          </a:p>
          <a:p>
            <a:pPr lvl="1"/>
            <a:endParaRPr lang="en-US" sz="2000" dirty="0"/>
          </a:p>
          <a:p>
            <a:r>
              <a:rPr lang="en-US" sz="2000" b="1" dirty="0"/>
              <a:t>Future Directions</a:t>
            </a:r>
            <a:endParaRPr lang="en-US" sz="2000" dirty="0"/>
          </a:p>
          <a:p>
            <a:pPr lvl="1"/>
            <a:r>
              <a:rPr lang="en-US" sz="2000" b="1" dirty="0"/>
              <a:t>Advanced LLM Techniques:</a:t>
            </a:r>
            <a:r>
              <a:rPr lang="en-US" sz="2000" dirty="0"/>
              <a:t> Fine-tuning BERT and GPT models on sarcasm-rich datasets.</a:t>
            </a:r>
          </a:p>
          <a:p>
            <a:pPr marL="0" indent="0">
              <a:buNone/>
            </a:pPr>
            <a:endParaRPr lang="en-US" sz="2000" dirty="0"/>
          </a:p>
        </p:txBody>
      </p:sp>
      <p:sp>
        <p:nvSpPr>
          <p:cNvPr id="4" name="Date Placeholder 3">
            <a:extLst>
              <a:ext uri="{FF2B5EF4-FFF2-40B4-BE49-F238E27FC236}">
                <a16:creationId xmlns:a16="http://schemas.microsoft.com/office/drawing/2014/main" id="{9491CA59-C303-C0A1-C2F4-83DCD2D77ED8}"/>
              </a:ext>
            </a:extLst>
          </p:cNvPr>
          <p:cNvSpPr>
            <a:spLocks noGrp="1"/>
          </p:cNvSpPr>
          <p:nvPr>
            <p:ph type="dt" sz="half" idx="10"/>
          </p:nvPr>
        </p:nvSpPr>
        <p:spPr/>
        <p:txBody>
          <a:bodyPr/>
          <a:lstStyle/>
          <a:p>
            <a:fld id="{8118D9BE-718F-4DFD-B52F-90E85E5BB560}" type="datetime1">
              <a:rPr lang="en-US" smtClean="0"/>
              <a:t>7/25/2025</a:t>
            </a:fld>
            <a:endParaRPr lang="en-US"/>
          </a:p>
        </p:txBody>
      </p:sp>
      <p:sp>
        <p:nvSpPr>
          <p:cNvPr id="5" name="Slide Number Placeholder 4">
            <a:extLst>
              <a:ext uri="{FF2B5EF4-FFF2-40B4-BE49-F238E27FC236}">
                <a16:creationId xmlns:a16="http://schemas.microsoft.com/office/drawing/2014/main" id="{25A5B2DC-FACB-E70A-4EAB-16CACBF53275}"/>
              </a:ext>
            </a:extLst>
          </p:cNvPr>
          <p:cNvSpPr>
            <a:spLocks noGrp="1"/>
          </p:cNvSpPr>
          <p:nvPr>
            <p:ph type="sldNum" sz="quarter" idx="12"/>
          </p:nvPr>
        </p:nvSpPr>
        <p:spPr/>
        <p:txBody>
          <a:bodyPr/>
          <a:lstStyle/>
          <a:p>
            <a:fld id="{F66C9141-23B4-4FD3-80FD-4E1CB454F295}" type="slidenum">
              <a:rPr lang="en-US" smtClean="0"/>
              <a:t>53</a:t>
            </a:fld>
            <a:endParaRPr lang="en-US"/>
          </a:p>
        </p:txBody>
      </p:sp>
    </p:spTree>
    <p:extLst>
      <p:ext uri="{BB962C8B-B14F-4D97-AF65-F5344CB8AC3E}">
        <p14:creationId xmlns:p14="http://schemas.microsoft.com/office/powerpoint/2010/main" val="38383401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2BF720-568D-9B07-9796-B287797D148D}"/>
              </a:ext>
            </a:extLst>
          </p:cNvPr>
          <p:cNvSpPr>
            <a:spLocks noGrp="1"/>
          </p:cNvSpPr>
          <p:nvPr>
            <p:ph type="title"/>
          </p:nvPr>
        </p:nvSpPr>
        <p:spPr>
          <a:xfrm>
            <a:off x="466722" y="586855"/>
            <a:ext cx="3201366" cy="3387497"/>
          </a:xfrm>
        </p:spPr>
        <p:txBody>
          <a:bodyPr anchor="b">
            <a:normAutofit/>
          </a:bodyPr>
          <a:lstStyle/>
          <a:p>
            <a:pPr algn="r"/>
            <a:r>
              <a:rPr lang="en-US" sz="4000" b="1" dirty="0">
                <a:solidFill>
                  <a:srgbClr val="FFFFFF"/>
                </a:solidFill>
              </a:rPr>
              <a:t>Exploring Cross Domain Integration</a:t>
            </a:r>
          </a:p>
        </p:txBody>
      </p:sp>
      <p:sp>
        <p:nvSpPr>
          <p:cNvPr id="3" name="Content Placeholder 2">
            <a:extLst>
              <a:ext uri="{FF2B5EF4-FFF2-40B4-BE49-F238E27FC236}">
                <a16:creationId xmlns:a16="http://schemas.microsoft.com/office/drawing/2014/main" id="{4A29BAEA-F69B-E735-1383-8C47C46B8D02}"/>
              </a:ext>
            </a:extLst>
          </p:cNvPr>
          <p:cNvSpPr>
            <a:spLocks noGrp="1"/>
          </p:cNvSpPr>
          <p:nvPr>
            <p:ph idx="1"/>
          </p:nvPr>
        </p:nvSpPr>
        <p:spPr>
          <a:xfrm>
            <a:off x="4810259" y="649480"/>
            <a:ext cx="6555347" cy="5546047"/>
          </a:xfrm>
        </p:spPr>
        <p:txBody>
          <a:bodyPr anchor="ctr">
            <a:normAutofit/>
          </a:bodyPr>
          <a:lstStyle/>
          <a:p>
            <a:r>
              <a:rPr lang="en-US" sz="2000" b="1" dirty="0"/>
              <a:t>Future Directions</a:t>
            </a:r>
          </a:p>
          <a:p>
            <a:pPr marL="0" indent="0">
              <a:buNone/>
            </a:pPr>
            <a:endParaRPr lang="en-US" sz="2000" dirty="0"/>
          </a:p>
          <a:p>
            <a:pPr lvl="1"/>
            <a:r>
              <a:rPr lang="en-US" sz="1600" dirty="0"/>
              <a:t>Integrating </a:t>
            </a:r>
            <a:r>
              <a:rPr lang="en-US" sz="1600" b="1" dirty="0"/>
              <a:t>psychiatric session data</a:t>
            </a:r>
            <a:r>
              <a:rPr lang="en-US" sz="1600" dirty="0"/>
              <a:t> with the </a:t>
            </a:r>
            <a:r>
              <a:rPr lang="en-US" sz="1600" b="1" dirty="0"/>
              <a:t>Couple Dialogue dataset</a:t>
            </a:r>
            <a:r>
              <a:rPr lang="en-US" sz="1600" dirty="0"/>
              <a:t> to improve model training and enhance adaptability for detecting complex emotional dynamics across conversational contexts.</a:t>
            </a:r>
            <a:endParaRPr lang="en-US" sz="2000" b="1" dirty="0"/>
          </a:p>
          <a:p>
            <a:pPr lvl="1"/>
            <a:endParaRPr lang="en-US" sz="2000" b="1" dirty="0"/>
          </a:p>
          <a:p>
            <a:pPr lvl="1"/>
            <a:r>
              <a:rPr lang="en-US" sz="1600" dirty="0"/>
              <a:t>Utilizing cutting-edge models like </a:t>
            </a:r>
            <a:r>
              <a:rPr lang="en-US" sz="1600" b="1" dirty="0"/>
              <a:t>GPT-4o</a:t>
            </a:r>
            <a:r>
              <a:rPr lang="en-US" sz="1600" dirty="0"/>
              <a:t> (faster, capable in comprehension and vision) and </a:t>
            </a:r>
            <a:r>
              <a:rPr lang="en-US" sz="1600" b="1" dirty="0"/>
              <a:t>Llama 4</a:t>
            </a:r>
            <a:r>
              <a:rPr lang="en-US" sz="1600" dirty="0"/>
              <a:t> (enhanced context length, multilingual support) for sentiment analysis in Turkish psychiatrist-patient therapy sessions.</a:t>
            </a:r>
            <a:endParaRPr lang="en-US" sz="2000" dirty="0"/>
          </a:p>
        </p:txBody>
      </p:sp>
      <p:sp>
        <p:nvSpPr>
          <p:cNvPr id="4" name="Date Placeholder 3">
            <a:extLst>
              <a:ext uri="{FF2B5EF4-FFF2-40B4-BE49-F238E27FC236}">
                <a16:creationId xmlns:a16="http://schemas.microsoft.com/office/drawing/2014/main" id="{90114B57-EE5B-53BD-398F-AEFA3EA6D0F2}"/>
              </a:ext>
            </a:extLst>
          </p:cNvPr>
          <p:cNvSpPr>
            <a:spLocks noGrp="1"/>
          </p:cNvSpPr>
          <p:nvPr>
            <p:ph type="dt" sz="half" idx="10"/>
          </p:nvPr>
        </p:nvSpPr>
        <p:spPr/>
        <p:txBody>
          <a:bodyPr/>
          <a:lstStyle/>
          <a:p>
            <a:fld id="{A164DF78-CF84-481F-950D-FA7CE2B83915}" type="datetime1">
              <a:rPr lang="en-US" smtClean="0"/>
              <a:t>7/25/2025</a:t>
            </a:fld>
            <a:endParaRPr lang="en-US"/>
          </a:p>
        </p:txBody>
      </p:sp>
      <p:sp>
        <p:nvSpPr>
          <p:cNvPr id="5" name="Slide Number Placeholder 4">
            <a:extLst>
              <a:ext uri="{FF2B5EF4-FFF2-40B4-BE49-F238E27FC236}">
                <a16:creationId xmlns:a16="http://schemas.microsoft.com/office/drawing/2014/main" id="{B2DDA213-BA5E-6570-A265-ACA14C1B3124}"/>
              </a:ext>
            </a:extLst>
          </p:cNvPr>
          <p:cNvSpPr>
            <a:spLocks noGrp="1"/>
          </p:cNvSpPr>
          <p:nvPr>
            <p:ph type="sldNum" sz="quarter" idx="12"/>
          </p:nvPr>
        </p:nvSpPr>
        <p:spPr/>
        <p:txBody>
          <a:bodyPr/>
          <a:lstStyle/>
          <a:p>
            <a:fld id="{F66C9141-23B4-4FD3-80FD-4E1CB454F295}" type="slidenum">
              <a:rPr lang="en-US" smtClean="0"/>
              <a:t>54</a:t>
            </a:fld>
            <a:endParaRPr lang="en-US"/>
          </a:p>
        </p:txBody>
      </p:sp>
    </p:spTree>
    <p:extLst>
      <p:ext uri="{BB962C8B-B14F-4D97-AF65-F5344CB8AC3E}">
        <p14:creationId xmlns:p14="http://schemas.microsoft.com/office/powerpoint/2010/main" val="28639829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3E92AA-B01B-2AE9-8D64-3EF631BA232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E606EF-7E8D-14A9-A1F7-DDD3943544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F1BD7E62-8AD1-6B44-663B-EFFA16B019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D4AAC1A9-3191-2E59-1F1B-96C5696BD9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2A01EE4-5A1C-52CA-B444-874EAC5CEF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B81EF1E8-A80B-8E0A-8DF7-590444403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EEBDDA4-B05D-CD4A-C3C7-FC584DADAD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D5A09F9E-B981-960F-6320-B593C26866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C22BD77-0420-988F-9D86-C84F100AF65A}"/>
              </a:ext>
            </a:extLst>
          </p:cNvPr>
          <p:cNvSpPr>
            <a:spLocks noGrp="1"/>
          </p:cNvSpPr>
          <p:nvPr>
            <p:ph type="title"/>
          </p:nvPr>
        </p:nvSpPr>
        <p:spPr>
          <a:xfrm>
            <a:off x="466722" y="586855"/>
            <a:ext cx="3201366" cy="3387497"/>
          </a:xfrm>
        </p:spPr>
        <p:txBody>
          <a:bodyPr anchor="b">
            <a:normAutofit/>
          </a:bodyPr>
          <a:lstStyle/>
          <a:p>
            <a:pPr algn="r"/>
            <a:r>
              <a:rPr lang="en-US" sz="4000" b="1" dirty="0">
                <a:solidFill>
                  <a:srgbClr val="FFFFFF"/>
                </a:solidFill>
              </a:rPr>
              <a:t>Exploring Cross Linguistic Models</a:t>
            </a:r>
          </a:p>
        </p:txBody>
      </p:sp>
      <p:sp>
        <p:nvSpPr>
          <p:cNvPr id="4" name="Date Placeholder 3">
            <a:extLst>
              <a:ext uri="{FF2B5EF4-FFF2-40B4-BE49-F238E27FC236}">
                <a16:creationId xmlns:a16="http://schemas.microsoft.com/office/drawing/2014/main" id="{A2249FD7-2E3A-6B67-6AA1-7374EA1A0490}"/>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164DF78-CF84-481F-950D-FA7CE2B83915}"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7/25/2025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543B583C-A015-506A-E504-CF150F667C9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66C9141-23B4-4FD3-80FD-4E1CB454F29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Rectangle 2">
            <a:extLst>
              <a:ext uri="{FF2B5EF4-FFF2-40B4-BE49-F238E27FC236}">
                <a16:creationId xmlns:a16="http://schemas.microsoft.com/office/drawing/2014/main" id="{2D599D3B-5626-C7B4-B031-32A52B7E1123}"/>
              </a:ext>
            </a:extLst>
          </p:cNvPr>
          <p:cNvSpPr>
            <a:spLocks noGrp="1" noChangeArrowheads="1"/>
          </p:cNvSpPr>
          <p:nvPr>
            <p:ph idx="1"/>
          </p:nvPr>
        </p:nvSpPr>
        <p:spPr bwMode="auto">
          <a:xfrm>
            <a:off x="4181612" y="131187"/>
            <a:ext cx="7589840"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rPr>
              <a:t>Advanced multilingual models (e.g., </a:t>
            </a:r>
            <a:r>
              <a:rPr kumimoji="0" lang="en-US" altLang="en-US" sz="2000" b="0" i="0" u="none" strike="noStrike" cap="none" normalizeH="0" baseline="0" dirty="0" err="1">
                <a:ln>
                  <a:noFill/>
                </a:ln>
                <a:solidFill>
                  <a:schemeClr val="tx1"/>
                </a:solidFill>
                <a:effectLst/>
              </a:rPr>
              <a:t>LLaMA</a:t>
            </a:r>
            <a:r>
              <a:rPr kumimoji="0" lang="en-US" altLang="en-US" sz="2000" b="0" i="0" u="none" strike="noStrike" cap="none" normalizeH="0" baseline="0" dirty="0">
                <a:ln>
                  <a:noFill/>
                </a:ln>
                <a:solidFill>
                  <a:schemeClr val="tx1"/>
                </a:solidFill>
                <a:effectLst/>
              </a:rPr>
              <a:t> 2, GPT-4, GPT-3.5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Turbo) emphasize English, limiting their ability to capture nuances of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morphologically rich languages like Turkish.</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rPr>
              <a:t>Specialized Turkish BERT outperforms these generalist models in Turkish</a:t>
            </a:r>
            <a:r>
              <a:rPr lang="en-US" altLang="en-US" sz="2000" dirty="0"/>
              <a:t> </a:t>
            </a:r>
            <a:r>
              <a:rPr kumimoji="0" lang="en-US" altLang="en-US" sz="2000" b="0" i="0" u="none" strike="noStrike" cap="none" normalizeH="0" baseline="0" dirty="0">
                <a:ln>
                  <a:noFill/>
                </a:ln>
                <a:solidFill>
                  <a:schemeClr val="tx1"/>
                </a:solidFill>
                <a:effectLst/>
              </a:rPr>
              <a:t>sentiment tasks, highlighting the need for pre-training 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 language-specific datasets. </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dirty="0"/>
          </a:p>
          <a:p>
            <a:pPr eaLnBrk="0" fontAlgn="base" hangingPunct="0">
              <a:lnSpc>
                <a:spcPct val="100000"/>
              </a:lnSpc>
              <a:spcBef>
                <a:spcPct val="0"/>
              </a:spcBef>
              <a:spcAft>
                <a:spcPct val="0"/>
              </a:spcAft>
            </a:pPr>
            <a:r>
              <a:rPr lang="en-US" sz="2000" dirty="0"/>
              <a:t>Future work includes fine-tuning the Couple Dialogue dataset on multilingual models like </a:t>
            </a:r>
            <a:r>
              <a:rPr lang="en-US" sz="2000" b="1" dirty="0" err="1"/>
              <a:t>mBERT</a:t>
            </a:r>
            <a:r>
              <a:rPr lang="en-US" sz="2000" dirty="0"/>
              <a:t> and </a:t>
            </a:r>
            <a:r>
              <a:rPr lang="en-US" sz="2000" b="1" dirty="0"/>
              <a:t>XLM-R</a:t>
            </a:r>
            <a:r>
              <a:rPr lang="en-US" sz="2000" dirty="0"/>
              <a:t>, which are optimized for structural complexities in diverse languages.</a:t>
            </a:r>
          </a:p>
          <a:p>
            <a:pPr marL="0" indent="0" eaLnBrk="0" fontAlgn="base" hangingPunct="0">
              <a:lnSpc>
                <a:spcPct val="100000"/>
              </a:lnSpc>
              <a:spcBef>
                <a:spcPct val="0"/>
              </a:spcBef>
              <a:spcAft>
                <a:spcPct val="0"/>
              </a:spcAft>
              <a:buNone/>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endParaRPr lang="en-US" altLang="en-US" sz="2000" dirty="0">
              <a:latin typeface="Arial" panose="020B0604020202020204" pitchFamily="34" charset="0"/>
            </a:endParaRPr>
          </a:p>
          <a:p>
            <a:pPr eaLnBrk="0" fontAlgn="base" hangingPunct="0">
              <a:lnSpc>
                <a:spcPct val="100000"/>
              </a:lnSpc>
              <a:spcBef>
                <a:spcPct val="0"/>
              </a:spcBef>
              <a:spcAft>
                <a:spcPct val="0"/>
              </a:spcAft>
            </a:pPr>
            <a:r>
              <a:rPr lang="en-US" sz="2000" dirty="0"/>
              <a:t>Combining the Turkish Couple Dialogue dataset with English couple dialogue datasets enhances multilingual model performance (e.g., </a:t>
            </a:r>
            <a:r>
              <a:rPr lang="en-US" sz="2000" dirty="0" err="1"/>
              <a:t>LLaMA</a:t>
            </a:r>
            <a:r>
              <a:rPr lang="en-US" sz="2000" dirty="0"/>
              <a:t> 4) by fine-tuning across diverse linguistic contexts</a:t>
            </a:r>
            <a:r>
              <a:rPr lang="en-US" sz="1100" dirty="0"/>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endParaRPr lang="en-US" altLang="en-US" sz="1600" dirty="0">
              <a:latin typeface="Arial" panose="020B0604020202020204" pitchFamily="34" charset="0"/>
            </a:endParaRPr>
          </a:p>
          <a:p>
            <a:pPr marL="0" indent="0" eaLnBrk="0" fontAlgn="base" hangingPunct="0">
              <a:lnSpc>
                <a:spcPct val="100000"/>
              </a:lnSpc>
              <a:spcBef>
                <a:spcPct val="0"/>
              </a:spcBef>
              <a:spcAft>
                <a:spcPct val="0"/>
              </a:spcAft>
              <a:buNone/>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04225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6B04CEF-E193-6D30-4F3D-381C6A03FDA2}"/>
              </a:ext>
            </a:extLst>
          </p:cNvPr>
          <p:cNvPicPr>
            <a:picLocks noChangeAspect="1"/>
          </p:cNvPicPr>
          <p:nvPr/>
        </p:nvPicPr>
        <p:blipFill>
          <a:blip r:embed="rId2">
            <a:duotone>
              <a:schemeClr val="bg2">
                <a:shade val="45000"/>
                <a:satMod val="135000"/>
              </a:schemeClr>
              <a:prstClr val="white"/>
            </a:duotone>
          </a:blip>
          <a:srcRect t="15730"/>
          <a:stretch/>
        </p:blipFill>
        <p:spPr>
          <a:xfrm>
            <a:off x="20" y="10401"/>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775F84-19B5-DF81-2B2C-5C536E98C071}"/>
              </a:ext>
            </a:extLst>
          </p:cNvPr>
          <p:cNvSpPr>
            <a:spLocks noGrp="1"/>
          </p:cNvSpPr>
          <p:nvPr>
            <p:ph type="title"/>
          </p:nvPr>
        </p:nvSpPr>
        <p:spPr>
          <a:xfrm>
            <a:off x="838200" y="365125"/>
            <a:ext cx="10515600" cy="1325563"/>
          </a:xfrm>
        </p:spPr>
        <p:txBody>
          <a:bodyPr>
            <a:normAutofit/>
          </a:bodyPr>
          <a:lstStyle/>
          <a:p>
            <a:r>
              <a:rPr lang="en-US" b="1" dirty="0"/>
              <a:t>Key Contributions of the Study</a:t>
            </a:r>
          </a:p>
        </p:txBody>
      </p:sp>
      <p:graphicFrame>
        <p:nvGraphicFramePr>
          <p:cNvPr id="5" name="Content Placeholder 2">
            <a:extLst>
              <a:ext uri="{FF2B5EF4-FFF2-40B4-BE49-F238E27FC236}">
                <a16:creationId xmlns:a16="http://schemas.microsoft.com/office/drawing/2014/main" id="{0BCBE1E7-4447-D1AF-3E80-72537AD60568}"/>
              </a:ext>
            </a:extLst>
          </p:cNvPr>
          <p:cNvGraphicFramePr>
            <a:graphicFrameLocks noGrp="1"/>
          </p:cNvGraphicFramePr>
          <p:nvPr>
            <p:ph idx="1"/>
            <p:extLst>
              <p:ext uri="{D42A27DB-BD31-4B8C-83A1-F6EECF244321}">
                <p14:modId xmlns:p14="http://schemas.microsoft.com/office/powerpoint/2010/main" val="306035830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Date Placeholder 2">
            <a:extLst>
              <a:ext uri="{FF2B5EF4-FFF2-40B4-BE49-F238E27FC236}">
                <a16:creationId xmlns:a16="http://schemas.microsoft.com/office/drawing/2014/main" id="{2C29BC2C-82EA-F1A1-E239-E0AB536AF5FE}"/>
              </a:ext>
            </a:extLst>
          </p:cNvPr>
          <p:cNvSpPr>
            <a:spLocks noGrp="1"/>
          </p:cNvSpPr>
          <p:nvPr>
            <p:ph type="dt" sz="half" idx="10"/>
          </p:nvPr>
        </p:nvSpPr>
        <p:spPr/>
        <p:txBody>
          <a:bodyPr/>
          <a:lstStyle/>
          <a:p>
            <a:fld id="{1073513C-867C-4D0D-8657-E87D6A17B2DA}" type="datetime1">
              <a:rPr lang="en-US" smtClean="0"/>
              <a:t>7/25/2025</a:t>
            </a:fld>
            <a:endParaRPr lang="en-US"/>
          </a:p>
        </p:txBody>
      </p:sp>
      <p:sp>
        <p:nvSpPr>
          <p:cNvPr id="4" name="Slide Number Placeholder 3">
            <a:extLst>
              <a:ext uri="{FF2B5EF4-FFF2-40B4-BE49-F238E27FC236}">
                <a16:creationId xmlns:a16="http://schemas.microsoft.com/office/drawing/2014/main" id="{AAFF7BF8-07E4-4BA7-B36D-A40ED7DA619D}"/>
              </a:ext>
            </a:extLst>
          </p:cNvPr>
          <p:cNvSpPr>
            <a:spLocks noGrp="1"/>
          </p:cNvSpPr>
          <p:nvPr>
            <p:ph type="sldNum" sz="quarter" idx="12"/>
          </p:nvPr>
        </p:nvSpPr>
        <p:spPr/>
        <p:txBody>
          <a:bodyPr/>
          <a:lstStyle/>
          <a:p>
            <a:fld id="{F66C9141-23B4-4FD3-80FD-4E1CB454F295}" type="slidenum">
              <a:rPr lang="en-US" smtClean="0"/>
              <a:t>56</a:t>
            </a:fld>
            <a:endParaRPr lang="en-US"/>
          </a:p>
        </p:txBody>
      </p:sp>
    </p:spTree>
    <p:extLst>
      <p:ext uri="{BB962C8B-B14F-4D97-AF65-F5344CB8AC3E}">
        <p14:creationId xmlns:p14="http://schemas.microsoft.com/office/powerpoint/2010/main" val="31893734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441974-7C63-540C-AE65-3CEB9D68BEB5}"/>
              </a:ext>
            </a:extLst>
          </p:cNvPr>
          <p:cNvPicPr>
            <a:picLocks noChangeAspect="1"/>
          </p:cNvPicPr>
          <p:nvPr/>
        </p:nvPicPr>
        <p:blipFill>
          <a:blip r:embed="rId2">
            <a:duotone>
              <a:schemeClr val="bg2">
                <a:shade val="45000"/>
                <a:satMod val="135000"/>
              </a:schemeClr>
              <a:prstClr val="white"/>
            </a:duotone>
          </a:blip>
          <a:srcRect t="25325" b="9457"/>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500040-52E6-4775-EEA1-E4FEA0C3098C}"/>
              </a:ext>
            </a:extLst>
          </p:cNvPr>
          <p:cNvSpPr>
            <a:spLocks noGrp="1"/>
          </p:cNvSpPr>
          <p:nvPr>
            <p:ph type="title"/>
          </p:nvPr>
        </p:nvSpPr>
        <p:spPr>
          <a:xfrm>
            <a:off x="838200" y="365125"/>
            <a:ext cx="10515600" cy="1325563"/>
          </a:xfrm>
        </p:spPr>
        <p:txBody>
          <a:bodyPr>
            <a:normAutofit/>
          </a:bodyPr>
          <a:lstStyle/>
          <a:p>
            <a:r>
              <a:rPr lang="en-US" b="1" dirty="0"/>
              <a:t>Key Contributions of the Study</a:t>
            </a:r>
          </a:p>
        </p:txBody>
      </p:sp>
      <p:graphicFrame>
        <p:nvGraphicFramePr>
          <p:cNvPr id="5" name="Content Placeholder 2">
            <a:extLst>
              <a:ext uri="{FF2B5EF4-FFF2-40B4-BE49-F238E27FC236}">
                <a16:creationId xmlns:a16="http://schemas.microsoft.com/office/drawing/2014/main" id="{2A34F3E3-84C6-B11F-67EB-0172C90AFE47}"/>
              </a:ext>
            </a:extLst>
          </p:cNvPr>
          <p:cNvGraphicFramePr>
            <a:graphicFrameLocks noGrp="1"/>
          </p:cNvGraphicFramePr>
          <p:nvPr>
            <p:ph idx="1"/>
            <p:extLst>
              <p:ext uri="{D42A27DB-BD31-4B8C-83A1-F6EECF244321}">
                <p14:modId xmlns:p14="http://schemas.microsoft.com/office/powerpoint/2010/main" val="403078925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Date Placeholder 2">
            <a:extLst>
              <a:ext uri="{FF2B5EF4-FFF2-40B4-BE49-F238E27FC236}">
                <a16:creationId xmlns:a16="http://schemas.microsoft.com/office/drawing/2014/main" id="{68884CE0-D2C6-434C-E5EB-78CC9B610E54}"/>
              </a:ext>
            </a:extLst>
          </p:cNvPr>
          <p:cNvSpPr>
            <a:spLocks noGrp="1"/>
          </p:cNvSpPr>
          <p:nvPr>
            <p:ph type="dt" sz="half" idx="10"/>
          </p:nvPr>
        </p:nvSpPr>
        <p:spPr/>
        <p:txBody>
          <a:bodyPr/>
          <a:lstStyle/>
          <a:p>
            <a:fld id="{0281C8CA-17F3-4736-909B-004CEBFEDFEE}" type="datetime1">
              <a:rPr lang="en-US" smtClean="0"/>
              <a:t>7/25/2025</a:t>
            </a:fld>
            <a:endParaRPr lang="en-US"/>
          </a:p>
        </p:txBody>
      </p:sp>
      <p:sp>
        <p:nvSpPr>
          <p:cNvPr id="4" name="Slide Number Placeholder 3">
            <a:extLst>
              <a:ext uri="{FF2B5EF4-FFF2-40B4-BE49-F238E27FC236}">
                <a16:creationId xmlns:a16="http://schemas.microsoft.com/office/drawing/2014/main" id="{9901CD45-7F0C-372E-4335-7398F3F5AA36}"/>
              </a:ext>
            </a:extLst>
          </p:cNvPr>
          <p:cNvSpPr>
            <a:spLocks noGrp="1"/>
          </p:cNvSpPr>
          <p:nvPr>
            <p:ph type="sldNum" sz="quarter" idx="12"/>
          </p:nvPr>
        </p:nvSpPr>
        <p:spPr/>
        <p:txBody>
          <a:bodyPr/>
          <a:lstStyle/>
          <a:p>
            <a:fld id="{F66C9141-23B4-4FD3-80FD-4E1CB454F295}" type="slidenum">
              <a:rPr lang="en-US" smtClean="0"/>
              <a:t>57</a:t>
            </a:fld>
            <a:endParaRPr lang="en-US"/>
          </a:p>
        </p:txBody>
      </p:sp>
    </p:spTree>
    <p:extLst>
      <p:ext uri="{BB962C8B-B14F-4D97-AF65-F5344CB8AC3E}">
        <p14:creationId xmlns:p14="http://schemas.microsoft.com/office/powerpoint/2010/main" val="9472463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3D black question marks with one yellow question mark">
            <a:extLst>
              <a:ext uri="{FF2B5EF4-FFF2-40B4-BE49-F238E27FC236}">
                <a16:creationId xmlns:a16="http://schemas.microsoft.com/office/drawing/2014/main" id="{1E577A4C-5435-F7F3-2E4D-42DB97A92E8C}"/>
              </a:ext>
            </a:extLst>
          </p:cNvPr>
          <p:cNvPicPr>
            <a:picLocks noChangeAspect="1"/>
          </p:cNvPicPr>
          <p:nvPr/>
        </p:nvPicPr>
        <p:blipFill>
          <a:blip r:embed="rId2"/>
          <a:srcRect l="28089" r="7022" b="1"/>
          <a:stretch/>
        </p:blipFill>
        <p:spPr>
          <a:xfrm>
            <a:off x="20" y="10"/>
            <a:ext cx="12191981" cy="6857990"/>
          </a:xfrm>
          <a:prstGeom prst="rect">
            <a:avLst/>
          </a:prstGeom>
        </p:spPr>
      </p:pic>
      <p:sp>
        <p:nvSpPr>
          <p:cNvPr id="13" name="Rectangle 12">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5" y="-1524511"/>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F44FA4-EF4D-2CFA-6CEC-84A3D9E1FFEA}"/>
              </a:ext>
            </a:extLst>
          </p:cNvPr>
          <p:cNvSpPr>
            <a:spLocks noGrp="1"/>
          </p:cNvSpPr>
          <p:nvPr>
            <p:ph type="title"/>
          </p:nvPr>
        </p:nvSpPr>
        <p:spPr>
          <a:xfrm>
            <a:off x="404553" y="3091928"/>
            <a:ext cx="9078562" cy="2387600"/>
          </a:xfrm>
        </p:spPr>
        <p:txBody>
          <a:bodyPr vert="horz" lIns="91440" tIns="45720" rIns="91440" bIns="45720" rtlCol="0" anchor="b">
            <a:normAutofit/>
          </a:bodyPr>
          <a:lstStyle/>
          <a:p>
            <a:r>
              <a:rPr lang="en-US" sz="6600" b="1">
                <a:solidFill>
                  <a:schemeClr val="bg1"/>
                </a:solidFill>
              </a:rPr>
              <a:t>QUESTIONS</a:t>
            </a:r>
          </a:p>
        </p:txBody>
      </p:sp>
      <p:sp>
        <p:nvSpPr>
          <p:cNvPr id="15" name="Rectangle: Rounded Corners 14">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741CAA06-BDBA-39F2-0973-551284BB526E}"/>
              </a:ext>
            </a:extLst>
          </p:cNvPr>
          <p:cNvSpPr>
            <a:spLocks noGrp="1"/>
          </p:cNvSpPr>
          <p:nvPr>
            <p:ph type="dt" sz="half" idx="10"/>
          </p:nvPr>
        </p:nvSpPr>
        <p:spPr>
          <a:xfrm>
            <a:off x="404553" y="6356350"/>
            <a:ext cx="2743200" cy="365125"/>
          </a:xfrm>
        </p:spPr>
        <p:txBody>
          <a:bodyPr vert="horz" lIns="91440" tIns="45720" rIns="91440" bIns="45720" rtlCol="0" anchor="ctr">
            <a:normAutofit/>
          </a:bodyPr>
          <a:lstStyle/>
          <a:p>
            <a:pPr defTabSz="914400">
              <a:spcAft>
                <a:spcPts val="600"/>
              </a:spcAft>
              <a:defRPr/>
            </a:pPr>
            <a:fld id="{C294AE08-1327-4C92-AFEE-B4C5029DCC57}" type="datetime1">
              <a:rPr lang="en-US">
                <a:solidFill>
                  <a:schemeClr val="bg1"/>
                </a:solidFill>
                <a:latin typeface="Calibri" panose="020F0502020204030204"/>
              </a:rPr>
              <a:pPr defTabSz="914400">
                <a:spcAft>
                  <a:spcPts val="600"/>
                </a:spcAft>
                <a:defRPr/>
              </a:pPr>
              <a:t>7/25/2025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37814429-A007-A972-F5F8-94E72DEB5206}"/>
              </a:ext>
            </a:extLst>
          </p:cNvPr>
          <p:cNvSpPr>
            <a:spLocks noGrp="1"/>
          </p:cNvSpPr>
          <p:nvPr>
            <p:ph type="sldNum" sz="quarter" idx="12"/>
          </p:nvPr>
        </p:nvSpPr>
        <p:spPr>
          <a:xfrm>
            <a:off x="9041199" y="6356350"/>
            <a:ext cx="2743200" cy="365125"/>
          </a:xfrm>
        </p:spPr>
        <p:txBody>
          <a:bodyPr vert="horz" lIns="91440" tIns="45720" rIns="91440" bIns="45720" rtlCol="0" anchor="ctr">
            <a:normAutofit/>
          </a:bodyPr>
          <a:lstStyle/>
          <a:p>
            <a:pPr defTabSz="914400">
              <a:spcAft>
                <a:spcPts val="600"/>
              </a:spcAft>
              <a:defRPr/>
            </a:pPr>
            <a:fld id="{F66C9141-23B4-4FD3-80FD-4E1CB454F295}" type="slidenum">
              <a:rPr lang="en-US">
                <a:solidFill>
                  <a:schemeClr val="bg1"/>
                </a:solidFill>
                <a:latin typeface="Calibri" panose="020F0502020204030204"/>
              </a:rPr>
              <a:pPr defTabSz="914400">
                <a:spcAft>
                  <a:spcPts val="600"/>
                </a:spcAft>
                <a:defRPr/>
              </a:pPr>
              <a:t>58</a:t>
            </a:fld>
            <a:endParaRPr lang="en-US">
              <a:solidFill>
                <a:schemeClr val="bg1"/>
              </a:solidFill>
              <a:latin typeface="Calibri" panose="020F0502020204030204"/>
            </a:endParaRPr>
          </a:p>
        </p:txBody>
      </p:sp>
    </p:spTree>
    <p:extLst>
      <p:ext uri="{BB962C8B-B14F-4D97-AF65-F5344CB8AC3E}">
        <p14:creationId xmlns:p14="http://schemas.microsoft.com/office/powerpoint/2010/main" val="570316402"/>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11101</TotalTime>
  <Words>2735</Words>
  <Application>Microsoft Office PowerPoint</Application>
  <PresentationFormat>Widescreen</PresentationFormat>
  <Paragraphs>566</Paragraphs>
  <Slides>58</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58</vt:i4>
      </vt:variant>
    </vt:vector>
  </HeadingPairs>
  <TitlesOfParts>
    <vt:vector size="69" baseType="lpstr">
      <vt:lpstr>Aptos</vt:lpstr>
      <vt:lpstr>Aptos Narrow</vt:lpstr>
      <vt:lpstr>Arial</vt:lpstr>
      <vt:lpstr>Calibri</vt:lpstr>
      <vt:lpstr>Calibri Light</vt:lpstr>
      <vt:lpstr>Cambria Math</vt:lpstr>
      <vt:lpstr>NimbusRomNo9L-Medi</vt:lpstr>
      <vt:lpstr>NimbusRomNo9L-Regu</vt:lpstr>
      <vt:lpstr>NimbusSanL-Bold</vt:lpstr>
      <vt:lpstr>NimbusSanL-Regu</vt:lpstr>
      <vt:lpstr>Office 2013 - 2022 Theme</vt:lpstr>
      <vt:lpstr>Exploring Emotional Flow in Dyadic Interactions: A Study of Contextual and Non-Contextual Sentiment Models in Turkish Couple Dialogues</vt:lpstr>
      <vt:lpstr>ABSTRACT: PhD THESIS SUMMARY</vt:lpstr>
      <vt:lpstr>INTRODUCTION</vt:lpstr>
      <vt:lpstr>Challenges and Key Focus Areas in Conversational Sentiment Analysis</vt:lpstr>
      <vt:lpstr>Modeling Dependencies in Conversations</vt:lpstr>
      <vt:lpstr> Importance of Conversational Sentiment Analysis </vt:lpstr>
      <vt:lpstr>Corpus Description</vt:lpstr>
      <vt:lpstr>Couple Dialogue Dataset Example</vt:lpstr>
      <vt:lpstr>Participants &amp; Data Collection</vt:lpstr>
      <vt:lpstr>Couple Dialogue Dataset &amp; Preprocessing</vt:lpstr>
      <vt:lpstr>OVERALL STATISTICS</vt:lpstr>
      <vt:lpstr># of positive samples: 2083 # of negative samples: 6161 # of neutral samples: 6050 2083</vt:lpstr>
      <vt:lpstr>PowerPoint Presentation</vt:lpstr>
      <vt:lpstr>Annotation Procedure</vt:lpstr>
      <vt:lpstr>ANNOTATION GUIDELINE: PSEUDOCODE</vt:lpstr>
      <vt:lpstr>PowerPoint Presentation</vt:lpstr>
      <vt:lpstr>AGREEMENT ASSESMENT</vt:lpstr>
      <vt:lpstr>METHODOLOGY</vt:lpstr>
      <vt:lpstr>Research Objectives</vt:lpstr>
      <vt:lpstr>Non-Contextual Sentiment Detection Architecture</vt:lpstr>
      <vt:lpstr>Morphological Parsing in Turkish</vt:lpstr>
      <vt:lpstr>Preprocessing Modules</vt:lpstr>
      <vt:lpstr>The Non-Contextual Classifier</vt:lpstr>
      <vt:lpstr>PowerPoint Presentation</vt:lpstr>
      <vt:lpstr>PowerPoint Presentation</vt:lpstr>
      <vt:lpstr>Contextual Sentiment Detection Architecture</vt:lpstr>
      <vt:lpstr>PROMPT-BASED MODELING</vt:lpstr>
      <vt:lpstr>Few-shot Prompting</vt:lpstr>
      <vt:lpstr>FINE-TUNING</vt:lpstr>
      <vt:lpstr> Fine-Tuning with GPT-3.5 Turbo: Data Format </vt:lpstr>
      <vt:lpstr>Fine-Tuning with GPT-3.5 Turbo</vt:lpstr>
      <vt:lpstr>Fine-tuning with LLAMA 2</vt:lpstr>
      <vt:lpstr>Fine-tuning with LLAMA 2</vt:lpstr>
      <vt:lpstr>Fine-tuning with Pre-Trained Turkish BERT</vt:lpstr>
      <vt:lpstr>Embedding-based Modeling: DialogueRNN </vt:lpstr>
      <vt:lpstr>DialogueRNN for Conversational Emotion Analysis</vt:lpstr>
      <vt:lpstr> DialogueRNN: An Attentive RNN for Emotion Detection in Conversations(Majumder et al.,2019) </vt:lpstr>
      <vt:lpstr>DialogueRNN for Conversational Emotion Analysis</vt:lpstr>
      <vt:lpstr>The Role of Attention Mechanism</vt:lpstr>
      <vt:lpstr>RESULTS and DISCUSSION</vt:lpstr>
      <vt:lpstr>NON-CONTEXTUAL MODEL RESULTS</vt:lpstr>
      <vt:lpstr>PowerPoint Presentation</vt:lpstr>
      <vt:lpstr>Non-Contextual Classification Performance Using pre-trained Turkish BERT Embeddings </vt:lpstr>
      <vt:lpstr>GloVe vs. pre-trained Turkish BERT Embeddings Performance in Deep Learning Architecture</vt:lpstr>
      <vt:lpstr>CONTEXTUAL MODEL RESULTS</vt:lpstr>
      <vt:lpstr>Embedding Performance in DialogueRNN</vt:lpstr>
      <vt:lpstr>LLM Model Results (STANDARD SPLIT)</vt:lpstr>
      <vt:lpstr>ALL CONTEXTUAL MODEL RESULTS (STANDARD SPLIT)</vt:lpstr>
      <vt:lpstr>OVERALL PERFORMANCE TABLE: Confidence Intervals (CI) are calculated based on a 95% confidence level</vt:lpstr>
      <vt:lpstr>CONCLUSION and FUTURE WORK</vt:lpstr>
      <vt:lpstr>Challenges in Conversational Sentiment Analysis on Couple Dialogue Data</vt:lpstr>
      <vt:lpstr>SARCASM EXAMPLE</vt:lpstr>
      <vt:lpstr>Enhancing Sarcasm Detection and Future Applications</vt:lpstr>
      <vt:lpstr>Exploring Cross Domain Integration</vt:lpstr>
      <vt:lpstr>Exploring Cross Linguistic Models</vt:lpstr>
      <vt:lpstr>Key Contributions of the Study</vt:lpstr>
      <vt:lpstr>Key Contributions of the Study</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Decoding Emotional Dynamics: A Comparative Analysis of Contextual and Non-Contextual Models in Sentiment Analysis of Turkish Couple Dialogues</dc:title>
  <dc:creator>esma nafiye polat</dc:creator>
  <cp:lastModifiedBy>esma nafiye polat</cp:lastModifiedBy>
  <cp:revision>158</cp:revision>
  <dcterms:created xsi:type="dcterms:W3CDTF">2024-06-03T19:53:21Z</dcterms:created>
  <dcterms:modified xsi:type="dcterms:W3CDTF">2025-07-25T21:02:03Z</dcterms:modified>
</cp:coreProperties>
</file>