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embeddedFontLs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Montserrat" pitchFamily="2" charset="77"/>
      <p:regular r:id="rId38"/>
      <p:bold r:id="rId39"/>
      <p:italic r:id="rId40"/>
      <p:boldItalic r:id="rId41"/>
    </p:embeddedFont>
    <p:embeddedFont>
      <p:font typeface="Trebuchet MS" panose="020B0703020202090204" pitchFamily="34" charset="0"/>
      <p:regular r:id="rId42"/>
      <p:bold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/>
    <p:restoredTop sz="94694"/>
  </p:normalViewPr>
  <p:slideViewPr>
    <p:cSldViewPr snapToGrid="0">
      <p:cViewPr varScale="1">
        <p:scale>
          <a:sx n="121" d="100"/>
          <a:sy n="121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111ee381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111ee3812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7111ee3812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128602ee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128602ee4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7128602ee4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128602ee4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7128602ee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128602ee4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7128602ee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0c2c9492b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0c2c9492b_0_7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70c2c9492b_0_7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0e650dcf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0e650dcf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70e650dcf6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111ee3812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7111ee3812_1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7111ee3812_1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0c2c9492b_0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0c2c9492b_0_7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70c2c9492b_0_7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0c2c9492b_0_7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0c2c9492b_0_7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70c2c9492b_0_7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0c2c9492b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70c2c9492b_0_7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70c2c9492b_0_7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0c2c9492b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70c2c9492b_0_7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70c2c9492b_0_7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0c2c9492b_0_8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70c2c9492b_0_8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70c2c9492b_0_8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0c2c9492b_0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70c2c9492b_0_8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70c2c9492b_0_8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0c2c9492b_0_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70c2c9492b_0_8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70c2c9492b_0_8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0c2c9492b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0c2c9492b_0_8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g370c2c9492b_0_8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0dd9c1d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0dd9c1d1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70dd9c1d1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70ec0a3b8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70ec0a3b8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70ec0a3b8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7111ee3812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7111ee3812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7111ee3812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5" name="Google Shape;25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4" name="Google Shape;54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2" name="Google Shape;62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5" name="Google Shape;75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7" name="Google Shape;97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5" name="Google Shape;105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11" name="Google Shape;111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huggingface.co/spaces/malhajar/OpenLLMTurkishLeaderboard_v0.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model.cosmosytu.com/cosmosllm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smos.yildiz.edu.tr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hyperlink" Target="https://huggingface.co/ytu-ce-cosmos" TargetMode="External"/><Relationship Id="rId4" Type="http://schemas.openxmlformats.org/officeDocument/2006/relationships/hyperlink" Target="https://www.linkedin.com/company/ytu-cosmo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pic>
        <p:nvPicPr>
          <p:cNvPr id="146" name="Google Shape;146;p14" descr="A purple and white background with planets and sta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9" r="1613" b="960"/>
          <a:stretch/>
        </p:blipFill>
        <p:spPr>
          <a:xfrm>
            <a:off x="40775" y="0"/>
            <a:ext cx="12110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/>
        </p:nvSpPr>
        <p:spPr>
          <a:xfrm>
            <a:off x="774900" y="3324075"/>
            <a:ext cx="10642200" cy="23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Atahan Uz &amp; Mehmet Egemen Uzun</a:t>
            </a:r>
            <a:endParaRPr sz="2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>
            <a:spLocks noGrp="1"/>
          </p:cNvSpPr>
          <p:nvPr>
            <p:ph type="title"/>
          </p:nvPr>
        </p:nvSpPr>
        <p:spPr>
          <a:xfrm>
            <a:off x="976727" y="372100"/>
            <a:ext cx="66684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br>
              <a:rPr lang="tr-TR" b="1">
                <a:latin typeface="Lato"/>
                <a:ea typeface="Lato"/>
                <a:cs typeface="Lato"/>
                <a:sym typeface="Lato"/>
              </a:rPr>
            </a:br>
            <a:r>
              <a:rPr lang="tr-TR" b="1">
                <a:latin typeface="Lato"/>
                <a:ea typeface="Lato"/>
                <a:cs typeface="Lato"/>
                <a:sym typeface="Lato"/>
              </a:rPr>
              <a:t>COSMOS AI Research Group</a:t>
            </a:r>
            <a:br>
              <a:rPr lang="tr-TR" b="1">
                <a:latin typeface="Lato"/>
                <a:ea typeface="Lato"/>
                <a:cs typeface="Lato"/>
                <a:sym typeface="Lato"/>
              </a:rPr>
            </a:b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38950" y="2018550"/>
            <a:ext cx="9034800" cy="47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7846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-TR" sz="2000"/>
              <a:t>Yıldız Teknik Üniversitesi Bilgisayar Mühendisliği bölümünde Prof Dr. Mehmet Fatih Amasyalı liderliğinde kurulmuş bir yapay zeka araştırma grubuyuz. </a:t>
            </a:r>
            <a:endParaRPr sz="2000"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342900" lvl="0" indent="-37846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tr-TR" sz="2000"/>
              <a:t>Ana çalışma alanımız Doğal Dil İşleme (NLP) ve Türkçe büyük dil modelleri.</a:t>
            </a:r>
            <a:endParaRPr sz="2000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  <a:p>
            <a:pPr marL="342900" lvl="0" indent="-37846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tr-TR" sz="2000"/>
              <a:t>Hem araştırma makaleleri yayınlıyoruz hem de son kullanıcıya yönelik ürünler geliştiriyoruz.</a:t>
            </a:r>
            <a:endParaRPr sz="2000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800"/>
              <a:t>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54" name="Google Shape;15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9400" y="676075"/>
            <a:ext cx="2233800" cy="22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11669349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tr-TR"/>
              <a:t>Açık Kaynak</a:t>
            </a:r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760"/>
              <a:buChar char="●"/>
            </a:pPr>
            <a:r>
              <a:rPr lang="tr-TR" sz="2200"/>
              <a:t>COSMOS olarak, geliştirdiğimiz tüm modelleri açık kaynak olarak yayınlıyoruz. Böylece isteyen herkes modellerimizi  ücretsiz olarak kendi cihazlarında, bir 3. parti servise imkan olmadan çalıştırabiliyor.</a:t>
            </a:r>
            <a:endParaRPr/>
          </a:p>
          <a:p>
            <a:pPr marL="342900" lvl="0" indent="-231140" algn="l" rtl="0">
              <a:spcBef>
                <a:spcPts val="1000"/>
              </a:spcBef>
              <a:spcAft>
                <a:spcPts val="0"/>
              </a:spcAft>
              <a:buSzPts val="1760"/>
              <a:buNone/>
            </a:pPr>
            <a:endParaRPr sz="220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Char char="●"/>
            </a:pPr>
            <a:r>
              <a:rPr lang="tr-TR" sz="2200"/>
              <a:t>Modellerimiz açık erişimli olduğu için isteyen kullanıcılar modellerimizi “fine tune” ederek kendi ihtiyaçları doğrultusunda özelleştirebiliyorlar.</a:t>
            </a:r>
            <a:endParaRPr/>
          </a:p>
          <a:p>
            <a:pPr marL="342900" lvl="0" indent="-220980" algn="l" rtl="0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endParaRPr sz="2400"/>
          </a:p>
        </p:txBody>
      </p:sp>
      <p:sp>
        <p:nvSpPr>
          <p:cNvPr id="162" name="Google Shape;162;p16"/>
          <p:cNvSpPr txBox="1"/>
          <p:nvPr/>
        </p:nvSpPr>
        <p:spPr>
          <a:xfrm>
            <a:off x="11606286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>
            <a:spLocks noGrp="1"/>
          </p:cNvSpPr>
          <p:nvPr>
            <p:ph type="title"/>
          </p:nvPr>
        </p:nvSpPr>
        <p:spPr>
          <a:xfrm>
            <a:off x="186559" y="869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tr-TR"/>
              <a:t>Modellerimiz</a:t>
            </a:r>
            <a:br>
              <a:rPr lang="tr-TR"/>
            </a:br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body" idx="1"/>
          </p:nvPr>
        </p:nvSpPr>
        <p:spPr>
          <a:xfrm>
            <a:off x="186559" y="879175"/>
            <a:ext cx="729210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80"/>
              <a:buChar char="●"/>
            </a:pPr>
            <a:r>
              <a:rPr lang="tr-TR" sz="3600"/>
              <a:t>1- LLM’ler (Chatbot’lar)</a:t>
            </a:r>
            <a:endParaRPr sz="360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CosmosGPT, CosmosLlama, CosmosGemma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383799" y="1336100"/>
            <a:ext cx="397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Mobil ve Web Arayüzlerimizden deneyebilirsiniz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0" name="Google Shape;17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985" y="2895863"/>
            <a:ext cx="5528441" cy="355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6475" y="2324950"/>
            <a:ext cx="5657048" cy="420234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7236250" y="1217775"/>
            <a:ext cx="242400" cy="194700"/>
          </a:xfrm>
          <a:prstGeom prst="halfFrame">
            <a:avLst>
              <a:gd name="adj1" fmla="val 33333"/>
              <a:gd name="adj2" fmla="val 33333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186559" y="6292098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 descr="A screenshot of a data table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57475" y="1708725"/>
            <a:ext cx="9554700" cy="50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1208500" y="305124"/>
            <a:ext cx="83475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Geliştirdiğimiz modeller, Türkçe dil modellerinin geliştirdiği leaderboard’larda en üst sıralarda yer alıyor</a:t>
            </a:r>
            <a:endParaRPr sz="2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00" b="1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https://huggingface.co/spaces/malhajar/OpenLLMTurkishLeaderboard_v0.2</a:t>
            </a:r>
            <a:endParaRPr sz="2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72575" y="305125"/>
            <a:ext cx="384900" cy="570300"/>
          </a:xfrm>
          <a:prstGeom prst="halfFrame">
            <a:avLst>
              <a:gd name="adj1" fmla="val 33333"/>
              <a:gd name="adj2" fmla="val 33333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1721900" y="6290625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rebuchet MS"/>
              <a:buNone/>
            </a:pPr>
            <a:r>
              <a:rPr lang="tr-TR"/>
              <a:t>2- VLM’ler</a:t>
            </a:r>
            <a:br>
              <a:rPr lang="tr-TR"/>
            </a:br>
            <a:r>
              <a:rPr lang="tr-TR"/>
              <a:t> </a:t>
            </a:r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6049143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Visual Language Model- Görsel dil modellerimizle, sadece yazı değil bir görsel veriler ile de etkileşime geçebiliyoruz. COSMOS mobil uygulamasından, telefonun kamerasının gördüğü veriyi canlı olarak betimleyen COSMOS VLM’I test edebilirsiniz.</a:t>
            </a:r>
            <a:endParaRPr/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Bunun çok sayıda kullanım alanı olacağına inanıyoruz. Görme engelliler için bir asistan uygulaması?</a:t>
            </a:r>
            <a:endParaRPr/>
          </a:p>
        </p:txBody>
      </p:sp>
      <p:pic>
        <p:nvPicPr>
          <p:cNvPr id="188" name="Google Shape;188;p19" descr="A screenshot of a video cha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0025" y="170050"/>
            <a:ext cx="2993801" cy="633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11655074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title"/>
          </p:nvPr>
        </p:nvSpPr>
        <p:spPr>
          <a:xfrm>
            <a:off x="677325" y="609600"/>
            <a:ext cx="8596800" cy="1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r>
              <a:rPr lang="tr-TR" sz="3200"/>
              <a:t>3- Erişim Destekli Üretim (RAG) </a:t>
            </a: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br>
              <a:rPr lang="tr-TR" sz="3200"/>
            </a:br>
            <a:r>
              <a:rPr lang="tr-TR" sz="3200"/>
              <a:t>Turkish-colbert - Turkish-e5-large </a:t>
            </a: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endParaRPr sz="3200"/>
          </a:p>
        </p:txBody>
      </p:sp>
      <p:sp>
        <p:nvSpPr>
          <p:cNvPr id="195" name="Google Shape;195;p20"/>
          <p:cNvSpPr txBox="1"/>
          <p:nvPr/>
        </p:nvSpPr>
        <p:spPr>
          <a:xfrm>
            <a:off x="4975668" y="1930400"/>
            <a:ext cx="6849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Soru cevap ikilileri ve karşıtsal öğrenme ile geliştirdik.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Türkçe yapay zeka uygulamalarında yaygın olarak tercih ediliyor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740463" y="2125250"/>
            <a:ext cx="470400" cy="256800"/>
          </a:xfrm>
          <a:prstGeom prst="halfFrame">
            <a:avLst>
              <a:gd name="adj1" fmla="val 33333"/>
              <a:gd name="adj2" fmla="val 33333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1626170" y="6314154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6221" y="2815775"/>
            <a:ext cx="4665303" cy="335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title="Screenshot 2025-07-23 at 12.52.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325" y="2973440"/>
            <a:ext cx="5914398" cy="303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391584" y="5954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/>
              <a:t>Örnek bir RAG uygulaması</a:t>
            </a:r>
            <a:endParaRPr sz="3200" b="1"/>
          </a:p>
        </p:txBody>
      </p:sp>
      <p:sp>
        <p:nvSpPr>
          <p:cNvPr id="206" name="Google Shape;206;p21"/>
          <p:cNvSpPr txBox="1">
            <a:spLocks noGrp="1"/>
          </p:cNvSpPr>
          <p:nvPr>
            <p:ph type="body" idx="1"/>
          </p:nvPr>
        </p:nvSpPr>
        <p:spPr>
          <a:xfrm>
            <a:off x="486825" y="1452950"/>
            <a:ext cx="5926800" cy="423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tr-TR" sz="1500" b="1"/>
              <a:t>Ürün Bilgileri Embedding’e Dönüştürülür:</a:t>
            </a:r>
            <a:br>
              <a:rPr lang="tr-TR" sz="1500" b="1"/>
            </a:br>
            <a:r>
              <a:rPr lang="tr-TR" sz="1500"/>
              <a:t> Ürün açıklamaları ve detaylar vektörel temsile çevrilir.</a:t>
            </a:r>
            <a:br>
              <a:rPr lang="tr-TR" sz="1500" b="1"/>
            </a:br>
            <a:endParaRPr sz="1500"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tr-TR" sz="1500" b="1"/>
              <a:t>Embedding’ler Vektör Veritabanına Kaydedilir:</a:t>
            </a:r>
            <a:br>
              <a:rPr lang="tr-TR" sz="1500" b="1"/>
            </a:br>
            <a:r>
              <a:rPr lang="tr-TR" sz="1500" b="1"/>
              <a:t> </a:t>
            </a:r>
            <a:r>
              <a:rPr lang="tr-TR" sz="1500"/>
              <a:t>Elde edilen embedding’ler FAISS, Pinecone gibi bir vektör                   veritabanında saklanır.</a:t>
            </a:r>
            <a:br>
              <a:rPr lang="tr-TR" sz="1500" b="1"/>
            </a:br>
            <a:endParaRPr sz="1500"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tr-TR" sz="1500" b="1"/>
              <a:t>Kullanıcı Sorgusu Embedding’e Dönüştürülür:</a:t>
            </a:r>
            <a:br>
              <a:rPr lang="tr-TR" sz="1500" b="1"/>
            </a:br>
            <a:r>
              <a:rPr lang="tr-TR" sz="1500"/>
              <a:t> Chatbot’a gelen soru da aynı yöntemle vektöre çevrilir.</a:t>
            </a:r>
            <a:br>
              <a:rPr lang="tr-TR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tr-TR" sz="1500" b="1"/>
              <a:t>Benzer Ürün Bilgisi Sorgulanır:</a:t>
            </a:r>
            <a:br>
              <a:rPr lang="tr-TR" sz="1500" b="1"/>
            </a:br>
            <a:r>
              <a:rPr lang="tr-TR" sz="1500"/>
              <a:t> Soru embedding’i ile en yakın ürün embedding’leri vektör DB’den getirilir.</a:t>
            </a:r>
            <a:br>
              <a:rPr lang="tr-TR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tr-TR" sz="1500" b="1"/>
              <a:t>Cevap Üretilir:</a:t>
            </a:r>
            <a:br>
              <a:rPr lang="tr-TR" sz="1500" b="1"/>
            </a:br>
            <a:r>
              <a:rPr lang="tr-TR" sz="1500" b="1"/>
              <a:t> </a:t>
            </a:r>
            <a:r>
              <a:rPr lang="tr-TR" sz="1500"/>
              <a:t>Getirilen bilgi, dil modeliyle birleştirilerek kullanıcıya anlamlı bir yanıt oluşturulur.</a:t>
            </a:r>
            <a:endParaRPr sz="15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l="1042" t="656" r="609" b="1342"/>
          <a:stretch/>
        </p:blipFill>
        <p:spPr>
          <a:xfrm>
            <a:off x="6964200" y="632700"/>
            <a:ext cx="4607326" cy="5553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950" y="2786725"/>
            <a:ext cx="765800" cy="6339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Google Shape;197;p20">
            <a:extLst>
              <a:ext uri="{FF2B5EF4-FFF2-40B4-BE49-F238E27FC236}">
                <a16:creationId xmlns:a16="http://schemas.microsoft.com/office/drawing/2014/main" id="{B1CE5B22-158D-2818-023F-47FE12440ADC}"/>
              </a:ext>
            </a:extLst>
          </p:cNvPr>
          <p:cNvSpPr txBox="1"/>
          <p:nvPr/>
        </p:nvSpPr>
        <p:spPr>
          <a:xfrm>
            <a:off x="11710252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>
            <a:spLocks noGrp="1"/>
          </p:cNvSpPr>
          <p:nvPr>
            <p:ph type="title"/>
          </p:nvPr>
        </p:nvSpPr>
        <p:spPr>
          <a:xfrm>
            <a:off x="677334" y="22215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tr-TR" sz="2400" b="1">
                <a:latin typeface="Lato"/>
                <a:ea typeface="Lato"/>
                <a:cs typeface="Lato"/>
                <a:sym typeface="Lato"/>
              </a:rPr>
              <a:t>Cosmos Dil Modelleri Ailesi</a:t>
            </a:r>
            <a:endParaRPr sz="24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tr-TR" sz="2400" b="1">
                <a:latin typeface="Lato"/>
                <a:ea typeface="Lato"/>
                <a:cs typeface="Lato"/>
                <a:sym typeface="Lato"/>
              </a:rPr>
              <a:t>https://huggingface.co/ytu-ce-cosmos/</a:t>
            </a:r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25" y="1666125"/>
            <a:ext cx="10907374" cy="4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7;p20">
            <a:extLst>
              <a:ext uri="{FF2B5EF4-FFF2-40B4-BE49-F238E27FC236}">
                <a16:creationId xmlns:a16="http://schemas.microsoft.com/office/drawing/2014/main" id="{E022881F-91CE-01DB-B9D5-372B36EBE9EB}"/>
              </a:ext>
            </a:extLst>
          </p:cNvPr>
          <p:cNvSpPr txBox="1"/>
          <p:nvPr/>
        </p:nvSpPr>
        <p:spPr>
          <a:xfrm>
            <a:off x="11804846" y="6352003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8088" y="1429025"/>
            <a:ext cx="2129800" cy="191096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3014550" y="324650"/>
            <a:ext cx="6162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Cosmos Dil Modelleri Ailesi</a:t>
            </a:r>
            <a:endParaRPr sz="2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huggingface.co/ytu-ce-cosmos</a:t>
            </a:r>
            <a:endParaRPr sz="2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2" name="Google Shape;222;p23" descr="https://huggingface.co/ytu-ce-cosmos/Turkish-Llama-8b-Instruct-v0.1/resolve/main/cosmosLLaMa2_r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7370" y="1353850"/>
            <a:ext cx="1680855" cy="21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https://huggingface.co/ytu-ce-cosmos/Turkish-Llama-8b-DPO-v0.1/resolve/main/cosmosLLaMa2_r2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5932" y="3832899"/>
            <a:ext cx="3570790" cy="20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https://huggingface.co/ytu-ce-cosmos/turkish-gpt2-large-750m-instruct-v0.1/resolve/main/model_cover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717" y="1339560"/>
            <a:ext cx="2089891" cy="2089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https://huggingface.co/ytu-ce-cosmos/Turkish-LLaVA-v0.1/resolve/main/CosmosLLaVA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7314" y="3613350"/>
            <a:ext cx="3570791" cy="20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201259" y="6233943"/>
            <a:ext cx="480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☺</a:t>
            </a:r>
            <a:r>
              <a:rPr lang="tr-TR" sz="18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tr-TR" sz="1800" b="1" u="sng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model.cosmosytu.com/cosmosllm</a:t>
            </a:r>
            <a:endParaRPr sz="1800"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 rotWithShape="1">
          <a:blip r:embed="rId9">
            <a:alphaModFix/>
          </a:blip>
          <a:srcRect l="2794" t="14376" r="57059" b="14383"/>
          <a:stretch/>
        </p:blipFill>
        <p:spPr>
          <a:xfrm>
            <a:off x="4927075" y="3734750"/>
            <a:ext cx="2089877" cy="2086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https://huggingface.co/ytu-ce-cosmos/turkish-e5-large/resolve/main/static/cover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96227" y="1616550"/>
            <a:ext cx="2730500" cy="15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230975" y="6122300"/>
            <a:ext cx="926700" cy="285300"/>
          </a:xfrm>
          <a:prstGeom prst="halfFrame">
            <a:avLst>
              <a:gd name="adj1" fmla="val 33333"/>
              <a:gd name="adj2" fmla="val 33333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11689232" y="629779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tr-TR"/>
              <a:t>Yayınlar-1</a:t>
            </a:r>
            <a:endParaRPr/>
          </a:p>
        </p:txBody>
      </p:sp>
      <p:sp>
        <p:nvSpPr>
          <p:cNvPr id="236" name="Google Shape;236;p2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84705"/>
              <a:buChar char="●"/>
            </a:pPr>
            <a:r>
              <a:rPr lang="tr-TR"/>
              <a:t>Türkçe yeni dil modelleri eğitmek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5333"/>
              <a:buChar char="○"/>
            </a:pPr>
            <a:r>
              <a:rPr lang="tr-TR"/>
              <a:t>Toprak Kesgin, H., Yuce, M. K., &amp; Amasyali, M. F. (2023). Developing and Evaluating Tiny to Medium-Sized Turkish BERT Models. </a:t>
            </a:r>
            <a:r>
              <a:rPr lang="tr-TR" i="1"/>
              <a:t>arXiv e-prints</a:t>
            </a:r>
            <a:r>
              <a:rPr lang="tr-TR"/>
              <a:t>, arXiv-2307.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4705"/>
              <a:buChar char="●"/>
            </a:pPr>
            <a:r>
              <a:rPr lang="tr-TR"/>
              <a:t>Transformer tabanlı dil modelleri için yeni pretrain görevleri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5333"/>
              <a:buChar char="○"/>
            </a:pPr>
            <a:r>
              <a:rPr lang="tr-TR"/>
              <a:t>Sonmezoz, K., &amp; Amasyali, M. F. (2021, October). Same Sentence Prediction: A new Pre-training Task for BERT. In 2021 Innovations in Intelligent Systems and Applications Conference (ASYU) (pp. 1-6). IEEE.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5333"/>
              <a:buChar char="○"/>
            </a:pPr>
            <a:r>
              <a:rPr lang="tr-TR"/>
              <a:t>Poyraz, Y. Z., Tugcu, M., &amp; Amasyali, M. F. (2022, September). Improving BERT Pre-training with Hard Negative Pairs. In </a:t>
            </a:r>
            <a:r>
              <a:rPr lang="tr-TR" i="1"/>
              <a:t>2022 Innovations in Intelligent Systems and Applications Conference (ASYU)</a:t>
            </a:r>
            <a:r>
              <a:rPr lang="tr-TR"/>
              <a:t> (pp. 1-6). IEEE.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4705"/>
              <a:buChar char="●"/>
            </a:pPr>
            <a:r>
              <a:rPr lang="tr-TR"/>
              <a:t>Yeni optimizasyon algoritmaları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5333"/>
              <a:buChar char="○"/>
            </a:pPr>
            <a:r>
              <a:rPr lang="tr-TR"/>
              <a:t>Kesgin, H. T., &amp; Amasyali, M. F. (2023). Cyclical curriculum learning. </a:t>
            </a:r>
            <a:r>
              <a:rPr lang="tr-TR" i="1"/>
              <a:t>IEEE Transactions on Neural Networks and Learning Systems</a:t>
            </a:r>
            <a:r>
              <a:rPr lang="tr-TR"/>
              <a:t>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5333"/>
              <a:buChar char="○"/>
            </a:pPr>
            <a:r>
              <a:rPr lang="tr-TR"/>
              <a:t>Dedeoglu, E., Kesgin, H. T., &amp; Amasyali, M. F. (2022). A Robust Optimization Method for Label Noisy Datasets Based on Adaptive Threshold: Adaptive-k. Front. Comput. Sci., 2024, 18(4): 184315</a:t>
            </a:r>
            <a:endParaRPr/>
          </a:p>
          <a:p>
            <a:pPr marL="342900" lvl="0" indent="-265176" algn="l" rtl="0">
              <a:spcBef>
                <a:spcPts val="1000"/>
              </a:spcBef>
              <a:spcAft>
                <a:spcPts val="0"/>
              </a:spcAft>
              <a:buSzPct val="84705"/>
              <a:buNone/>
            </a:pP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11662955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tr-TR"/>
              <a:t>Yayınlar-2</a:t>
            </a:r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body" idx="1"/>
          </p:nvPr>
        </p:nvSpPr>
        <p:spPr>
          <a:xfrm>
            <a:off x="677325" y="1559175"/>
            <a:ext cx="9920400" cy="46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9758" algn="l" rtl="0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Veri artırımı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Advancing NLP Models with Strategic Text Augmentation: A Comprehensive Study of Augmentation Methods and Curriculum Strategies, Himmet Toprak Kesgin, Mehmet Fatih Amasyali, 2023 (değerlendirme sürecinde)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Bilici, M. Ş., &amp; Amasyali, M. F. (2021, October). Variational Sentence Augmentation for Masked Language Modeling. In 2021 Innovations in Intelligent Systems and Applications Conference (ASYU) (pp. 1-5). IEEE.</a:t>
            </a:r>
            <a:endParaRPr/>
          </a:p>
          <a:p>
            <a:pPr marL="342900" lvl="0" indent="-349758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Metin özetleme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Bech, R., Sahin, F., &amp; Amasyali, M. F. (2022, September). Improving Abstractive Summarization for the Turkish Language. In </a:t>
            </a:r>
            <a:r>
              <a:rPr lang="tr-TR" i="1"/>
              <a:t>2022 Innovations in Intelligent Systems and Applications Conference (ASYU)</a:t>
            </a:r>
            <a:r>
              <a:rPr lang="tr-TR"/>
              <a:t> (pp. 1-6). IEEE.</a:t>
            </a:r>
            <a:endParaRPr/>
          </a:p>
          <a:p>
            <a:pPr marL="342900" lvl="0" indent="-349758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Cümle detaylandırma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Sahin, F., &amp; Amasyali, M. F. (2023, October). Sentence Detailing and Its Applications. In </a:t>
            </a:r>
            <a:r>
              <a:rPr lang="tr-TR" i="1"/>
              <a:t>2023 Innovations in Intelligent Systems and Applications Conference (ASYU)</a:t>
            </a:r>
            <a:r>
              <a:rPr lang="tr-TR"/>
              <a:t> (pp. 1-6). IEEE.</a:t>
            </a:r>
            <a:endParaRPr/>
          </a:p>
          <a:p>
            <a:pPr marL="342900" lvl="0" indent="-258318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11641936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tr-TR"/>
              <a:t>Yayınlar-3</a:t>
            </a:r>
            <a:endParaRPr/>
          </a:p>
        </p:txBody>
      </p:sp>
      <p:sp>
        <p:nvSpPr>
          <p:cNvPr id="250" name="Google Shape;250;p26"/>
          <p:cNvSpPr txBox="1">
            <a:spLocks noGrp="1"/>
          </p:cNvSpPr>
          <p:nvPr>
            <p:ph type="body" idx="1"/>
          </p:nvPr>
        </p:nvSpPr>
        <p:spPr>
          <a:xfrm>
            <a:off x="677323" y="1515198"/>
            <a:ext cx="10318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56616" algn="l" rtl="0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Paraphrase üretimi</a:t>
            </a:r>
            <a:endParaRPr/>
          </a:p>
          <a:p>
            <a:pPr marL="742950" lvl="1" indent="-297942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Alkurdi, B., Sarioglu, H. Y., &amp; Amasyali, M. F. (2022, December). Semantic Similarity Based Filtering for Turkish Paraphrase Dataset Creation. In </a:t>
            </a:r>
            <a:r>
              <a:rPr lang="tr-TR" i="1"/>
              <a:t>Proceedings of the 5th International Conference on Natural Language and Speech Processing (ICNLSP 2022)</a:t>
            </a:r>
            <a:r>
              <a:rPr lang="tr-TR"/>
              <a:t> (pp. 119-127).</a:t>
            </a:r>
            <a:endParaRPr/>
          </a:p>
          <a:p>
            <a:pPr marL="742950" lvl="1" indent="-297942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Bağcı, A., &amp; Amasyali, M. F. (2021, August). Comparison of Turkish Paraphrase Generation Models. In </a:t>
            </a:r>
            <a:r>
              <a:rPr lang="tr-TR" i="1"/>
              <a:t>2021 International Conference on INnovations in Intelligent SysTems and Applications (INISTA)</a:t>
            </a:r>
            <a:r>
              <a:rPr lang="tr-TR"/>
              <a:t> (pp. 1-6). IEEE.</a:t>
            </a:r>
            <a:endParaRPr/>
          </a:p>
          <a:p>
            <a:pPr marL="342900" lvl="0" indent="-356616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Bitişik kelime / cümleleri ayırmak</a:t>
            </a:r>
            <a:endParaRPr/>
          </a:p>
          <a:p>
            <a:pPr marL="742950" lvl="1" indent="-297942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Kurttekin, Ö., &amp; Amasyalı, M. F. (2020, October). Segmentation of Hashtags with LSTM. In </a:t>
            </a:r>
            <a:r>
              <a:rPr lang="tr-TR" i="1"/>
              <a:t>2020 Innovations in Intelligent Systems and Applications Conference (ASYU)</a:t>
            </a:r>
            <a:r>
              <a:rPr lang="tr-TR"/>
              <a:t> (pp. 1-3). IEEE.</a:t>
            </a:r>
            <a:endParaRPr/>
          </a:p>
          <a:p>
            <a:pPr marL="342900" lvl="0" indent="-356616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Cümleler arası anlamsal benzerlik</a:t>
            </a:r>
            <a:endParaRPr/>
          </a:p>
          <a:p>
            <a:pPr marL="742950" lvl="1" indent="-297942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Dehghan, S., &amp; Amasyali, M. F. (2022). SupMPN: Supervised Multiple Positives and Negatives Contrastive Learning Model for Semantic Textual Similarity. </a:t>
            </a:r>
            <a:r>
              <a:rPr lang="tr-TR" i="1"/>
              <a:t>Applied Sciences</a:t>
            </a:r>
            <a:r>
              <a:rPr lang="tr-TR"/>
              <a:t>, </a:t>
            </a:r>
            <a:r>
              <a:rPr lang="tr-TR" i="1"/>
              <a:t>12</a:t>
            </a:r>
            <a:r>
              <a:rPr lang="tr-TR"/>
              <a:t>(19), 9659.</a:t>
            </a:r>
            <a:endParaRPr/>
          </a:p>
          <a:p>
            <a:pPr marL="742950" lvl="1" indent="-297942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Dehghan, S., &amp; Amasyali, M. F. (2023). SelfCCL: Curriculum Contrastive Learning by Transferring Self-Taught Knowledge for Fine-Tuning BERT. </a:t>
            </a:r>
            <a:r>
              <a:rPr lang="tr-TR" i="1"/>
              <a:t>Applied Sciences</a:t>
            </a:r>
            <a:r>
              <a:rPr lang="tr-TR"/>
              <a:t>, </a:t>
            </a:r>
            <a:r>
              <a:rPr lang="tr-TR" i="1"/>
              <a:t>13</a:t>
            </a:r>
            <a:r>
              <a:rPr lang="tr-TR"/>
              <a:t>(3), 1913.</a:t>
            </a:r>
            <a:endParaRPr/>
          </a:p>
          <a:p>
            <a:pPr marL="342900" lvl="0" indent="-265176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11673466" y="6269548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tr-TR"/>
              <a:t>Yayınlar-4</a:t>
            </a:r>
            <a:endParaRPr/>
          </a:p>
        </p:txBody>
      </p:sp>
      <p:sp>
        <p:nvSpPr>
          <p:cNvPr id="257" name="Google Shape;257;p27"/>
          <p:cNvSpPr txBox="1">
            <a:spLocks noGrp="1"/>
          </p:cNvSpPr>
          <p:nvPr>
            <p:ph type="body" idx="1"/>
          </p:nvPr>
        </p:nvSpPr>
        <p:spPr>
          <a:xfrm>
            <a:off x="677324" y="1456598"/>
            <a:ext cx="9735000" cy="46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9758" algn="l" rtl="0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Soru cevaplama (şıklı sorular)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Yigit, G., &amp; Amasyali, M. F. (2023). Enhancing multiple-choice question answering through sequential fine-tuning and Curriculum Learning strategies. </a:t>
            </a:r>
            <a:r>
              <a:rPr lang="tr-TR" i="1"/>
              <a:t>Knowledge and Information Systems</a:t>
            </a:r>
            <a:r>
              <a:rPr lang="tr-TR"/>
              <a:t>, </a:t>
            </a:r>
            <a:r>
              <a:rPr lang="tr-TR" i="1"/>
              <a:t>65</a:t>
            </a:r>
            <a:r>
              <a:rPr lang="tr-TR"/>
              <a:t>(11), 5025-5042.</a:t>
            </a:r>
            <a:endParaRPr/>
          </a:p>
          <a:p>
            <a:pPr marL="342900" lvl="0" indent="-349758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Semi supervised learning (etiketsizleri de kullanalım)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Akbunar, D., Erdoğan, B., Biricik, G., &amp; Amasyali, M. F. (2022, May). Determining Functional User Comments of Mobile Applications with Semi-Supervised Learning. In </a:t>
            </a:r>
            <a:r>
              <a:rPr lang="tr-TR" i="1"/>
              <a:t>2022 30th Signal Processing and Communications Applications Conference (SIU)</a:t>
            </a:r>
            <a:r>
              <a:rPr lang="tr-TR"/>
              <a:t> (pp. 1-4). IEEE.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Kesgin, H. T., &amp; Amasyali, M. F. (2022, September). Investigating Semi-Supervised Learning Algorithms in Text Datasets. In </a:t>
            </a:r>
            <a:r>
              <a:rPr lang="tr-TR" i="1"/>
              <a:t>2022 Innovations in Intelligent Systems and Applications Conference (ASYU)</a:t>
            </a:r>
            <a:r>
              <a:rPr lang="tr-TR"/>
              <a:t> (pp. 1-6). IEEE.</a:t>
            </a:r>
            <a:endParaRPr/>
          </a:p>
          <a:p>
            <a:pPr marL="342900" lvl="0" indent="-349758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Active learning (hangi örnekleri etiketleyelim)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Amasyalı, M. F. (2013, June). Active learning for Turkish sentiment analysis. In </a:t>
            </a:r>
            <a:r>
              <a:rPr lang="tr-TR" i="1"/>
              <a:t>2013 IEEE INISTA</a:t>
            </a:r>
            <a:r>
              <a:rPr lang="tr-TR"/>
              <a:t> (pp. 1-4). IEEE.</a:t>
            </a:r>
            <a:endParaRPr/>
          </a:p>
          <a:p>
            <a:pPr marL="342900" lvl="0" indent="-258318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11568363" y="6301079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tr-TR"/>
              <a:t>Yayınlar-5</a:t>
            </a:r>
            <a:endParaRPr/>
          </a:p>
        </p:txBody>
      </p:sp>
      <p:sp>
        <p:nvSpPr>
          <p:cNvPr id="264" name="Google Shape;264;p28"/>
          <p:cNvSpPr txBox="1">
            <a:spLocks noGrp="1"/>
          </p:cNvSpPr>
          <p:nvPr>
            <p:ph type="body" idx="1"/>
          </p:nvPr>
        </p:nvSpPr>
        <p:spPr>
          <a:xfrm>
            <a:off x="677324" y="1427277"/>
            <a:ext cx="9307800" cy="4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9758" algn="l" rtl="0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Türkçe  Dil Modellerinin Performans Karşılaştırılması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Eren Dogan, M Egemen Uzun, Atahan Uz, H Emre Seyrek, Ahmed Zeer, Ezgi Sevi, H Toprak Kesgin, M Kaan Yuce, M Fatih Amasyali</a:t>
            </a:r>
            <a:endParaRPr/>
          </a:p>
          <a:p>
            <a:pPr marL="342900" lvl="0" indent="-349758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CosmosGPT: Tek Dile özel Türkçe Dil Modeli Eğitimi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H. T. Kesgin et al., "Introducing cosmosGPT: Monolingual Training for Turkish Language Models," 2024 International Conference on INnovations in Intelligent SysTems and Applications (INISTA), Craiova, Romania, 2024, pp. 1-6, doi: 10.1109/INISTA62901.2024.10683863.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Kesgin, H. T., &amp; Amasyali, M. F. (2022, September). Investigating Semi-Supervised Learning Algorithms in Text Datasets. In </a:t>
            </a:r>
            <a:r>
              <a:rPr lang="tr-TR" i="1"/>
              <a:t>2022 Innovations in Intelligent Systems and Applications Conference (ASYU)</a:t>
            </a:r>
            <a:r>
              <a:rPr lang="tr-TR"/>
              <a:t> (pp. 1-6). IEEE.</a:t>
            </a:r>
            <a:endParaRPr/>
          </a:p>
          <a:p>
            <a:pPr marL="342900" lvl="0" indent="-349758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/>
              <a:t>Türkçe Dil Modelleri için Bağlam Seçiminde Yeni Yaklaşımlar</a:t>
            </a:r>
            <a:endParaRPr/>
          </a:p>
          <a:p>
            <a:pPr marL="742950" lvl="1" indent="-291846" algn="l" rtl="0">
              <a:spcBef>
                <a:spcPts val="1000"/>
              </a:spcBef>
              <a:spcAft>
                <a:spcPts val="0"/>
              </a:spcAft>
              <a:buSzPts val="1280"/>
              <a:buChar char="○"/>
            </a:pPr>
            <a:r>
              <a:rPr lang="tr-TR"/>
              <a:t>H. T. Kesgin et al., "Optimizing Large Language Models for Turkish: New Methodologies in Corpus Selection and Training," 2024 Innovations in Intelligent Systems and Applications Conference (ASYU), Ankara, Turkiye, 2024, pp. 1-6, doi: 10.1109/ASYU62119.2024.10757019.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11553735" y="6238017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>
                <a:latin typeface="Lato"/>
                <a:ea typeface="Lato"/>
                <a:cs typeface="Lato"/>
                <a:sym typeface="Lato"/>
              </a:rPr>
              <a:t>CosmosGemma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29"/>
          <p:cNvSpPr txBox="1">
            <a:spLocks noGrp="1"/>
          </p:cNvSpPr>
          <p:nvPr>
            <p:ph type="body" idx="1"/>
          </p:nvPr>
        </p:nvSpPr>
        <p:spPr>
          <a:xfrm>
            <a:off x="603373" y="2233477"/>
            <a:ext cx="8744700" cy="408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tr-TR" sz="1900" b="1"/>
              <a:t>Turkish-Gemma-9b-v0.1</a:t>
            </a:r>
            <a:endParaRPr sz="19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Temel Model: Gemma-2-9b</a:t>
            </a:r>
            <a:br>
              <a:rPr lang="tr-TR" b="1"/>
            </a:br>
            <a:endParaRPr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Amaç: Türkçe dilinde güçlü bir büyük dil modeli geliştirmek</a:t>
            </a:r>
            <a:br>
              <a:rPr lang="tr-TR" b="1"/>
            </a:br>
            <a:endParaRPr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Yaklaşım: Aşamalar halinde uygulanan çeşitli eğitim yöntemleri</a:t>
            </a:r>
            <a:br>
              <a:rPr lang="tr-TR" b="1"/>
            </a:br>
            <a:r>
              <a:rPr lang="tr-TR" b="1"/>
              <a:t>- sürekli ön eğitim, denetimli ince ayar (SFT), doğrudan tercih optimizasyonu (DPO)</a:t>
            </a:r>
            <a:br>
              <a:rPr lang="tr-TR" b="1"/>
            </a:br>
            <a:r>
              <a:rPr lang="tr-TR" b="1"/>
              <a:t>  ve model birleştirme</a:t>
            </a:r>
            <a:br>
              <a:rPr lang="tr-TR" b="1"/>
            </a:br>
            <a:endParaRPr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Sonuç: Türkçe metin anlayışı ve üretiminde  performans artışı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 b="1"/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9400" y="410300"/>
            <a:ext cx="3299251" cy="329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/>
        </p:nvSpPr>
        <p:spPr>
          <a:xfrm>
            <a:off x="11652445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>
            <a:spLocks noGrp="1"/>
          </p:cNvSpPr>
          <p:nvPr>
            <p:ph type="body" idx="1"/>
          </p:nvPr>
        </p:nvSpPr>
        <p:spPr>
          <a:xfrm>
            <a:off x="853799" y="564725"/>
            <a:ext cx="71958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4400" b="1"/>
              <a:t>Ölçme  Değerlendirme yöntemleri</a:t>
            </a:r>
            <a:endParaRPr b="1"/>
          </a:p>
        </p:txBody>
      </p:sp>
      <p:sp>
        <p:nvSpPr>
          <p:cNvPr id="280" name="Google Shape;280;p30"/>
          <p:cNvSpPr/>
          <p:nvPr/>
        </p:nvSpPr>
        <p:spPr>
          <a:xfrm>
            <a:off x="288000" y="1959025"/>
            <a:ext cx="384900" cy="350700"/>
          </a:xfrm>
          <a:prstGeom prst="halfFrame">
            <a:avLst>
              <a:gd name="adj1" fmla="val 33333"/>
              <a:gd name="adj2" fmla="val 33333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30"/>
          <p:cNvSpPr txBox="1">
            <a:spLocks noGrp="1"/>
          </p:cNvSpPr>
          <p:nvPr>
            <p:ph type="body" idx="1"/>
          </p:nvPr>
        </p:nvSpPr>
        <p:spPr>
          <a:xfrm>
            <a:off x="993925" y="1707500"/>
            <a:ext cx="79413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tr-TR" sz="2480" b="1">
                <a:solidFill>
                  <a:srgbClr val="9900FF"/>
                </a:solidFill>
              </a:rPr>
              <a:t>Büyük Dil modellerinin performansını nasıl ölçeriz?</a:t>
            </a:r>
            <a:endParaRPr sz="590" b="1">
              <a:solidFill>
                <a:srgbClr val="9900FF"/>
              </a:solidFill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783050" y="2773325"/>
            <a:ext cx="6009900" cy="30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1- Türkçe’ye çevrilmiş hazır Benchmarklar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3" name="Google Shape;283;p30" descr="A screenshot of a data table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2900" y="3326813"/>
            <a:ext cx="6009900" cy="31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 txBox="1"/>
          <p:nvPr/>
        </p:nvSpPr>
        <p:spPr>
          <a:xfrm>
            <a:off x="7472700" y="2675000"/>
            <a:ext cx="4227900" cy="36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İngilizce’den Türkçe’ye çevrilmiş sorular, önemli bir veri ama yeterli değil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7276450" y="3772725"/>
            <a:ext cx="48066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>
                <a:solidFill>
                  <a:schemeClr val="lt1"/>
                </a:solidFill>
              </a:rPr>
              <a:t>Explain the differences between an alligator and a crocodile</a:t>
            </a:r>
            <a:endParaRPr sz="21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>
                <a:solidFill>
                  <a:schemeClr val="lt1"/>
                </a:solidFill>
              </a:rPr>
              <a:t>⬇️</a:t>
            </a:r>
            <a:endParaRPr sz="21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>
                <a:solidFill>
                  <a:schemeClr val="lt1"/>
                </a:solidFill>
              </a:rPr>
              <a:t>Timsah ile timsah arasındaki farkları açıklayın 😅</a:t>
            </a:r>
            <a:endParaRPr sz="2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11605450" y="63008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>
            <a:spLocks noGrp="1"/>
          </p:cNvSpPr>
          <p:nvPr>
            <p:ph type="title"/>
          </p:nvPr>
        </p:nvSpPr>
        <p:spPr>
          <a:xfrm>
            <a:off x="677334" y="51275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4400" b="1">
                <a:latin typeface="Lato"/>
                <a:ea typeface="Lato"/>
                <a:cs typeface="Lato"/>
                <a:sym typeface="Lato"/>
              </a:rPr>
              <a:t>Ölçme  Değerlendirme yöntemleri</a:t>
            </a:r>
            <a:endParaRPr sz="17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1"/>
          <p:cNvSpPr txBox="1">
            <a:spLocks noGrp="1"/>
          </p:cNvSpPr>
          <p:nvPr>
            <p:ph type="body" idx="1"/>
          </p:nvPr>
        </p:nvSpPr>
        <p:spPr>
          <a:xfrm>
            <a:off x="511475" y="1633376"/>
            <a:ext cx="8596800" cy="417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b="1"/>
              <a:t>2- İnsan oylaması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/>
              <a:t>Ekip üyelerimiz modellerin elle yazılmış Türkçe sorulara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/>
              <a:t>yanıtlarını bizzat değerlendirdi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4" name="Google Shape;2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25" y="3388425"/>
            <a:ext cx="4326350" cy="30748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1"/>
          <p:cNvSpPr txBox="1">
            <a:spLocks noGrp="1"/>
          </p:cNvSpPr>
          <p:nvPr>
            <p:ph type="body" idx="1"/>
          </p:nvPr>
        </p:nvSpPr>
        <p:spPr>
          <a:xfrm>
            <a:off x="6039475" y="1490575"/>
            <a:ext cx="5910300" cy="411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b="1"/>
              <a:t>3-  Yapay Zeka Hakemi (LLM-as-a-judge)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/>
              <a:t>Gelişmiş bir dil modelinin  (örneğin Openai O3) sorular ve sorulara verilen cevapları 100 üzerinden puanlandırması.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6" name="Google Shape;296;p31" title="Screenshot 2025-07-21 at 22.53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025" y="3029878"/>
            <a:ext cx="5257650" cy="330713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1"/>
          <p:cNvSpPr txBox="1"/>
          <p:nvPr/>
        </p:nvSpPr>
        <p:spPr>
          <a:xfrm>
            <a:off x="11658225" y="6337013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>
            <a:spLocks noGrp="1"/>
          </p:cNvSpPr>
          <p:nvPr>
            <p:ph type="body" idx="1"/>
          </p:nvPr>
        </p:nvSpPr>
        <p:spPr>
          <a:xfrm>
            <a:off x="628875" y="755725"/>
            <a:ext cx="10489500" cy="573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2800" b="1"/>
              <a:t>Soru Veri Setimizden Örnekler</a:t>
            </a:r>
            <a:endParaRPr sz="28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00" b="1">
                <a:solidFill>
                  <a:srgbClr val="B4A7D6"/>
                </a:solidFill>
              </a:rPr>
              <a:t>Bilgi Sorusu: </a:t>
            </a:r>
            <a:r>
              <a:rPr lang="tr-TR" sz="1900" b="1"/>
              <a:t>Türk eğitim sisteminde 1960 yılından beri arasında şu an YKS olan üniversiteye giriş sınavının ismi kaç kez değişmiştir?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00" b="1">
                <a:solidFill>
                  <a:srgbClr val="B4A7D6"/>
                </a:solidFill>
              </a:rPr>
              <a:t>Halüsinasyon: </a:t>
            </a:r>
            <a:r>
              <a:rPr lang="tr-TR" sz="1900" b="1"/>
              <a:t>Termodinamiğin 5. yasasını keşfettikleri için kaç bilim insanına nobel ödülü verilmiştir?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00" b="1">
                <a:solidFill>
                  <a:srgbClr val="B4A7D6"/>
                </a:solidFill>
              </a:rPr>
              <a:t>Dilbilim: </a:t>
            </a:r>
            <a:r>
              <a:rPr lang="tr-TR" sz="1900" b="1"/>
              <a:t>"Bu cümlede sekiz e harfi var" cümlesinde kaç e harfi vardır?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900" b="1">
                <a:solidFill>
                  <a:srgbClr val="B4A7D6"/>
                </a:solidFill>
              </a:rPr>
              <a:t>Espri:</a:t>
            </a:r>
            <a:r>
              <a:rPr lang="tr-TR" sz="1900" b="1"/>
              <a:t> Sınav kağıdımı gören öğretmen "kalbin kadar tertemiz bir sayfa" demiştir. Buna göre bu sınavdan kaç puan almışımdır?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" name="Google Shape;297;p31">
            <a:extLst>
              <a:ext uri="{FF2B5EF4-FFF2-40B4-BE49-F238E27FC236}">
                <a16:creationId xmlns:a16="http://schemas.microsoft.com/office/drawing/2014/main" id="{E5D3FAC9-9ED7-672A-2C7C-16ABA705CE1E}"/>
              </a:ext>
            </a:extLst>
          </p:cNvPr>
          <p:cNvSpPr txBox="1"/>
          <p:nvPr/>
        </p:nvSpPr>
        <p:spPr>
          <a:xfrm>
            <a:off x="11658225" y="6228026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>
            <a:spLocks noGrp="1"/>
          </p:cNvSpPr>
          <p:nvPr>
            <p:ph type="title"/>
          </p:nvPr>
        </p:nvSpPr>
        <p:spPr>
          <a:xfrm>
            <a:off x="677324" y="609600"/>
            <a:ext cx="93111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-TR" sz="3100" b="1">
                <a:latin typeface="Lato"/>
                <a:ea typeface="Lato"/>
                <a:cs typeface="Lato"/>
                <a:sym typeface="Lato"/>
              </a:rPr>
              <a:t>Continued Pre-Training (Devam eden Ön Eğitim)</a:t>
            </a:r>
            <a:endParaRPr sz="54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33"/>
          <p:cNvSpPr txBox="1">
            <a:spLocks noGrp="1"/>
          </p:cNvSpPr>
          <p:nvPr>
            <p:ph type="body" idx="1"/>
          </p:nvPr>
        </p:nvSpPr>
        <p:spPr>
          <a:xfrm>
            <a:off x="677325" y="1281900"/>
            <a:ext cx="5813400" cy="405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endParaRPr sz="1845" b="1"/>
          </a:p>
          <a:p>
            <a:pPr marL="457200" lvl="0" indent="-33496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75"/>
              <a:buFont typeface="Arial"/>
              <a:buChar char="●"/>
            </a:pPr>
            <a:r>
              <a:rPr lang="tr-TR" sz="1675" b="1"/>
              <a:t>Başlangıç Noktası: Gemma-2-9b</a:t>
            </a:r>
            <a:br>
              <a:rPr lang="tr-TR" sz="1675" b="1"/>
            </a:br>
            <a:endParaRPr sz="1675" b="1"/>
          </a:p>
          <a:p>
            <a:pPr marL="457200" lvl="0" indent="-3349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75"/>
              <a:buFont typeface="Arial"/>
              <a:buChar char="●"/>
            </a:pPr>
            <a:r>
              <a:rPr lang="tr-TR" sz="1675" b="1"/>
              <a:t>Yapılan: </a:t>
            </a:r>
            <a:endParaRPr sz="1675" b="1"/>
          </a:p>
          <a:p>
            <a:pPr marL="9144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tr-TR" sz="1675" b="1"/>
              <a:t>Türkçeye daha iyi uyum sağlaması için, mevcut bilgi birikimi geniş Türkçe metinlerle  derinleştirildi.</a:t>
            </a:r>
            <a:endParaRPr sz="1675" b="1"/>
          </a:p>
          <a:p>
            <a:pPr marL="9144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tr-TR" sz="1760" b="1"/>
              <a:t>Türkçeye özgü dil yapıları, deyimler, sözdizimi ve anlam ilişkilerini daha iyi öğrendi.</a:t>
            </a:r>
            <a:br>
              <a:rPr lang="tr-TR" sz="1675" b="1"/>
            </a:br>
            <a:endParaRPr sz="1675" b="1"/>
          </a:p>
          <a:p>
            <a:pPr marL="457200" lvl="0" indent="-33496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75"/>
              <a:buFont typeface="Arial"/>
              <a:buChar char="●"/>
            </a:pPr>
            <a:r>
              <a:rPr lang="tr-TR" sz="1675" b="1"/>
              <a:t>Amaç: Türkçe’ye özgü dil yapılarının daha iyi öğrenilmesi</a:t>
            </a:r>
            <a:br>
              <a:rPr lang="tr-TR" sz="1675" b="1"/>
            </a:br>
            <a:endParaRPr sz="1675" b="1"/>
          </a:p>
          <a:p>
            <a:pPr marL="457200" lvl="0" indent="-3349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75"/>
              <a:buFont typeface="Arial"/>
              <a:buChar char="●"/>
            </a:pPr>
            <a:r>
              <a:rPr lang="tr-TR" sz="1675" b="1"/>
              <a:t>Katkısı: Modelin Türkçe dil anlayışında derinleşmesi</a:t>
            </a:r>
            <a:endParaRPr sz="1675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675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675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845"/>
          </a:p>
        </p:txBody>
      </p:sp>
      <p:pic>
        <p:nvPicPr>
          <p:cNvPr id="311" name="Google Shape;3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9475" y="1788738"/>
            <a:ext cx="4305975" cy="345522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 txBox="1"/>
          <p:nvPr/>
        </p:nvSpPr>
        <p:spPr>
          <a:xfrm>
            <a:off x="11582085" y="6250966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>
            <a:spLocks noGrp="1"/>
          </p:cNvSpPr>
          <p:nvPr>
            <p:ph type="title"/>
          </p:nvPr>
        </p:nvSpPr>
        <p:spPr>
          <a:xfrm>
            <a:off x="677324" y="451946"/>
            <a:ext cx="96744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tr-TR" sz="3100" b="1" dirty="0" err="1">
                <a:latin typeface="Lato"/>
                <a:ea typeface="Lato"/>
                <a:cs typeface="Lato"/>
                <a:sym typeface="Lato"/>
              </a:rPr>
              <a:t>Continued</a:t>
            </a:r>
            <a:r>
              <a:rPr lang="tr-TR" sz="3100" b="1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tr-TR" sz="3100" b="1" dirty="0" err="1">
                <a:latin typeface="Lato"/>
                <a:ea typeface="Lato"/>
                <a:cs typeface="Lato"/>
                <a:sym typeface="Lato"/>
              </a:rPr>
              <a:t>Pre</a:t>
            </a:r>
            <a:r>
              <a:rPr lang="tr-TR" sz="3100" b="1" dirty="0">
                <a:latin typeface="Lato"/>
                <a:ea typeface="Lato"/>
                <a:cs typeface="Lato"/>
                <a:sym typeface="Lato"/>
              </a:rPr>
              <a:t>-Training (Devam eden Ön Eğitim)</a:t>
            </a:r>
            <a:endParaRPr sz="5400" b="1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100" b="1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9" name="Google Shape;319;p34"/>
          <p:cNvSpPr txBox="1">
            <a:spLocks noGrp="1"/>
          </p:cNvSpPr>
          <p:nvPr>
            <p:ph type="body" idx="1"/>
          </p:nvPr>
        </p:nvSpPr>
        <p:spPr>
          <a:xfrm>
            <a:off x="677325" y="1395515"/>
            <a:ext cx="8596800" cy="3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tr-TR" sz="1825" dirty="0" err="1"/>
              <a:t>fineweb</a:t>
            </a:r>
            <a:r>
              <a:rPr lang="tr-TR" sz="1825" dirty="0"/>
              <a:t> v0.2  , tr-</a:t>
            </a:r>
            <a:r>
              <a:rPr lang="tr-TR" sz="1825" dirty="0" err="1"/>
              <a:t>wikipedia</a:t>
            </a:r>
            <a:r>
              <a:rPr lang="tr-TR" sz="1825" dirty="0"/>
              <a:t> , vb. açık kaynak derlemler -&gt; Filtreleme!</a:t>
            </a:r>
            <a:br>
              <a:rPr lang="tr-TR" sz="1725" dirty="0"/>
            </a:br>
            <a:br>
              <a:rPr lang="tr-TR" sz="1725" dirty="0"/>
            </a:br>
            <a:r>
              <a:rPr lang="tr-TR" sz="1725" dirty="0"/>
              <a:t>Derlemden örnek bir  parça :</a:t>
            </a:r>
            <a:br>
              <a:rPr lang="tr-TR" sz="1725" dirty="0"/>
            </a:br>
            <a:r>
              <a:rPr lang="tr-TR" sz="1725" dirty="0"/>
              <a:t> </a:t>
            </a:r>
            <a:br>
              <a:rPr lang="tr-TR" sz="1725" dirty="0"/>
            </a:br>
            <a:endParaRPr sz="1725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endParaRPr sz="1725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endParaRPr sz="1725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endParaRPr sz="1725" dirty="0"/>
          </a:p>
        </p:txBody>
      </p:sp>
      <p:pic>
        <p:nvPicPr>
          <p:cNvPr id="320" name="Google Shape;3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24" y="2467308"/>
            <a:ext cx="10389076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4"/>
          <p:cNvSpPr txBox="1"/>
          <p:nvPr/>
        </p:nvSpPr>
        <p:spPr>
          <a:xfrm>
            <a:off x="11724883" y="6233891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>
            <a:spLocks noGrp="1"/>
          </p:cNvSpPr>
          <p:nvPr>
            <p:ph type="title"/>
          </p:nvPr>
        </p:nvSpPr>
        <p:spPr>
          <a:xfrm>
            <a:off x="677322" y="609600"/>
            <a:ext cx="11002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>
                <a:latin typeface="Lato"/>
                <a:ea typeface="Lato"/>
                <a:cs typeface="Lato"/>
                <a:sym typeface="Lato"/>
              </a:rPr>
              <a:t>Supervised Fine-Tuning (Denetimli İnce Ayar)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35"/>
          <p:cNvSpPr txBox="1">
            <a:spLocks noGrp="1"/>
          </p:cNvSpPr>
          <p:nvPr>
            <p:ph type="body" idx="1"/>
          </p:nvPr>
        </p:nvSpPr>
        <p:spPr>
          <a:xfrm>
            <a:off x="580450" y="1704550"/>
            <a:ext cx="3450300" cy="449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9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Yöntem: Etiketli Türkçe verilerle ince ayar</a:t>
            </a:r>
            <a:br>
              <a:rPr lang="tr-TR" b="1"/>
            </a:br>
            <a:endParaRPr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Veri Örnekleri: Soru-cevap, özetleme, çeviri gibi görevler</a:t>
            </a:r>
            <a:br>
              <a:rPr lang="tr-TR" b="1"/>
            </a:br>
            <a:endParaRPr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Amaç: Belirli görevlerde doğruluk ve kararlılık sağlamak</a:t>
            </a:r>
            <a:br>
              <a:rPr lang="tr-TR" b="1"/>
            </a:br>
            <a:endParaRPr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tr-TR" b="1"/>
              <a:t>Katkısı: Gerçek kullanım senaryolarında daha başarılı çıktı üretimi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/>
          </a:p>
        </p:txBody>
      </p:sp>
      <p:pic>
        <p:nvPicPr>
          <p:cNvPr id="329" name="Google Shape;3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297" y="2121675"/>
            <a:ext cx="7617727" cy="32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5"/>
          <p:cNvSpPr txBox="1"/>
          <p:nvPr/>
        </p:nvSpPr>
        <p:spPr>
          <a:xfrm>
            <a:off x="11680122" y="6260857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>
                <a:latin typeface="Lato"/>
                <a:ea typeface="Lato"/>
                <a:cs typeface="Lato"/>
                <a:sym typeface="Lato"/>
              </a:rPr>
              <a:t>Supervised Fine-Tuning (Denetimli İnce Ayar)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body" idx="1"/>
          </p:nvPr>
        </p:nvSpPr>
        <p:spPr>
          <a:xfrm>
            <a:off x="6373075" y="2007521"/>
            <a:ext cx="43641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800" b="1"/>
              <a:t>Türkçe SFT Örnek Veri Formatı</a:t>
            </a:r>
            <a:br>
              <a:rPr lang="tr-TR" sz="1800" b="1"/>
            </a:br>
            <a:endParaRPr sz="1800" b="1"/>
          </a:p>
        </p:txBody>
      </p:sp>
      <p:pic>
        <p:nvPicPr>
          <p:cNvPr id="338" name="Google Shape;33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450" y="2608725"/>
            <a:ext cx="5892899" cy="24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6"/>
          <p:cNvSpPr/>
          <p:nvPr/>
        </p:nvSpPr>
        <p:spPr>
          <a:xfrm>
            <a:off x="6097075" y="1930500"/>
            <a:ext cx="276000" cy="234600"/>
          </a:xfrm>
          <a:prstGeom prst="halfFrame">
            <a:avLst>
              <a:gd name="adj1" fmla="val 71667"/>
              <a:gd name="adj2" fmla="val 33333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983750" y="1372125"/>
            <a:ext cx="4137600" cy="4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9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tr-TR" sz="17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LLM kullanarak sentetik veri üretimi</a:t>
            </a:r>
            <a:endParaRPr sz="17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tr-TR" sz="17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DeepseekR1, DeepseekV3, GPT4o</a:t>
            </a:r>
            <a:br>
              <a:rPr lang="tr-TR" sz="17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7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tr-TR" sz="17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Amaç: LLM'ler kullanarak farklı görevler odaklı, çeşitli ve kontrollü sentetik veri üretmek.</a:t>
            </a:r>
            <a:br>
              <a:rPr lang="tr-TR" sz="17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7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tr-TR" sz="17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Katkısı: Gerçek veri eksikliğinde model doğruluğunu ve genelleme yeteneğini artırarak, daha güvenilir çıktı üretimi sağlamak.</a:t>
            </a:r>
            <a:endParaRPr sz="17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11679859" y="6202849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-TR" sz="3300" b="1">
                <a:latin typeface="Lato"/>
                <a:ea typeface="Lato"/>
                <a:cs typeface="Lato"/>
                <a:sym typeface="Lato"/>
              </a:rPr>
              <a:t>Direct Preference Optimization (DPO)</a:t>
            </a:r>
            <a:endParaRPr sz="4800"/>
          </a:p>
        </p:txBody>
      </p:sp>
      <p:sp>
        <p:nvSpPr>
          <p:cNvPr id="348" name="Google Shape;348;p37"/>
          <p:cNvSpPr txBox="1">
            <a:spLocks noGrp="1"/>
          </p:cNvSpPr>
          <p:nvPr>
            <p:ph type="body" idx="1"/>
          </p:nvPr>
        </p:nvSpPr>
        <p:spPr>
          <a:xfrm>
            <a:off x="677325" y="1602575"/>
            <a:ext cx="5969700" cy="398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lang="tr-TR" sz="1900" b="1"/>
              <a:t>Yaklaşım: Kullanıcı tercihlerini doğrudan optimize eden eğitim</a:t>
            </a:r>
            <a:br>
              <a:rPr lang="tr-TR" sz="1900" b="1"/>
            </a:br>
            <a:endParaRPr sz="1900" b="1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lang="tr-TR" sz="1900" b="1"/>
              <a:t>Kullanım: Farklı çıktılar arasında tercih edilenlerin öne çıkarılması</a:t>
            </a:r>
            <a:br>
              <a:rPr lang="tr-TR" sz="1900" b="1"/>
            </a:br>
            <a:endParaRPr sz="1900" b="1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lang="tr-TR" sz="1900" b="1"/>
              <a:t>Amaç: Kullanıcıya daha uygun ve doğal yanıtlar üretmek</a:t>
            </a:r>
            <a:br>
              <a:rPr lang="tr-TR" sz="1900" b="1"/>
            </a:br>
            <a:endParaRPr sz="1900" b="1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lang="tr-TR" sz="1900" b="1"/>
              <a:t>Katkısı: Modelin cevap kalitesini insan beklentilerine yaklaştırması</a:t>
            </a:r>
            <a:endParaRPr sz="19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9" name="Google Shape;3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450" y="2144376"/>
            <a:ext cx="5297301" cy="269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7"/>
          <p:cNvSpPr txBox="1"/>
          <p:nvPr/>
        </p:nvSpPr>
        <p:spPr>
          <a:xfrm>
            <a:off x="11683976" y="6248528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tr-TR" sz="3300" b="1">
                <a:latin typeface="Lato"/>
                <a:ea typeface="Lato"/>
                <a:cs typeface="Lato"/>
                <a:sym typeface="Lato"/>
              </a:rPr>
              <a:t>Direct Preference Optimization (DPO)</a:t>
            </a:r>
            <a:endParaRPr sz="48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body" idx="1"/>
          </p:nvPr>
        </p:nvSpPr>
        <p:spPr>
          <a:xfrm>
            <a:off x="677330" y="1447691"/>
            <a:ext cx="3888000" cy="654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/>
              <a:t>KULLANILAN ÖRNEK VERİ FORMATI</a:t>
            </a:r>
            <a:endParaRPr/>
          </a:p>
        </p:txBody>
      </p:sp>
      <p:pic>
        <p:nvPicPr>
          <p:cNvPr id="358" name="Google Shape;3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725" y="1898700"/>
            <a:ext cx="10506551" cy="45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8"/>
          <p:cNvSpPr txBox="1"/>
          <p:nvPr/>
        </p:nvSpPr>
        <p:spPr>
          <a:xfrm>
            <a:off x="11703853" y="6387600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>
                <a:latin typeface="Lato"/>
                <a:ea typeface="Lato"/>
                <a:cs typeface="Lato"/>
                <a:sym typeface="Lato"/>
              </a:rPr>
              <a:t>Model Merging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" name="Google Shape;366;p39"/>
          <p:cNvSpPr txBox="1">
            <a:spLocks noGrp="1"/>
          </p:cNvSpPr>
          <p:nvPr>
            <p:ph type="body" idx="1"/>
          </p:nvPr>
        </p:nvSpPr>
        <p:spPr>
          <a:xfrm>
            <a:off x="677325" y="1512275"/>
            <a:ext cx="5175300" cy="497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3074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-TR" sz="4148" b="1"/>
              <a:t>Farklı modellerin birleşimiyle tek ve güçlü bir yapı oluşturmak</a:t>
            </a:r>
            <a:endParaRPr sz="4148" b="1"/>
          </a:p>
          <a:p>
            <a:pPr marL="457200" lvl="0" indent="-353731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"/>
              <a:buChar char="●"/>
            </a:pPr>
            <a:r>
              <a:rPr lang="tr-TR" sz="4148" b="1"/>
              <a:t>Aynı temel modelin, farklı veri setleriyle eğitilmiş versiyonları birleştirilir</a:t>
            </a:r>
            <a:br>
              <a:rPr lang="tr-TR" sz="4148" b="1"/>
            </a:br>
            <a:endParaRPr sz="4148" b="1"/>
          </a:p>
          <a:p>
            <a:pPr marL="457200" lvl="0" indent="-35373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"/>
              <a:buChar char="●"/>
            </a:pPr>
            <a:r>
              <a:rPr lang="tr-TR" sz="4148" b="1"/>
              <a:t>Amaç: Her varyantın güçlü yönlerini tek modelde toplamak</a:t>
            </a:r>
            <a:br>
              <a:rPr lang="tr-TR" sz="4148" b="1"/>
            </a:br>
            <a:endParaRPr sz="4148" b="1"/>
          </a:p>
          <a:p>
            <a:pPr marL="457200" lvl="0" indent="-35373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"/>
              <a:buChar char="●"/>
            </a:pPr>
            <a:r>
              <a:rPr lang="tr-TR" sz="4148" b="1"/>
              <a:t>Yöntem: Ağırlık düzeyinde (parametre bazlı) birleştirme</a:t>
            </a:r>
            <a:br>
              <a:rPr lang="tr-TR" sz="4148" b="1"/>
            </a:br>
            <a:endParaRPr sz="4148" b="1"/>
          </a:p>
          <a:p>
            <a:pPr marL="457200" lvl="0" indent="-34738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4925"/>
              <a:buFont typeface="Lato"/>
              <a:buChar char="●"/>
            </a:pPr>
            <a:r>
              <a:rPr lang="tr-TR" sz="4148" b="1"/>
              <a:t>Sonuç: Daha dengeli, çok yönlü ve performansı yüksek bir model elde edilir</a:t>
            </a:r>
            <a:br>
              <a:rPr lang="tr-TR" sz="3938" b="1"/>
            </a:br>
            <a:endParaRPr sz="3938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b="1"/>
          </a:p>
        </p:txBody>
      </p:sp>
      <p:pic>
        <p:nvPicPr>
          <p:cNvPr id="367" name="Google Shape;367;p39"/>
          <p:cNvPicPr preferRelativeResize="0"/>
          <p:nvPr/>
        </p:nvPicPr>
        <p:blipFill rotWithShape="1">
          <a:blip r:embed="rId3">
            <a:alphaModFix/>
          </a:blip>
          <a:srcRect l="6261" r="10688"/>
          <a:stretch/>
        </p:blipFill>
        <p:spPr>
          <a:xfrm>
            <a:off x="6116500" y="1698013"/>
            <a:ext cx="5952373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9"/>
          <p:cNvSpPr txBox="1"/>
          <p:nvPr/>
        </p:nvSpPr>
        <p:spPr>
          <a:xfrm>
            <a:off x="11660329" y="6252575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"/>
          <p:cNvSpPr txBox="1">
            <a:spLocks noGrp="1"/>
          </p:cNvSpPr>
          <p:nvPr>
            <p:ph type="body" idx="1"/>
          </p:nvPr>
        </p:nvSpPr>
        <p:spPr>
          <a:xfrm>
            <a:off x="1266415" y="520294"/>
            <a:ext cx="8979600" cy="388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●"/>
            </a:pPr>
            <a:r>
              <a:rPr lang="tr-TR" dirty="0" err="1"/>
              <a:t>CosmosGemma</a:t>
            </a:r>
            <a:r>
              <a:rPr lang="tr-TR" dirty="0"/>
              <a:t> için farklı veri setleriyle eğitilmiş modelleri çeşitli kombinasyonlarda deneyerek pek çok </a:t>
            </a:r>
            <a:r>
              <a:rPr lang="tr-TR" b="1" dirty="0"/>
              <a:t>MERGE </a:t>
            </a:r>
            <a:r>
              <a:rPr lang="tr-TR" dirty="0"/>
              <a:t>denemesi gerçekleştirdik.</a:t>
            </a:r>
            <a:endParaRPr dirty="0"/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tr-TR" dirty="0"/>
              <a:t>Nihai birleştirme işlemimizde, özellikle GSM8K ve ortalama skorlarda, birleştirilen model her iki orijinal modelden de daha yüksek performans gösterdi.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40"/>
          <p:cNvSpPr txBox="1"/>
          <p:nvPr/>
        </p:nvSpPr>
        <p:spPr>
          <a:xfrm>
            <a:off x="11631425" y="6234322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6" name="Google Shape;376;p40"/>
          <p:cNvPicPr preferRelativeResize="0"/>
          <p:nvPr/>
        </p:nvPicPr>
        <p:blipFill>
          <a:blip r:embed="rId3">
            <a:alphaModFix/>
          </a:blip>
          <a:srcRect r="303" b="19439"/>
          <a:stretch>
            <a:fillRect/>
          </a:stretch>
        </p:blipFill>
        <p:spPr>
          <a:xfrm>
            <a:off x="930240" y="2641438"/>
            <a:ext cx="10331519" cy="3519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>
            <a:spLocks noGrp="1"/>
          </p:cNvSpPr>
          <p:nvPr>
            <p:ph type="body" idx="1"/>
          </p:nvPr>
        </p:nvSpPr>
        <p:spPr>
          <a:xfrm>
            <a:off x="677334" y="5260039"/>
            <a:ext cx="8596800" cy="388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3" name="Google Shape;383;p41"/>
          <p:cNvPicPr preferRelativeResize="0"/>
          <p:nvPr/>
        </p:nvPicPr>
        <p:blipFill rotWithShape="1">
          <a:blip r:embed="rId3">
            <a:alphaModFix/>
          </a:blip>
          <a:srcRect t="-2595" r="-3199"/>
          <a:stretch/>
        </p:blipFill>
        <p:spPr>
          <a:xfrm>
            <a:off x="414950" y="1488600"/>
            <a:ext cx="3781924" cy="41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1"/>
          <p:cNvSpPr txBox="1"/>
          <p:nvPr/>
        </p:nvSpPr>
        <p:spPr>
          <a:xfrm>
            <a:off x="1458650" y="738825"/>
            <a:ext cx="1917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TurkBench</a:t>
            </a:r>
            <a:endParaRPr sz="2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41"/>
          <p:cNvSpPr txBox="1"/>
          <p:nvPr/>
        </p:nvSpPr>
        <p:spPr>
          <a:xfrm>
            <a:off x="5813043" y="738825"/>
            <a:ext cx="51012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OpenLLM Turkish Leaderboard</a:t>
            </a:r>
            <a:endParaRPr sz="2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6" name="Google Shape;38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2103" y="1610200"/>
            <a:ext cx="7383722" cy="38808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1"/>
          <p:cNvSpPr txBox="1"/>
          <p:nvPr/>
        </p:nvSpPr>
        <p:spPr>
          <a:xfrm>
            <a:off x="11628798" y="6238017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Benchmark Sonuçları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xfrm>
            <a:off x="356300" y="1783200"/>
            <a:ext cx="11309700" cy="388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/>
              <a:t>1560 sorudan oluşan kendi soru setimiz üzerinde yaptığımız insan oylaması sonucu modellerin kazanma oranları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5" name="Google Shape;395;p42" title="Screenshot 2025-07-21 at 23.13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6728" y="2486625"/>
            <a:ext cx="4178522" cy="38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425" y="2486625"/>
            <a:ext cx="6690130" cy="388080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2"/>
          <p:cNvSpPr txBox="1"/>
          <p:nvPr/>
        </p:nvSpPr>
        <p:spPr>
          <a:xfrm>
            <a:off x="11666000" y="6438308"/>
            <a:ext cx="15498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"/>
          <p:cNvSpPr txBox="1">
            <a:spLocks noGrp="1"/>
          </p:cNvSpPr>
          <p:nvPr>
            <p:ph type="title"/>
          </p:nvPr>
        </p:nvSpPr>
        <p:spPr>
          <a:xfrm>
            <a:off x="1297384" y="90525"/>
            <a:ext cx="8596800" cy="132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Benchmark Sonuçları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3"/>
          <p:cNvSpPr txBox="1">
            <a:spLocks noGrp="1"/>
          </p:cNvSpPr>
          <p:nvPr>
            <p:ph type="body" idx="1"/>
          </p:nvPr>
        </p:nvSpPr>
        <p:spPr>
          <a:xfrm>
            <a:off x="655350" y="999000"/>
            <a:ext cx="10881300" cy="4860000"/>
          </a:xfrm>
          <a:prstGeom prst="rect">
            <a:avLst/>
          </a:prstGeom>
        </p:spPr>
        <p:txBody>
          <a:bodyPr spcFirstLastPara="1" wrap="square" lIns="104275" tIns="104275" rIns="104275" bIns="104275" anchor="t" anchorCtr="0">
            <a:normAutofit/>
          </a:bodyPr>
          <a:lstStyle/>
          <a:p>
            <a:pPr marL="0" lvl="0" indent="0" algn="l" rtl="0">
              <a:spcBef>
                <a:spcPts val="1140"/>
              </a:spcBef>
              <a:spcAft>
                <a:spcPts val="0"/>
              </a:spcAft>
              <a:buNone/>
            </a:pPr>
            <a:r>
              <a:rPr lang="tr-TR" sz="2052" b="1"/>
              <a:t>LLM-as-a-Judge  Sonuçları     Hakem: Deepseek-R1</a:t>
            </a:r>
            <a:endParaRPr sz="2052" b="1"/>
          </a:p>
          <a:p>
            <a:pPr marL="0" lvl="0" indent="0" algn="l" rtl="0">
              <a:spcBef>
                <a:spcPts val="1140"/>
              </a:spcBef>
              <a:spcAft>
                <a:spcPts val="0"/>
              </a:spcAft>
              <a:buNone/>
            </a:pPr>
            <a:endParaRPr sz="1938"/>
          </a:p>
          <a:p>
            <a:pPr marL="0" lvl="0" indent="0" algn="l" rtl="0">
              <a:spcBef>
                <a:spcPts val="1140"/>
              </a:spcBef>
              <a:spcAft>
                <a:spcPts val="0"/>
              </a:spcAft>
              <a:buNone/>
            </a:pPr>
            <a:endParaRPr sz="1938"/>
          </a:p>
          <a:p>
            <a:pPr marL="0" lvl="0" indent="0" algn="l" rtl="0">
              <a:spcBef>
                <a:spcPts val="1140"/>
              </a:spcBef>
              <a:spcAft>
                <a:spcPts val="0"/>
              </a:spcAft>
              <a:buNone/>
            </a:pPr>
            <a:endParaRPr sz="1938"/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06" y="1612279"/>
            <a:ext cx="9719870" cy="4859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4"/>
          <p:cNvSpPr txBox="1">
            <a:spLocks noGrp="1"/>
          </p:cNvSpPr>
          <p:nvPr>
            <p:ph type="body" idx="1"/>
          </p:nvPr>
        </p:nvSpPr>
        <p:spPr>
          <a:xfrm>
            <a:off x="459375" y="605350"/>
            <a:ext cx="10982100" cy="59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2800" b="1"/>
              <a:t>    Dinlediğiniz  için teşekkür ederiz  😊</a:t>
            </a:r>
            <a:endParaRPr sz="28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900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cosmos.yildiz.edu.tr</a:t>
            </a:r>
            <a:endParaRPr sz="27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900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linkedin.com/company/ytu-cosmos</a:t>
            </a:r>
            <a:endParaRPr sz="27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900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huggingface.co/ytu-ce-cosmos</a:t>
            </a:r>
            <a:endParaRPr sz="27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9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9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900" b="1"/>
              <a:t>İletişim: cosmos@yildiz.edu.tr</a:t>
            </a:r>
            <a:endParaRPr sz="19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900" b="1"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900" b="1"/>
          </a:p>
        </p:txBody>
      </p:sp>
      <p:pic>
        <p:nvPicPr>
          <p:cNvPr id="411" name="Google Shape;411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7624" y="1452876"/>
            <a:ext cx="4720725" cy="47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2025</Words>
  <Application>Microsoft Macintosh PowerPoint</Application>
  <PresentationFormat>Widescreen</PresentationFormat>
  <Paragraphs>225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Trebuchet MS</vt:lpstr>
      <vt:lpstr>Lato</vt:lpstr>
      <vt:lpstr>Montserrat</vt:lpstr>
      <vt:lpstr>Calibri</vt:lpstr>
      <vt:lpstr>Focus</vt:lpstr>
      <vt:lpstr>PowerPoint Presentation</vt:lpstr>
      <vt:lpstr> COSMOS AI Research Group </vt:lpstr>
      <vt:lpstr>Açık Kaynak</vt:lpstr>
      <vt:lpstr>Modellerimiz </vt:lpstr>
      <vt:lpstr>PowerPoint Presentation</vt:lpstr>
      <vt:lpstr>2- VLM’ler  </vt:lpstr>
      <vt:lpstr>3- Erişim Destekli Üretim (RAG)   Turkish-colbert - Turkish-e5-large   </vt:lpstr>
      <vt:lpstr>Örnek bir RAG uygulaması</vt:lpstr>
      <vt:lpstr>Cosmos Dil Modelleri Ailesi https://huggingface.co/ytu-ce-cosmos/</vt:lpstr>
      <vt:lpstr>PowerPoint Presentation</vt:lpstr>
      <vt:lpstr>Yayınlar-1</vt:lpstr>
      <vt:lpstr>Yayınlar-2</vt:lpstr>
      <vt:lpstr>Yayınlar-3</vt:lpstr>
      <vt:lpstr>Yayınlar-4</vt:lpstr>
      <vt:lpstr>Yayınlar-5</vt:lpstr>
      <vt:lpstr>CosmosGemma</vt:lpstr>
      <vt:lpstr>PowerPoint Presentation</vt:lpstr>
      <vt:lpstr>Ölçme  Değerlendirme yöntemleri </vt:lpstr>
      <vt:lpstr>PowerPoint Presentation</vt:lpstr>
      <vt:lpstr>Continued Pre-Training (Devam eden Ön Eğitim)</vt:lpstr>
      <vt:lpstr>Continued Pre-Training (Devam eden Ön Eğitim)  </vt:lpstr>
      <vt:lpstr>Supervised Fine-Tuning (Denetimli İnce Ayar)</vt:lpstr>
      <vt:lpstr>Supervised Fine-Tuning (Denetimli İnce Ayar) </vt:lpstr>
      <vt:lpstr>Direct Preference Optimization (DPO)</vt:lpstr>
      <vt:lpstr>Direct Preference Optimization (DPO) </vt:lpstr>
      <vt:lpstr>Model Merging</vt:lpstr>
      <vt:lpstr>PowerPoint Presentation</vt:lpstr>
      <vt:lpstr>PowerPoint Presentation</vt:lpstr>
      <vt:lpstr>Benchmark Sonuçları </vt:lpstr>
      <vt:lpstr>Benchmark Sonuçları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Atahan UZ</cp:lastModifiedBy>
  <cp:revision>1</cp:revision>
  <dcterms:modified xsi:type="dcterms:W3CDTF">2025-07-26T10:45:52Z</dcterms:modified>
</cp:coreProperties>
</file>